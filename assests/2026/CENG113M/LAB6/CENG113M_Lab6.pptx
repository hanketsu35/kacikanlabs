
<file path=[Content_Types].xml><?xml version="1.0" encoding="utf-8"?>
<Types xmlns="http://schemas.openxmlformats.org/package/2006/content-types">
  <Default Extension="rels" ContentType="application/vnd.openxmlformats-package.relationships+xml"/>
  <Default Extension="xml" ContentType="application/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7.xml" ContentType="application/vnd.openxmlformats-officedocument.presentationml.notes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slides/slide6.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Layouts/slideLayout1.xml" ContentType="application/vnd.openxmlformats-officedocument.presentationml.slideLayout+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customXml" Target="../customXml/item1.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369A8255-FFF7-7A46-8460-395A50EB79F5}" type="datetimeFigureOut">
              <a:rPr lang="tr-TR" smtClean="0"/>
              <a:t>9.04.2026</a:t>
            </a:fld>
            <a:endParaRPr lang="tr-TR"/>
          </a:p>
        </p:txBody>
      </p:sp>
      <p:sp>
        <p:nvSpPr>
          <p:cNvPr id="4" name="Slayt Resmi Yer Tutucusu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D8AD90C3-228C-5C4F-96CA-8B4CDBF112B3}" type="slidenum">
              <a:rPr lang="tr-TR" smtClean="0"/>
              <a:t>‹#›</a:t>
            </a:fld>
            <a:endParaRPr lang="tr-TR"/>
          </a:p>
        </p:txBody>
      </p:sp>
    </p:spTree>
    <p:extLst>
      <p:ext uri="{BB962C8B-B14F-4D97-AF65-F5344CB8AC3E}">
        <p14:creationId xmlns:p14="http://schemas.microsoft.com/office/powerpoint/2010/main" val="3451663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0392B"/>
          </a:solidFill>
          <a:ln w="12700">
            <a:solidFill>
              <a:srgbClr val="C0392B"/>
            </a:solidFill>
            <a:prstDash val="solid"/>
          </a:ln>
        </p:spPr>
        <p:txBody>
          <a:bodyPr/>
          <a:lstStyle/>
          <a:p>
            <a:endParaRPr lang="tr-TR"/>
          </a:p>
        </p:txBody>
      </p:sp>
      <p:sp>
        <p:nvSpPr>
          <p:cNvPr id="3" name="Shape 1"/>
          <p:cNvSpPr/>
          <p:nvPr/>
        </p:nvSpPr>
        <p:spPr>
          <a:xfrm>
            <a:off x="0" y="5033772"/>
            <a:ext cx="9144000" cy="109728"/>
          </a:xfrm>
          <a:prstGeom prst="rect">
            <a:avLst/>
          </a:prstGeom>
          <a:solidFill>
            <a:srgbClr val="C0392B"/>
          </a:solidFill>
          <a:ln w="12700">
            <a:solidFill>
              <a:srgbClr val="C0392B"/>
            </a:solidFill>
            <a:prstDash val="solid"/>
          </a:ln>
        </p:spPr>
        <p:txBody>
          <a:bodyPr/>
          <a:lstStyle/>
          <a:p>
            <a:endParaRPr lang="tr-TR"/>
          </a:p>
        </p:txBody>
      </p:sp>
      <p:sp>
        <p:nvSpPr>
          <p:cNvPr id="4" name="Text 2"/>
          <p:cNvSpPr/>
          <p:nvPr/>
        </p:nvSpPr>
        <p:spPr>
          <a:xfrm>
            <a:off x="720969" y="1716786"/>
            <a:ext cx="5486400" cy="411480"/>
          </a:xfrm>
          <a:prstGeom prst="rect">
            <a:avLst/>
          </a:prstGeom>
          <a:noFill/>
          <a:ln/>
        </p:spPr>
        <p:txBody>
          <a:bodyPr wrap="square" rtlCol="0" anchor="ctr"/>
          <a:lstStyle/>
          <a:p>
            <a:pPr marL="0" indent="0">
              <a:buNone/>
            </a:pPr>
            <a:r>
              <a:rPr lang="en-US" sz="2000" dirty="0">
                <a:solidFill>
                  <a:srgbClr val="F0F3F6"/>
                </a:solidFill>
                <a:latin typeface="Calibri" pitchFamily="34" charset="0"/>
                <a:ea typeface="Calibri" pitchFamily="34" charset="-122"/>
                <a:cs typeface="Calibri" pitchFamily="34" charset="-120"/>
              </a:rPr>
              <a:t xml:space="preserve">Lab </a:t>
            </a:r>
            <a:r>
              <a:rPr lang="tr-TR" sz="2000" dirty="0">
                <a:solidFill>
                  <a:srgbClr val="F0F3F6"/>
                </a:solidFill>
                <a:latin typeface="Calibri" pitchFamily="34" charset="0"/>
                <a:ea typeface="Calibri" pitchFamily="34" charset="-122"/>
                <a:cs typeface="Calibri" pitchFamily="34" charset="-120"/>
              </a:rPr>
              <a:t>6</a:t>
            </a:r>
            <a:r>
              <a:rPr lang="en-US" sz="2000" dirty="0">
                <a:solidFill>
                  <a:srgbClr val="F0F3F6"/>
                </a:solidFill>
                <a:latin typeface="Calibri" pitchFamily="34" charset="0"/>
                <a:ea typeface="Calibri" pitchFamily="34" charset="-122"/>
                <a:cs typeface="Calibri" pitchFamily="34" charset="-120"/>
              </a:rPr>
              <a:t>:</a:t>
            </a:r>
            <a:endParaRPr lang="en-US" sz="2000" dirty="0"/>
          </a:p>
        </p:txBody>
      </p:sp>
      <p:sp>
        <p:nvSpPr>
          <p:cNvPr id="5" name="Text 3"/>
          <p:cNvSpPr/>
          <p:nvPr/>
        </p:nvSpPr>
        <p:spPr>
          <a:xfrm>
            <a:off x="720969" y="1922526"/>
            <a:ext cx="7315200" cy="1188720"/>
          </a:xfrm>
          <a:prstGeom prst="rect">
            <a:avLst/>
          </a:prstGeom>
          <a:noFill/>
          <a:ln/>
        </p:spPr>
        <p:txBody>
          <a:bodyPr wrap="square" rtlCol="0" anchor="ctr"/>
          <a:lstStyle/>
          <a:p>
            <a:pPr marL="0" indent="0">
              <a:buNone/>
            </a:pPr>
            <a:r>
              <a:rPr lang="tr-TR" sz="5400" b="1" dirty="0">
                <a:solidFill>
                  <a:srgbClr val="FFFFFF"/>
                </a:solidFill>
                <a:latin typeface="Calibri" pitchFamily="34" charset="0"/>
                <a:ea typeface="Calibri" pitchFamily="34" charset="-122"/>
                <a:cs typeface="Calibri" pitchFamily="34" charset="-120"/>
              </a:rPr>
              <a:t xml:space="preserve">Simple </a:t>
            </a:r>
            <a:r>
              <a:rPr lang="tr-TR" sz="5400" b="1" dirty="0" err="1">
                <a:solidFill>
                  <a:srgbClr val="FFFFFF"/>
                </a:solidFill>
                <a:latin typeface="Calibri" pitchFamily="34" charset="0"/>
                <a:ea typeface="Calibri" pitchFamily="34" charset="-122"/>
                <a:cs typeface="Calibri" pitchFamily="34" charset="-120"/>
              </a:rPr>
              <a:t>Projects</a:t>
            </a:r>
            <a:endParaRPr lang="en-US" sz="5400" dirty="0"/>
          </a:p>
        </p:txBody>
      </p:sp>
      <p:sp>
        <p:nvSpPr>
          <p:cNvPr id="8" name="Shape 6"/>
          <p:cNvSpPr/>
          <p:nvPr/>
        </p:nvSpPr>
        <p:spPr>
          <a:xfrm>
            <a:off x="539496" y="1693926"/>
            <a:ext cx="73152" cy="1417320"/>
          </a:xfrm>
          <a:prstGeom prst="rect">
            <a:avLst/>
          </a:prstGeom>
          <a:solidFill>
            <a:srgbClr val="C0392B"/>
          </a:solidFill>
          <a:ln w="12700">
            <a:solidFill>
              <a:srgbClr val="C0392B"/>
            </a:solidFill>
            <a:prstDash val="solid"/>
          </a:ln>
        </p:spPr>
        <p:txBody>
          <a:bodyPr/>
          <a:lstStyle/>
          <a:p>
            <a:endParaRPr lang="tr-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3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2F4E"/>
          </a:solidFill>
          <a:ln w="12700">
            <a:solidFill>
              <a:srgbClr val="1B2F4E"/>
            </a:solidFill>
            <a:prstDash val="solid"/>
          </a:ln>
        </p:spPr>
        <p:txBody>
          <a:bodyPr/>
          <a:lstStyle/>
          <a:p>
            <a:endParaRPr lang="tr-TR"/>
          </a:p>
        </p:txBody>
      </p:sp>
      <p:sp>
        <p:nvSpPr>
          <p:cNvPr id="3" name="Shape 1"/>
          <p:cNvSpPr/>
          <p:nvPr/>
        </p:nvSpPr>
        <p:spPr>
          <a:xfrm>
            <a:off x="0" y="640080"/>
            <a:ext cx="9144000" cy="50292"/>
          </a:xfrm>
          <a:prstGeom prst="rect">
            <a:avLst/>
          </a:prstGeom>
          <a:solidFill>
            <a:srgbClr val="C0392B"/>
          </a:solidFill>
          <a:ln w="12700">
            <a:solidFill>
              <a:srgbClr val="C0392B"/>
            </a:solidFill>
            <a:prstDash val="solid"/>
          </a:ln>
        </p:spPr>
        <p:txBody>
          <a:bodyPr/>
          <a:lstStyle/>
          <a:p>
            <a:endParaRPr lang="tr-TR"/>
          </a:p>
        </p:txBody>
      </p:sp>
      <p:sp>
        <p:nvSpPr>
          <p:cNvPr id="4" name="Text 2"/>
          <p:cNvSpPr/>
          <p:nvPr/>
        </p:nvSpPr>
        <p:spPr>
          <a:xfrm>
            <a:off x="228600" y="45720"/>
            <a:ext cx="77724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Question 1: Password Strength Checker</a:t>
            </a:r>
            <a:endParaRPr lang="en-US" sz="2200" dirty="0"/>
          </a:p>
        </p:txBody>
      </p:sp>
      <p:sp>
        <p:nvSpPr>
          <p:cNvPr id="5" name="Text 3"/>
          <p:cNvSpPr/>
          <p:nvPr/>
        </p:nvSpPr>
        <p:spPr>
          <a:xfrm>
            <a:off x="0" y="594360"/>
            <a:ext cx="9144000" cy="365760"/>
          </a:xfrm>
          <a:prstGeom prst="rect">
            <a:avLst/>
          </a:prstGeom>
          <a:noFill/>
          <a:ln/>
        </p:spPr>
        <p:txBody>
          <a:bodyPr wrap="square" lIns="0" tIns="0" rIns="2540" bIns="0" rtlCol="0" anchor="ctr"/>
          <a:lstStyle/>
          <a:p>
            <a:pPr marL="0" indent="0" algn="r">
              <a:buNone/>
            </a:pPr>
            <a:r>
              <a:rPr lang="en-US" sz="900" dirty="0">
                <a:solidFill>
                  <a:srgbClr val="6EC6D0"/>
                </a:solidFill>
                <a:latin typeface="Calibri" pitchFamily="34" charset="0"/>
                <a:ea typeface="Calibri" pitchFamily="34" charset="-122"/>
                <a:cs typeface="Calibri" pitchFamily="34" charset="-120"/>
              </a:rPr>
              <a:t>strings  ·  conditions  ·  data types  ·  str methods</a:t>
            </a:r>
            <a:endParaRPr lang="en-US" sz="900" dirty="0"/>
          </a:p>
        </p:txBody>
      </p:sp>
      <p:sp>
        <p:nvSpPr>
          <p:cNvPr id="6" name="Shape 4"/>
          <p:cNvSpPr/>
          <p:nvPr/>
        </p:nvSpPr>
        <p:spPr>
          <a:xfrm>
            <a:off x="263769" y="937260"/>
            <a:ext cx="4160520" cy="3611880"/>
          </a:xfrm>
          <a:prstGeom prst="rect">
            <a:avLst/>
          </a:prstGeom>
          <a:solidFill>
            <a:srgbClr val="FFFFFF"/>
          </a:solidFill>
          <a:ln w="12700">
            <a:solidFill>
              <a:srgbClr val="DDE3EC"/>
            </a:solidFill>
            <a:prstDash val="solid"/>
          </a:ln>
          <a:effectLst>
            <a:outerShdw blurRad="101600" dist="38100" dir="8100000" algn="bl" rotWithShape="0">
              <a:srgbClr val="000000">
                <a:alpha val="12000"/>
              </a:srgbClr>
            </a:outerShdw>
          </a:effectLst>
        </p:spPr>
        <p:txBody>
          <a:bodyPr/>
          <a:lstStyle/>
          <a:p>
            <a:endParaRPr lang="tr-TR"/>
          </a:p>
        </p:txBody>
      </p:sp>
      <p:sp>
        <p:nvSpPr>
          <p:cNvPr id="7" name="Shape 5"/>
          <p:cNvSpPr/>
          <p:nvPr/>
        </p:nvSpPr>
        <p:spPr>
          <a:xfrm>
            <a:off x="274320" y="948690"/>
            <a:ext cx="64008" cy="3611880"/>
          </a:xfrm>
          <a:prstGeom prst="rect">
            <a:avLst/>
          </a:prstGeom>
          <a:solidFill>
            <a:srgbClr val="C0392B"/>
          </a:solidFill>
          <a:ln w="12700">
            <a:solidFill>
              <a:srgbClr val="C0392B"/>
            </a:solidFill>
            <a:prstDash val="solid"/>
          </a:ln>
        </p:spPr>
        <p:txBody>
          <a:bodyPr/>
          <a:lstStyle/>
          <a:p>
            <a:endParaRPr lang="tr-TR"/>
          </a:p>
        </p:txBody>
      </p:sp>
      <p:sp>
        <p:nvSpPr>
          <p:cNvPr id="8" name="Text 6"/>
          <p:cNvSpPr/>
          <p:nvPr/>
        </p:nvSpPr>
        <p:spPr>
          <a:xfrm>
            <a:off x="457200" y="988959"/>
            <a:ext cx="3749040" cy="320040"/>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Task Summary</a:t>
            </a:r>
            <a:endParaRPr lang="en-US" sz="1300" dirty="0"/>
          </a:p>
        </p:txBody>
      </p:sp>
      <p:sp>
        <p:nvSpPr>
          <p:cNvPr id="9" name="Text 7"/>
          <p:cNvSpPr/>
          <p:nvPr/>
        </p:nvSpPr>
        <p:spPr>
          <a:xfrm>
            <a:off x="429768" y="1261872"/>
            <a:ext cx="3840480" cy="2194560"/>
          </a:xfrm>
          <a:prstGeom prst="rect">
            <a:avLst/>
          </a:prstGeom>
          <a:noFill/>
          <a:ln/>
        </p:spPr>
        <p:txBody>
          <a:bodyPr wrap="square" rtlCol="0" anchor="ctr"/>
          <a:lstStyle/>
          <a:p>
            <a:pPr marL="0" indent="0">
              <a:spcAft>
                <a:spcPts val="500"/>
              </a:spcAft>
              <a:buNone/>
            </a:pPr>
            <a:r>
              <a:rPr lang="en-US" sz="1250" dirty="0">
                <a:solidFill>
                  <a:srgbClr val="1E293B"/>
                </a:solidFill>
                <a:latin typeface="Calibri" pitchFamily="34" charset="0"/>
                <a:ea typeface="Calibri" pitchFamily="34" charset="-122"/>
                <a:cs typeface="Calibri" pitchFamily="34" charset="-120"/>
              </a:rPr>
              <a:t>Write a program that reads a password and prints its strength rating. The rules are: if the length is less than 6, it is Weak; if the length is at least 6 and contains at least one digit, it is Medium; if the length is at least 8 and contains both a digit and an uppercase letter, it is Strong. No explicit for/while loops are allowed.</a:t>
            </a:r>
            <a:endParaRPr lang="en-US" sz="1250" dirty="0"/>
          </a:p>
        </p:txBody>
      </p:sp>
      <p:sp>
        <p:nvSpPr>
          <p:cNvPr id="10" name="Text 8"/>
          <p:cNvSpPr/>
          <p:nvPr/>
        </p:nvSpPr>
        <p:spPr>
          <a:xfrm>
            <a:off x="4572000" y="945876"/>
            <a:ext cx="420624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Expected Output:</a:t>
            </a:r>
            <a:endParaRPr lang="en-US" sz="1300" dirty="0"/>
          </a:p>
        </p:txBody>
      </p:sp>
      <p:sp>
        <p:nvSpPr>
          <p:cNvPr id="11" name="Shape 9"/>
          <p:cNvSpPr/>
          <p:nvPr/>
        </p:nvSpPr>
        <p:spPr>
          <a:xfrm>
            <a:off x="4677156" y="1307592"/>
            <a:ext cx="4224528" cy="2331720"/>
          </a:xfrm>
          <a:prstGeom prst="rect">
            <a:avLst/>
          </a:prstGeom>
          <a:solidFill>
            <a:srgbClr val="0F1F38"/>
          </a:solidFill>
          <a:ln w="12700">
            <a:solidFill>
              <a:srgbClr val="2D4A6E"/>
            </a:solidFill>
            <a:prstDash val="solid"/>
          </a:ln>
          <a:effectLst>
            <a:outerShdw blurRad="101600" dist="38100" dir="8100000" algn="bl" rotWithShape="0">
              <a:srgbClr val="000000">
                <a:alpha val="12000"/>
              </a:srgbClr>
            </a:outerShdw>
          </a:effectLst>
        </p:spPr>
        <p:txBody>
          <a:bodyPr/>
          <a:lstStyle/>
          <a:p>
            <a:endParaRPr lang="tr-TR"/>
          </a:p>
        </p:txBody>
      </p:sp>
      <p:sp>
        <p:nvSpPr>
          <p:cNvPr id="12" name="Text 10"/>
          <p:cNvSpPr/>
          <p:nvPr/>
        </p:nvSpPr>
        <p:spPr>
          <a:xfrm>
            <a:off x="4800600" y="1243584"/>
            <a:ext cx="3977640" cy="2148840"/>
          </a:xfrm>
          <a:prstGeom prst="rect">
            <a:avLst/>
          </a:prstGeom>
          <a:noFill/>
          <a:ln/>
        </p:spPr>
        <p:txBody>
          <a:bodyPr wrap="square" rtlCol="0" anchor="ctr"/>
          <a:lstStyle/>
          <a:p>
            <a:pPr marL="0" indent="0">
              <a:buNone/>
            </a:pPr>
            <a:r>
              <a:rPr lang="en-US" sz="1100" dirty="0">
                <a:solidFill>
                  <a:srgbClr val="93C5FD"/>
                </a:solidFill>
                <a:latin typeface="Courier New" pitchFamily="34" charset="0"/>
                <a:ea typeface="Courier New" pitchFamily="34" charset="-122"/>
                <a:cs typeface="Courier New" pitchFamily="34" charset="-120"/>
              </a:rPr>
              <a:t>Enter password: abc</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Strength: Weak</a:t>
            </a:r>
            <a:endParaRPr lang="en-US" sz="1100" dirty="0"/>
          </a:p>
          <a:p>
            <a:pPr marL="0" indent="0">
              <a:buNone/>
            </a:pPr>
            <a:endParaRPr lang="en-US" sz="1100" dirty="0"/>
          </a:p>
          <a:p>
            <a:pPr marL="0" indent="0">
              <a:buNone/>
            </a:pPr>
            <a:r>
              <a:rPr lang="en-US" sz="1100" dirty="0">
                <a:solidFill>
                  <a:srgbClr val="93C5FD"/>
                </a:solidFill>
                <a:latin typeface="Courier New" pitchFamily="34" charset="0"/>
                <a:ea typeface="Courier New" pitchFamily="34" charset="-122"/>
                <a:cs typeface="Courier New" pitchFamily="34" charset="-120"/>
              </a:rPr>
              <a:t>Enter password: hello9</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Strength: Medium</a:t>
            </a:r>
            <a:endParaRPr lang="en-US" sz="1100" dirty="0"/>
          </a:p>
          <a:p>
            <a:pPr marL="0" indent="0">
              <a:buNone/>
            </a:pPr>
            <a:endParaRPr lang="en-US" sz="1100" dirty="0"/>
          </a:p>
          <a:p>
            <a:pPr marL="0" indent="0">
              <a:buNone/>
            </a:pPr>
            <a:r>
              <a:rPr lang="en-US" sz="1100" dirty="0">
                <a:solidFill>
                  <a:srgbClr val="93C5FD"/>
                </a:solidFill>
                <a:latin typeface="Courier New" pitchFamily="34" charset="0"/>
                <a:ea typeface="Courier New" pitchFamily="34" charset="-122"/>
                <a:cs typeface="Courier New" pitchFamily="34" charset="-120"/>
              </a:rPr>
              <a:t>Enter password: Python3Rocks</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Strength: Strong</a:t>
            </a:r>
            <a:endParaRPr lang="en-US" sz="1100" dirty="0"/>
          </a:p>
        </p:txBody>
      </p:sp>
      <p:sp>
        <p:nvSpPr>
          <p:cNvPr id="13" name="Shape 11"/>
          <p:cNvSpPr/>
          <p:nvPr/>
        </p:nvSpPr>
        <p:spPr>
          <a:xfrm>
            <a:off x="4686300" y="3929282"/>
            <a:ext cx="4160520" cy="594360"/>
          </a:xfrm>
          <a:prstGeom prst="rect">
            <a:avLst/>
          </a:prstGeom>
          <a:solidFill>
            <a:srgbClr val="EFF6FF"/>
          </a:solidFill>
          <a:ln w="19050">
            <a:solidFill>
              <a:srgbClr val="3B82F6"/>
            </a:solidFill>
            <a:prstDash val="solid"/>
          </a:ln>
        </p:spPr>
        <p:txBody>
          <a:bodyPr/>
          <a:lstStyle/>
          <a:p>
            <a:endParaRPr lang="tr-TR"/>
          </a:p>
        </p:txBody>
      </p:sp>
      <p:sp>
        <p:nvSpPr>
          <p:cNvPr id="14" name="Text 12"/>
          <p:cNvSpPr/>
          <p:nvPr/>
        </p:nvSpPr>
        <p:spPr>
          <a:xfrm>
            <a:off x="4686300" y="3952142"/>
            <a:ext cx="3840480" cy="548640"/>
          </a:xfrm>
          <a:prstGeom prst="rect">
            <a:avLst/>
          </a:prstGeom>
          <a:noFill/>
          <a:ln/>
        </p:spPr>
        <p:txBody>
          <a:bodyPr wrap="square" rtlCol="0" anchor="ctr"/>
          <a:lstStyle/>
          <a:p>
            <a:pPr marL="0" indent="0">
              <a:buNone/>
            </a:pPr>
            <a:r>
              <a:rPr lang="en-US" sz="1100" b="1" dirty="0">
                <a:solidFill>
                  <a:srgbClr val="1D4ED8"/>
                </a:solidFill>
                <a:latin typeface="Calibri" pitchFamily="34" charset="0"/>
                <a:ea typeface="Calibri" pitchFamily="34" charset="-122"/>
                <a:cs typeface="Calibri" pitchFamily="34" charset="-120"/>
              </a:rPr>
              <a:t xml:space="preserve">💡  Hint  </a:t>
            </a:r>
            <a:r>
              <a:rPr lang="en-US" sz="1100" dirty="0">
                <a:solidFill>
                  <a:srgbClr val="1E3A5F"/>
                </a:solidFill>
                <a:latin typeface="Calibri" pitchFamily="34" charset="0"/>
                <a:ea typeface="Calibri" pitchFamily="34" charset="-122"/>
                <a:cs typeface="Calibri" pitchFamily="34" charset="-120"/>
              </a:rPr>
              <a:t>Use any(c.isupper() for c in pwd) and any(c.isdigit() for c in pwd) inside conditions — no explicit for loop.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2F4E"/>
          </a:solidFill>
          <a:ln w="12700">
            <a:solidFill>
              <a:srgbClr val="1B2F4E"/>
            </a:solidFill>
            <a:prstDash val="solid"/>
          </a:ln>
        </p:spPr>
        <p:txBody>
          <a:bodyPr/>
          <a:lstStyle/>
          <a:p>
            <a:endParaRPr lang="tr-TR"/>
          </a:p>
        </p:txBody>
      </p:sp>
      <p:sp>
        <p:nvSpPr>
          <p:cNvPr id="3" name="Shape 1"/>
          <p:cNvSpPr/>
          <p:nvPr/>
        </p:nvSpPr>
        <p:spPr>
          <a:xfrm>
            <a:off x="0" y="640080"/>
            <a:ext cx="9144000" cy="50292"/>
          </a:xfrm>
          <a:prstGeom prst="rect">
            <a:avLst/>
          </a:prstGeom>
          <a:solidFill>
            <a:srgbClr val="C0392B"/>
          </a:solidFill>
          <a:ln w="12700">
            <a:solidFill>
              <a:srgbClr val="C0392B"/>
            </a:solidFill>
            <a:prstDash val="solid"/>
          </a:ln>
        </p:spPr>
        <p:txBody>
          <a:bodyPr/>
          <a:lstStyle/>
          <a:p>
            <a:endParaRPr lang="tr-TR"/>
          </a:p>
        </p:txBody>
      </p:sp>
      <p:sp>
        <p:nvSpPr>
          <p:cNvPr id="4" name="Text 2"/>
          <p:cNvSpPr/>
          <p:nvPr/>
        </p:nvSpPr>
        <p:spPr>
          <a:xfrm>
            <a:off x="228600" y="45720"/>
            <a:ext cx="77724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Question 2: Shopping Receipt</a:t>
            </a:r>
            <a:endParaRPr lang="en-US" sz="2200" dirty="0"/>
          </a:p>
        </p:txBody>
      </p:sp>
      <p:sp>
        <p:nvSpPr>
          <p:cNvPr id="5" name="Text 3"/>
          <p:cNvSpPr/>
          <p:nvPr/>
        </p:nvSpPr>
        <p:spPr>
          <a:xfrm>
            <a:off x="0" y="594360"/>
            <a:ext cx="9144000" cy="365760"/>
          </a:xfrm>
          <a:prstGeom prst="rect">
            <a:avLst/>
          </a:prstGeom>
          <a:noFill/>
          <a:ln/>
        </p:spPr>
        <p:txBody>
          <a:bodyPr wrap="square" lIns="0" tIns="0" rIns="2540" bIns="0" rtlCol="0" anchor="ctr"/>
          <a:lstStyle/>
          <a:p>
            <a:pPr marL="0" indent="0" algn="r">
              <a:buNone/>
            </a:pPr>
            <a:r>
              <a:rPr lang="en-US" sz="900" dirty="0">
                <a:solidFill>
                  <a:srgbClr val="6EC6D0"/>
                </a:solidFill>
                <a:latin typeface="Calibri" pitchFamily="34" charset="0"/>
                <a:ea typeface="Calibri" pitchFamily="34" charset="-122"/>
                <a:cs typeface="Calibri" pitchFamily="34" charset="-120"/>
              </a:rPr>
              <a:t>conditions  ·  data types  ·  f-strings  ·  float/int</a:t>
            </a:r>
            <a:endParaRPr lang="en-US" sz="900" dirty="0"/>
          </a:p>
        </p:txBody>
      </p:sp>
      <p:sp>
        <p:nvSpPr>
          <p:cNvPr id="6" name="Shape 4"/>
          <p:cNvSpPr/>
          <p:nvPr/>
        </p:nvSpPr>
        <p:spPr>
          <a:xfrm>
            <a:off x="274320" y="777240"/>
            <a:ext cx="4160520" cy="3611880"/>
          </a:xfrm>
          <a:prstGeom prst="rect">
            <a:avLst/>
          </a:prstGeom>
          <a:solidFill>
            <a:srgbClr val="FFFFFF"/>
          </a:solidFill>
          <a:ln w="12700">
            <a:solidFill>
              <a:srgbClr val="DDE3EC"/>
            </a:solidFill>
            <a:prstDash val="solid"/>
          </a:ln>
          <a:effectLst>
            <a:outerShdw blurRad="101600" dist="38100" dir="8100000" algn="bl" rotWithShape="0">
              <a:srgbClr val="000000">
                <a:alpha val="12000"/>
              </a:srgbClr>
            </a:outerShdw>
          </a:effectLst>
        </p:spPr>
        <p:txBody>
          <a:bodyPr/>
          <a:lstStyle/>
          <a:p>
            <a:endParaRPr lang="tr-TR"/>
          </a:p>
        </p:txBody>
      </p:sp>
      <p:sp>
        <p:nvSpPr>
          <p:cNvPr id="7" name="Shape 5"/>
          <p:cNvSpPr/>
          <p:nvPr/>
        </p:nvSpPr>
        <p:spPr>
          <a:xfrm>
            <a:off x="274320" y="777240"/>
            <a:ext cx="64008" cy="3611880"/>
          </a:xfrm>
          <a:prstGeom prst="rect">
            <a:avLst/>
          </a:prstGeom>
          <a:solidFill>
            <a:srgbClr val="C0392B"/>
          </a:solidFill>
          <a:ln w="12700">
            <a:solidFill>
              <a:srgbClr val="C0392B"/>
            </a:solidFill>
            <a:prstDash val="solid"/>
          </a:ln>
        </p:spPr>
        <p:txBody>
          <a:bodyPr/>
          <a:lstStyle/>
          <a:p>
            <a:endParaRPr lang="tr-TR"/>
          </a:p>
        </p:txBody>
      </p:sp>
      <p:sp>
        <p:nvSpPr>
          <p:cNvPr id="8" name="Text 6"/>
          <p:cNvSpPr/>
          <p:nvPr/>
        </p:nvSpPr>
        <p:spPr>
          <a:xfrm>
            <a:off x="457200" y="868680"/>
            <a:ext cx="3749040" cy="320040"/>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Task Summary</a:t>
            </a:r>
            <a:endParaRPr lang="en-US" sz="1300" dirty="0"/>
          </a:p>
        </p:txBody>
      </p:sp>
      <p:sp>
        <p:nvSpPr>
          <p:cNvPr id="9" name="Text 7"/>
          <p:cNvSpPr/>
          <p:nvPr/>
        </p:nvSpPr>
        <p:spPr>
          <a:xfrm>
            <a:off x="429768" y="1261872"/>
            <a:ext cx="3840480" cy="2194560"/>
          </a:xfrm>
          <a:prstGeom prst="rect">
            <a:avLst/>
          </a:prstGeom>
          <a:noFill/>
          <a:ln/>
        </p:spPr>
        <p:txBody>
          <a:bodyPr wrap="square" rtlCol="0" anchor="ctr"/>
          <a:lstStyle/>
          <a:p>
            <a:pPr marL="0" indent="0">
              <a:spcAft>
                <a:spcPts val="500"/>
              </a:spcAft>
              <a:buNone/>
            </a:pPr>
            <a:r>
              <a:rPr lang="en-US" sz="1250" dirty="0">
                <a:solidFill>
                  <a:srgbClr val="1E293B"/>
                </a:solidFill>
                <a:latin typeface="Calibri" pitchFamily="34" charset="0"/>
                <a:ea typeface="Calibri" pitchFamily="34" charset="-122"/>
                <a:cs typeface="Calibri" pitchFamily="34" charset="-120"/>
              </a:rPr>
              <a:t>Write a program that reads an item name, unit price, and quantity, then prints a formatted receipt. The subtotal is price × quantity. If the subtotal exceeds $100, a 10% discount is applied and shown as a separate line. All monetary values must be printed with exactly 2 decimal places.</a:t>
            </a:r>
            <a:endParaRPr lang="en-US" sz="1250" dirty="0"/>
          </a:p>
        </p:txBody>
      </p:sp>
      <p:sp>
        <p:nvSpPr>
          <p:cNvPr id="10" name="Text 8"/>
          <p:cNvSpPr/>
          <p:nvPr/>
        </p:nvSpPr>
        <p:spPr>
          <a:xfrm>
            <a:off x="4663440" y="841248"/>
            <a:ext cx="420624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Expected Output:</a:t>
            </a:r>
            <a:endParaRPr lang="en-US" sz="1300" dirty="0"/>
          </a:p>
        </p:txBody>
      </p:sp>
      <p:sp>
        <p:nvSpPr>
          <p:cNvPr id="11" name="Shape 9"/>
          <p:cNvSpPr/>
          <p:nvPr/>
        </p:nvSpPr>
        <p:spPr>
          <a:xfrm>
            <a:off x="4663440" y="1170432"/>
            <a:ext cx="4224528" cy="2331720"/>
          </a:xfrm>
          <a:prstGeom prst="rect">
            <a:avLst/>
          </a:prstGeom>
          <a:solidFill>
            <a:srgbClr val="0F1F38"/>
          </a:solidFill>
          <a:ln w="12700">
            <a:solidFill>
              <a:srgbClr val="2D4A6E"/>
            </a:solidFill>
            <a:prstDash val="solid"/>
          </a:ln>
          <a:effectLst>
            <a:outerShdw blurRad="101600" dist="38100" dir="8100000" algn="bl" rotWithShape="0">
              <a:srgbClr val="000000">
                <a:alpha val="12000"/>
              </a:srgbClr>
            </a:outerShdw>
          </a:effectLst>
        </p:spPr>
        <p:txBody>
          <a:bodyPr/>
          <a:lstStyle/>
          <a:p>
            <a:endParaRPr lang="tr-TR"/>
          </a:p>
        </p:txBody>
      </p:sp>
      <p:sp>
        <p:nvSpPr>
          <p:cNvPr id="12" name="Text 10"/>
          <p:cNvSpPr/>
          <p:nvPr/>
        </p:nvSpPr>
        <p:spPr>
          <a:xfrm>
            <a:off x="4800600" y="1243584"/>
            <a:ext cx="3977640" cy="2148840"/>
          </a:xfrm>
          <a:prstGeom prst="rect">
            <a:avLst/>
          </a:prstGeom>
          <a:noFill/>
          <a:ln/>
        </p:spPr>
        <p:txBody>
          <a:bodyPr wrap="square" rtlCol="0" anchor="ctr"/>
          <a:lstStyle/>
          <a:p>
            <a:pPr marL="0" indent="0">
              <a:buNone/>
            </a:pPr>
            <a:r>
              <a:rPr lang="en-US" sz="1100" dirty="0">
                <a:solidFill>
                  <a:srgbClr val="6EE7B7"/>
                </a:solidFill>
                <a:latin typeface="Courier New" pitchFamily="34" charset="0"/>
                <a:ea typeface="Courier New" pitchFamily="34" charset="-122"/>
                <a:cs typeface="Courier New" pitchFamily="34" charset="-120"/>
              </a:rPr>
              <a:t>Item name: Notebook</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Unit price: 15.5</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Quantity: 8</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Notebook x 8 = $124.00</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Discount (10%): -$12.40</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Total: $111.60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3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2F4E"/>
          </a:solidFill>
          <a:ln w="12700">
            <a:solidFill>
              <a:srgbClr val="1B2F4E"/>
            </a:solidFill>
            <a:prstDash val="solid"/>
          </a:ln>
        </p:spPr>
        <p:txBody>
          <a:bodyPr/>
          <a:lstStyle/>
          <a:p>
            <a:endParaRPr lang="tr-TR"/>
          </a:p>
        </p:txBody>
      </p:sp>
      <p:sp>
        <p:nvSpPr>
          <p:cNvPr id="3" name="Shape 1"/>
          <p:cNvSpPr/>
          <p:nvPr/>
        </p:nvSpPr>
        <p:spPr>
          <a:xfrm>
            <a:off x="0" y="640080"/>
            <a:ext cx="9144000" cy="50292"/>
          </a:xfrm>
          <a:prstGeom prst="rect">
            <a:avLst/>
          </a:prstGeom>
          <a:solidFill>
            <a:srgbClr val="C0392B"/>
          </a:solidFill>
          <a:ln w="12700">
            <a:solidFill>
              <a:srgbClr val="C0392B"/>
            </a:solidFill>
            <a:prstDash val="solid"/>
          </a:ln>
        </p:spPr>
        <p:txBody>
          <a:bodyPr/>
          <a:lstStyle/>
          <a:p>
            <a:endParaRPr lang="tr-TR"/>
          </a:p>
        </p:txBody>
      </p:sp>
      <p:sp>
        <p:nvSpPr>
          <p:cNvPr id="4" name="Text 2"/>
          <p:cNvSpPr/>
          <p:nvPr/>
        </p:nvSpPr>
        <p:spPr>
          <a:xfrm>
            <a:off x="228600" y="45720"/>
            <a:ext cx="77724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Question 3: Word Statistics Analyzer</a:t>
            </a:r>
            <a:endParaRPr lang="en-US" sz="2200" dirty="0"/>
          </a:p>
        </p:txBody>
      </p:sp>
      <p:sp>
        <p:nvSpPr>
          <p:cNvPr id="5" name="Text 3"/>
          <p:cNvSpPr/>
          <p:nvPr/>
        </p:nvSpPr>
        <p:spPr>
          <a:xfrm>
            <a:off x="0" y="594360"/>
            <a:ext cx="9144000" cy="365760"/>
          </a:xfrm>
          <a:prstGeom prst="rect">
            <a:avLst/>
          </a:prstGeom>
          <a:noFill/>
          <a:ln/>
        </p:spPr>
        <p:txBody>
          <a:bodyPr wrap="square" lIns="0" tIns="0" rIns="2540" bIns="0" rtlCol="0" anchor="ctr"/>
          <a:lstStyle/>
          <a:p>
            <a:pPr marL="0" indent="0" algn="r">
              <a:buNone/>
            </a:pPr>
            <a:r>
              <a:rPr lang="en-US" sz="900" dirty="0">
                <a:solidFill>
                  <a:srgbClr val="6EC6D0"/>
                </a:solidFill>
                <a:latin typeface="Calibri" pitchFamily="34" charset="0"/>
                <a:ea typeface="Calibri" pitchFamily="34" charset="-122"/>
                <a:cs typeface="Calibri" pitchFamily="34" charset="-120"/>
              </a:rPr>
              <a:t>loops  ·  conditions  ·  strings  ·  .split()  ·  len()</a:t>
            </a:r>
            <a:endParaRPr lang="en-US" sz="900" dirty="0"/>
          </a:p>
        </p:txBody>
      </p:sp>
      <p:sp>
        <p:nvSpPr>
          <p:cNvPr id="6" name="Shape 4"/>
          <p:cNvSpPr/>
          <p:nvPr/>
        </p:nvSpPr>
        <p:spPr>
          <a:xfrm>
            <a:off x="274320" y="777240"/>
            <a:ext cx="4160520" cy="3611880"/>
          </a:xfrm>
          <a:prstGeom prst="rect">
            <a:avLst/>
          </a:prstGeom>
          <a:solidFill>
            <a:srgbClr val="FFFFFF"/>
          </a:solidFill>
          <a:ln w="12700">
            <a:solidFill>
              <a:srgbClr val="DDE3EC"/>
            </a:solidFill>
            <a:prstDash val="solid"/>
          </a:ln>
          <a:effectLst>
            <a:outerShdw blurRad="101600" dist="38100" dir="8100000" algn="bl" rotWithShape="0">
              <a:srgbClr val="000000">
                <a:alpha val="12000"/>
              </a:srgbClr>
            </a:outerShdw>
          </a:effectLst>
        </p:spPr>
        <p:txBody>
          <a:bodyPr/>
          <a:lstStyle/>
          <a:p>
            <a:endParaRPr lang="tr-TR"/>
          </a:p>
        </p:txBody>
      </p:sp>
      <p:sp>
        <p:nvSpPr>
          <p:cNvPr id="7" name="Shape 5"/>
          <p:cNvSpPr/>
          <p:nvPr/>
        </p:nvSpPr>
        <p:spPr>
          <a:xfrm>
            <a:off x="274320" y="777240"/>
            <a:ext cx="64008" cy="3611880"/>
          </a:xfrm>
          <a:prstGeom prst="rect">
            <a:avLst/>
          </a:prstGeom>
          <a:solidFill>
            <a:srgbClr val="C0392B"/>
          </a:solidFill>
          <a:ln w="12700">
            <a:solidFill>
              <a:srgbClr val="C0392B"/>
            </a:solidFill>
            <a:prstDash val="solid"/>
          </a:ln>
        </p:spPr>
        <p:txBody>
          <a:bodyPr/>
          <a:lstStyle/>
          <a:p>
            <a:endParaRPr lang="tr-TR"/>
          </a:p>
        </p:txBody>
      </p:sp>
      <p:sp>
        <p:nvSpPr>
          <p:cNvPr id="8" name="Text 6"/>
          <p:cNvSpPr/>
          <p:nvPr/>
        </p:nvSpPr>
        <p:spPr>
          <a:xfrm>
            <a:off x="457200" y="868680"/>
            <a:ext cx="3749040" cy="320040"/>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Task Summary</a:t>
            </a:r>
            <a:endParaRPr lang="en-US" sz="1300" dirty="0"/>
          </a:p>
        </p:txBody>
      </p:sp>
      <p:sp>
        <p:nvSpPr>
          <p:cNvPr id="9" name="Text 7"/>
          <p:cNvSpPr/>
          <p:nvPr/>
        </p:nvSpPr>
        <p:spPr>
          <a:xfrm>
            <a:off x="429768" y="1261872"/>
            <a:ext cx="3840480" cy="2194560"/>
          </a:xfrm>
          <a:prstGeom prst="rect">
            <a:avLst/>
          </a:prstGeom>
          <a:noFill/>
          <a:ln/>
        </p:spPr>
        <p:txBody>
          <a:bodyPr wrap="square" rtlCol="0" anchor="ctr"/>
          <a:lstStyle/>
          <a:p>
            <a:pPr marL="0" indent="0">
              <a:spcAft>
                <a:spcPts val="500"/>
              </a:spcAft>
              <a:buNone/>
            </a:pPr>
            <a:r>
              <a:rPr lang="en-US" sz="1250" dirty="0">
                <a:solidFill>
                  <a:srgbClr val="1E293B"/>
                </a:solidFill>
                <a:latin typeface="Calibri" pitchFamily="34" charset="0"/>
                <a:ea typeface="Calibri" pitchFamily="34" charset="-122"/>
                <a:cs typeface="Calibri" pitchFamily="34" charset="-120"/>
              </a:rPr>
              <a:t>Write a program that reads a sentence and prints four statistics: the total number of words, the count of words whose length is greater than 5, the count of words whose first character is uppercase, and the longest word. Words are separated by spaces. Use .split() and a single loop; no built-in functions like max() or sorted() are allowed.</a:t>
            </a:r>
            <a:endParaRPr lang="en-US" sz="1250" dirty="0"/>
          </a:p>
        </p:txBody>
      </p:sp>
      <p:sp>
        <p:nvSpPr>
          <p:cNvPr id="10" name="Text 8"/>
          <p:cNvSpPr/>
          <p:nvPr/>
        </p:nvSpPr>
        <p:spPr>
          <a:xfrm>
            <a:off x="4663440" y="841248"/>
            <a:ext cx="420624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Expected Output:</a:t>
            </a:r>
            <a:endParaRPr lang="en-US" sz="1300" dirty="0"/>
          </a:p>
        </p:txBody>
      </p:sp>
      <p:sp>
        <p:nvSpPr>
          <p:cNvPr id="11" name="Shape 9"/>
          <p:cNvSpPr/>
          <p:nvPr/>
        </p:nvSpPr>
        <p:spPr>
          <a:xfrm>
            <a:off x="4663440" y="1170432"/>
            <a:ext cx="4224528" cy="2331720"/>
          </a:xfrm>
          <a:prstGeom prst="rect">
            <a:avLst/>
          </a:prstGeom>
          <a:solidFill>
            <a:srgbClr val="0F1F38"/>
          </a:solidFill>
          <a:ln w="12700">
            <a:solidFill>
              <a:srgbClr val="2D4A6E"/>
            </a:solidFill>
            <a:prstDash val="solid"/>
          </a:ln>
          <a:effectLst>
            <a:outerShdw blurRad="101600" dist="38100" dir="8100000" algn="bl" rotWithShape="0">
              <a:srgbClr val="000000">
                <a:alpha val="12000"/>
              </a:srgbClr>
            </a:outerShdw>
          </a:effectLst>
        </p:spPr>
        <p:txBody>
          <a:bodyPr/>
          <a:lstStyle/>
          <a:p>
            <a:endParaRPr lang="tr-TR"/>
          </a:p>
        </p:txBody>
      </p:sp>
      <p:sp>
        <p:nvSpPr>
          <p:cNvPr id="12" name="Text 10"/>
          <p:cNvSpPr/>
          <p:nvPr/>
        </p:nvSpPr>
        <p:spPr>
          <a:xfrm>
            <a:off x="4800600" y="1243584"/>
            <a:ext cx="3977640" cy="2148840"/>
          </a:xfrm>
          <a:prstGeom prst="rect">
            <a:avLst/>
          </a:prstGeom>
          <a:noFill/>
          <a:ln/>
        </p:spPr>
        <p:txBody>
          <a:bodyPr wrap="square" rtlCol="0" anchor="ctr"/>
          <a:lstStyle/>
          <a:p>
            <a:pPr marL="0" indent="0">
              <a:buNone/>
            </a:pPr>
            <a:r>
              <a:rPr lang="en-US" sz="1100" dirty="0">
                <a:solidFill>
                  <a:srgbClr val="93C5FD"/>
                </a:solidFill>
                <a:latin typeface="Courier New" pitchFamily="34" charset="0"/>
                <a:ea typeface="Courier New" pitchFamily="34" charset="-122"/>
                <a:cs typeface="Courier New" pitchFamily="34" charset="-120"/>
              </a:rPr>
              <a:t>Enter a sentence: Python programming is Fun and powerful</a:t>
            </a:r>
            <a:endParaRPr lang="en-US" sz="1100" dirty="0"/>
          </a:p>
          <a:p>
            <a:pPr marL="0" indent="0">
              <a:buNone/>
            </a:pP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Total words: 6</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Words longer than 5 chars: 3</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Words starting with uppercase: 2</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Longest word: programming</a:t>
            </a:r>
            <a:endParaRPr lang="en-US" sz="1100" dirty="0"/>
          </a:p>
        </p:txBody>
      </p:sp>
      <p:sp>
        <p:nvSpPr>
          <p:cNvPr id="13" name="Shape 11"/>
          <p:cNvSpPr/>
          <p:nvPr/>
        </p:nvSpPr>
        <p:spPr>
          <a:xfrm>
            <a:off x="4663440" y="3785968"/>
            <a:ext cx="4160520" cy="594360"/>
          </a:xfrm>
          <a:prstGeom prst="rect">
            <a:avLst/>
          </a:prstGeom>
          <a:solidFill>
            <a:srgbClr val="EFF6FF"/>
          </a:solidFill>
          <a:ln w="19050">
            <a:solidFill>
              <a:srgbClr val="3B82F6"/>
            </a:solidFill>
            <a:prstDash val="solid"/>
          </a:ln>
        </p:spPr>
        <p:txBody>
          <a:bodyPr/>
          <a:lstStyle/>
          <a:p>
            <a:endParaRPr lang="tr-TR"/>
          </a:p>
        </p:txBody>
      </p:sp>
      <p:sp>
        <p:nvSpPr>
          <p:cNvPr id="14" name="Text 12"/>
          <p:cNvSpPr/>
          <p:nvPr/>
        </p:nvSpPr>
        <p:spPr>
          <a:xfrm>
            <a:off x="4709160" y="3840480"/>
            <a:ext cx="3840480" cy="548640"/>
          </a:xfrm>
          <a:prstGeom prst="rect">
            <a:avLst/>
          </a:prstGeom>
          <a:noFill/>
          <a:ln/>
        </p:spPr>
        <p:txBody>
          <a:bodyPr wrap="square" rtlCol="0" anchor="ctr"/>
          <a:lstStyle/>
          <a:p>
            <a:pPr marL="0" indent="0">
              <a:buNone/>
            </a:pPr>
            <a:r>
              <a:rPr lang="en-US" sz="1100" b="1" dirty="0">
                <a:solidFill>
                  <a:srgbClr val="1D4ED8"/>
                </a:solidFill>
                <a:latin typeface="Calibri" pitchFamily="34" charset="0"/>
                <a:ea typeface="Calibri" pitchFamily="34" charset="-122"/>
                <a:cs typeface="Calibri" pitchFamily="34" charset="-120"/>
              </a:rPr>
              <a:t xml:space="preserve">💡  Hint  </a:t>
            </a:r>
            <a:r>
              <a:rPr lang="en-US" sz="1100" dirty="0">
                <a:solidFill>
                  <a:srgbClr val="1E3A5F"/>
                </a:solidFill>
                <a:latin typeface="Calibri" pitchFamily="34" charset="0"/>
                <a:ea typeface="Calibri" pitchFamily="34" charset="-122"/>
                <a:cs typeface="Calibri" pitchFamily="34" charset="-120"/>
              </a:rPr>
              <a:t>Use .split() to get a list of words. Use len(word) and word[0].isupper() inside the loop.</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2F4E"/>
          </a:solidFill>
          <a:ln w="12700">
            <a:solidFill>
              <a:srgbClr val="1B2F4E"/>
            </a:solidFill>
            <a:prstDash val="solid"/>
          </a:ln>
        </p:spPr>
        <p:txBody>
          <a:bodyPr/>
          <a:lstStyle/>
          <a:p>
            <a:endParaRPr lang="tr-TR"/>
          </a:p>
        </p:txBody>
      </p:sp>
      <p:sp>
        <p:nvSpPr>
          <p:cNvPr id="3" name="Shape 1"/>
          <p:cNvSpPr/>
          <p:nvPr/>
        </p:nvSpPr>
        <p:spPr>
          <a:xfrm>
            <a:off x="0" y="640080"/>
            <a:ext cx="9144000" cy="50292"/>
          </a:xfrm>
          <a:prstGeom prst="rect">
            <a:avLst/>
          </a:prstGeom>
          <a:solidFill>
            <a:srgbClr val="C0392B"/>
          </a:solidFill>
          <a:ln w="12700">
            <a:solidFill>
              <a:srgbClr val="C0392B"/>
            </a:solidFill>
            <a:prstDash val="solid"/>
          </a:ln>
        </p:spPr>
        <p:txBody>
          <a:bodyPr/>
          <a:lstStyle/>
          <a:p>
            <a:endParaRPr lang="tr-TR"/>
          </a:p>
        </p:txBody>
      </p:sp>
      <p:sp>
        <p:nvSpPr>
          <p:cNvPr id="4" name="Text 2"/>
          <p:cNvSpPr/>
          <p:nvPr/>
        </p:nvSpPr>
        <p:spPr>
          <a:xfrm>
            <a:off x="228600" y="45720"/>
            <a:ext cx="77724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Question 4: Caesar Cipher Encoder</a:t>
            </a:r>
            <a:endParaRPr lang="en-US" sz="2200" dirty="0"/>
          </a:p>
        </p:txBody>
      </p:sp>
      <p:sp>
        <p:nvSpPr>
          <p:cNvPr id="5" name="Text 3"/>
          <p:cNvSpPr/>
          <p:nvPr/>
        </p:nvSpPr>
        <p:spPr>
          <a:xfrm>
            <a:off x="0" y="594360"/>
            <a:ext cx="9144000" cy="365760"/>
          </a:xfrm>
          <a:prstGeom prst="rect">
            <a:avLst/>
          </a:prstGeom>
          <a:noFill/>
          <a:ln/>
        </p:spPr>
        <p:txBody>
          <a:bodyPr wrap="square" lIns="0" tIns="0" rIns="2540" bIns="0" rtlCol="0" anchor="ctr"/>
          <a:lstStyle/>
          <a:p>
            <a:pPr marL="0" indent="0" algn="r">
              <a:buNone/>
            </a:pPr>
            <a:r>
              <a:rPr lang="en-US" sz="900" dirty="0">
                <a:solidFill>
                  <a:srgbClr val="6EC6D0"/>
                </a:solidFill>
                <a:latin typeface="Calibri" pitchFamily="34" charset="0"/>
                <a:ea typeface="Calibri" pitchFamily="34" charset="-122"/>
                <a:cs typeface="Calibri" pitchFamily="34" charset="-120"/>
              </a:rPr>
              <a:t>loops + conditions  ·  strings  ·  ord() / chr()  ·  % operator</a:t>
            </a:r>
            <a:endParaRPr lang="en-US" sz="900" dirty="0"/>
          </a:p>
        </p:txBody>
      </p:sp>
      <p:sp>
        <p:nvSpPr>
          <p:cNvPr id="6" name="Shape 4"/>
          <p:cNvSpPr/>
          <p:nvPr/>
        </p:nvSpPr>
        <p:spPr>
          <a:xfrm>
            <a:off x="274320" y="777240"/>
            <a:ext cx="4160520" cy="3611880"/>
          </a:xfrm>
          <a:prstGeom prst="rect">
            <a:avLst/>
          </a:prstGeom>
          <a:solidFill>
            <a:srgbClr val="FFFFFF"/>
          </a:solidFill>
          <a:ln w="12700">
            <a:solidFill>
              <a:srgbClr val="DDE3EC"/>
            </a:solidFill>
            <a:prstDash val="solid"/>
          </a:ln>
          <a:effectLst>
            <a:outerShdw blurRad="101600" dist="38100" dir="8100000" algn="bl" rotWithShape="0">
              <a:srgbClr val="000000">
                <a:alpha val="12000"/>
              </a:srgbClr>
            </a:outerShdw>
          </a:effectLst>
        </p:spPr>
        <p:txBody>
          <a:bodyPr/>
          <a:lstStyle/>
          <a:p>
            <a:endParaRPr lang="tr-TR"/>
          </a:p>
        </p:txBody>
      </p:sp>
      <p:sp>
        <p:nvSpPr>
          <p:cNvPr id="7" name="Shape 5"/>
          <p:cNvSpPr/>
          <p:nvPr/>
        </p:nvSpPr>
        <p:spPr>
          <a:xfrm>
            <a:off x="274320" y="777240"/>
            <a:ext cx="64008" cy="3611880"/>
          </a:xfrm>
          <a:prstGeom prst="rect">
            <a:avLst/>
          </a:prstGeom>
          <a:solidFill>
            <a:srgbClr val="C0392B"/>
          </a:solidFill>
          <a:ln w="12700">
            <a:solidFill>
              <a:srgbClr val="C0392B"/>
            </a:solidFill>
            <a:prstDash val="solid"/>
          </a:ln>
        </p:spPr>
        <p:txBody>
          <a:bodyPr/>
          <a:lstStyle/>
          <a:p>
            <a:endParaRPr lang="tr-TR"/>
          </a:p>
        </p:txBody>
      </p:sp>
      <p:sp>
        <p:nvSpPr>
          <p:cNvPr id="8" name="Text 6"/>
          <p:cNvSpPr/>
          <p:nvPr/>
        </p:nvSpPr>
        <p:spPr>
          <a:xfrm>
            <a:off x="457200" y="868680"/>
            <a:ext cx="3749040" cy="320040"/>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Task Summary</a:t>
            </a:r>
            <a:endParaRPr lang="en-US" sz="1300" dirty="0"/>
          </a:p>
        </p:txBody>
      </p:sp>
      <p:sp>
        <p:nvSpPr>
          <p:cNvPr id="9" name="Text 7"/>
          <p:cNvSpPr/>
          <p:nvPr/>
        </p:nvSpPr>
        <p:spPr>
          <a:xfrm>
            <a:off x="429768" y="1261872"/>
            <a:ext cx="3840480" cy="2194560"/>
          </a:xfrm>
          <a:prstGeom prst="rect">
            <a:avLst/>
          </a:prstGeom>
          <a:noFill/>
          <a:ln/>
        </p:spPr>
        <p:txBody>
          <a:bodyPr wrap="square" rtlCol="0" anchor="ctr"/>
          <a:lstStyle/>
          <a:p>
            <a:pPr marL="0" indent="0">
              <a:spcAft>
                <a:spcPts val="500"/>
              </a:spcAft>
              <a:buNone/>
            </a:pPr>
            <a:r>
              <a:rPr lang="en-US" sz="1250" dirty="0">
                <a:solidFill>
                  <a:srgbClr val="1E293B"/>
                </a:solidFill>
                <a:latin typeface="Calibri" pitchFamily="34" charset="0"/>
                <a:ea typeface="Calibri" pitchFamily="34" charset="-122"/>
                <a:cs typeface="Calibri" pitchFamily="34" charset="-120"/>
              </a:rPr>
              <a:t>Write a program that reads a message and a shift amount, then prints the Caesar-encoded version. Uppercase letters shift within A–Z, lowercase letters shift within a–z, both using modular arithmetic (% 26). Digits, spaces, and punctuation are left unchanged. Use ord() and chr() for the encoding.</a:t>
            </a:r>
            <a:endParaRPr lang="en-US" sz="1250" dirty="0"/>
          </a:p>
        </p:txBody>
      </p:sp>
      <p:sp>
        <p:nvSpPr>
          <p:cNvPr id="10" name="Text 8"/>
          <p:cNvSpPr/>
          <p:nvPr/>
        </p:nvSpPr>
        <p:spPr>
          <a:xfrm>
            <a:off x="4663440" y="841248"/>
            <a:ext cx="420624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Expected Output:</a:t>
            </a:r>
            <a:endParaRPr lang="en-US" sz="1300" dirty="0"/>
          </a:p>
        </p:txBody>
      </p:sp>
      <p:sp>
        <p:nvSpPr>
          <p:cNvPr id="11" name="Shape 9"/>
          <p:cNvSpPr/>
          <p:nvPr/>
        </p:nvSpPr>
        <p:spPr>
          <a:xfrm>
            <a:off x="4663440" y="1170432"/>
            <a:ext cx="4224528" cy="2331720"/>
          </a:xfrm>
          <a:prstGeom prst="rect">
            <a:avLst/>
          </a:prstGeom>
          <a:solidFill>
            <a:srgbClr val="0F1F38"/>
          </a:solidFill>
          <a:ln w="12700">
            <a:solidFill>
              <a:srgbClr val="2D4A6E"/>
            </a:solidFill>
            <a:prstDash val="solid"/>
          </a:ln>
          <a:effectLst>
            <a:outerShdw blurRad="101600" dist="38100" dir="8100000" algn="bl" rotWithShape="0">
              <a:srgbClr val="000000">
                <a:alpha val="12000"/>
              </a:srgbClr>
            </a:outerShdw>
          </a:effectLst>
        </p:spPr>
        <p:txBody>
          <a:bodyPr/>
          <a:lstStyle/>
          <a:p>
            <a:endParaRPr lang="tr-TR"/>
          </a:p>
        </p:txBody>
      </p:sp>
      <p:sp>
        <p:nvSpPr>
          <p:cNvPr id="12" name="Text 10"/>
          <p:cNvSpPr/>
          <p:nvPr/>
        </p:nvSpPr>
        <p:spPr>
          <a:xfrm>
            <a:off x="4800600" y="1243584"/>
            <a:ext cx="3977640" cy="2148840"/>
          </a:xfrm>
          <a:prstGeom prst="rect">
            <a:avLst/>
          </a:prstGeom>
          <a:noFill/>
          <a:ln/>
        </p:spPr>
        <p:txBody>
          <a:bodyPr wrap="square" rtlCol="0" anchor="ctr"/>
          <a:lstStyle/>
          <a:p>
            <a:pPr marL="0" indent="0">
              <a:buNone/>
            </a:pPr>
            <a:r>
              <a:rPr lang="en-US" sz="1100" dirty="0">
                <a:solidFill>
                  <a:srgbClr val="93C5FD"/>
                </a:solidFill>
                <a:latin typeface="Courier New" pitchFamily="34" charset="0"/>
                <a:ea typeface="Courier New" pitchFamily="34" charset="-122"/>
                <a:cs typeface="Courier New" pitchFamily="34" charset="-120"/>
              </a:rPr>
              <a:t>Enter message: Hello, World! 2025</a:t>
            </a:r>
            <a:endParaRPr lang="en-US" sz="1100" dirty="0"/>
          </a:p>
          <a:p>
            <a:pPr marL="0" indent="0">
              <a:buNone/>
            </a:pPr>
            <a:r>
              <a:rPr lang="en-US" sz="1100" dirty="0">
                <a:solidFill>
                  <a:srgbClr val="93C5FD"/>
                </a:solidFill>
                <a:latin typeface="Courier New" pitchFamily="34" charset="0"/>
                <a:ea typeface="Courier New" pitchFamily="34" charset="-122"/>
                <a:cs typeface="Courier New" pitchFamily="34" charset="-120"/>
              </a:rPr>
              <a:t>Enter shift: 3</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Encoded: Khoor, Zruog! 2025</a:t>
            </a:r>
            <a:endParaRPr lang="en-US" sz="1100" dirty="0"/>
          </a:p>
          <a:p>
            <a:pPr marL="0" indent="0">
              <a:buNone/>
            </a:pPr>
            <a:endParaRPr lang="en-US" sz="1100" dirty="0"/>
          </a:p>
          <a:p>
            <a:pPr marL="0" indent="0">
              <a:buNone/>
            </a:pPr>
            <a:r>
              <a:rPr lang="en-US" sz="1100" dirty="0">
                <a:solidFill>
                  <a:srgbClr val="93C5FD"/>
                </a:solidFill>
                <a:latin typeface="Courier New" pitchFamily="34" charset="0"/>
                <a:ea typeface="Courier New" pitchFamily="34" charset="-122"/>
                <a:cs typeface="Courier New" pitchFamily="34" charset="-120"/>
              </a:rPr>
              <a:t>Enter message: xyz</a:t>
            </a:r>
            <a:endParaRPr lang="en-US" sz="1100" dirty="0"/>
          </a:p>
          <a:p>
            <a:pPr marL="0" indent="0">
              <a:buNone/>
            </a:pPr>
            <a:r>
              <a:rPr lang="en-US" sz="1100" dirty="0">
                <a:solidFill>
                  <a:srgbClr val="93C5FD"/>
                </a:solidFill>
                <a:latin typeface="Courier New" pitchFamily="34" charset="0"/>
                <a:ea typeface="Courier New" pitchFamily="34" charset="-122"/>
                <a:cs typeface="Courier New" pitchFamily="34" charset="-120"/>
              </a:rPr>
              <a:t>Enter shift: 3</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Encoded: abc</a:t>
            </a:r>
            <a:endParaRPr lang="en-US" sz="1100" dirty="0"/>
          </a:p>
        </p:txBody>
      </p:sp>
      <p:sp>
        <p:nvSpPr>
          <p:cNvPr id="13" name="Shape 11"/>
          <p:cNvSpPr/>
          <p:nvPr/>
        </p:nvSpPr>
        <p:spPr>
          <a:xfrm>
            <a:off x="4663440" y="3794760"/>
            <a:ext cx="4160520" cy="594360"/>
          </a:xfrm>
          <a:prstGeom prst="rect">
            <a:avLst/>
          </a:prstGeom>
          <a:solidFill>
            <a:srgbClr val="EFF6FF"/>
          </a:solidFill>
          <a:ln w="19050">
            <a:solidFill>
              <a:srgbClr val="3B82F6"/>
            </a:solidFill>
            <a:prstDash val="solid"/>
          </a:ln>
        </p:spPr>
        <p:txBody>
          <a:bodyPr/>
          <a:lstStyle/>
          <a:p>
            <a:endParaRPr lang="tr-TR"/>
          </a:p>
        </p:txBody>
      </p:sp>
      <p:sp>
        <p:nvSpPr>
          <p:cNvPr id="14" name="Text 12"/>
          <p:cNvSpPr/>
          <p:nvPr/>
        </p:nvSpPr>
        <p:spPr>
          <a:xfrm>
            <a:off x="4773168" y="3813048"/>
            <a:ext cx="3840480" cy="548640"/>
          </a:xfrm>
          <a:prstGeom prst="rect">
            <a:avLst/>
          </a:prstGeom>
          <a:noFill/>
          <a:ln/>
        </p:spPr>
        <p:txBody>
          <a:bodyPr wrap="square" rtlCol="0" anchor="ctr"/>
          <a:lstStyle/>
          <a:p>
            <a:pPr marL="0" indent="0">
              <a:buNone/>
            </a:pPr>
            <a:r>
              <a:rPr lang="en-US" sz="1100" b="1" dirty="0">
                <a:solidFill>
                  <a:srgbClr val="1D4ED8"/>
                </a:solidFill>
                <a:latin typeface="Calibri" pitchFamily="34" charset="0"/>
                <a:ea typeface="Calibri" pitchFamily="34" charset="-122"/>
                <a:cs typeface="Calibri" pitchFamily="34" charset="-120"/>
              </a:rPr>
              <a:t xml:space="preserve">💡  Hint  </a:t>
            </a:r>
            <a:r>
              <a:rPr lang="en-US" sz="1100" dirty="0">
                <a:solidFill>
                  <a:srgbClr val="1E3A5F"/>
                </a:solidFill>
                <a:latin typeface="Calibri" pitchFamily="34" charset="0"/>
                <a:ea typeface="Calibri" pitchFamily="34" charset="-122"/>
                <a:cs typeface="Calibri" pitchFamily="34" charset="-120"/>
              </a:rPr>
              <a:t>Formula: chr((ord(c) - ord('A') + shift) % 26 + ord('A')) for uppercase. Use c.isupper() and c.islower() to branch.</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3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2F4E"/>
          </a:solidFill>
          <a:ln w="12700">
            <a:solidFill>
              <a:srgbClr val="1B2F4E"/>
            </a:solidFill>
            <a:prstDash val="solid"/>
          </a:ln>
        </p:spPr>
        <p:txBody>
          <a:bodyPr/>
          <a:lstStyle/>
          <a:p>
            <a:endParaRPr lang="tr-TR"/>
          </a:p>
        </p:txBody>
      </p:sp>
      <p:sp>
        <p:nvSpPr>
          <p:cNvPr id="3" name="Shape 1"/>
          <p:cNvSpPr/>
          <p:nvPr/>
        </p:nvSpPr>
        <p:spPr>
          <a:xfrm>
            <a:off x="0" y="640080"/>
            <a:ext cx="9144000" cy="50292"/>
          </a:xfrm>
          <a:prstGeom prst="rect">
            <a:avLst/>
          </a:prstGeom>
          <a:solidFill>
            <a:srgbClr val="C0392B"/>
          </a:solidFill>
          <a:ln w="12700">
            <a:solidFill>
              <a:srgbClr val="C0392B"/>
            </a:solidFill>
            <a:prstDash val="solid"/>
          </a:ln>
        </p:spPr>
        <p:txBody>
          <a:bodyPr/>
          <a:lstStyle/>
          <a:p>
            <a:endParaRPr lang="tr-TR"/>
          </a:p>
        </p:txBody>
      </p:sp>
      <p:sp>
        <p:nvSpPr>
          <p:cNvPr id="4" name="Text 2"/>
          <p:cNvSpPr/>
          <p:nvPr/>
        </p:nvSpPr>
        <p:spPr>
          <a:xfrm>
            <a:off x="228600" y="45720"/>
            <a:ext cx="77724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Question 5: Student Grade Report</a:t>
            </a:r>
            <a:endParaRPr lang="en-US" sz="2200" dirty="0"/>
          </a:p>
        </p:txBody>
      </p:sp>
      <p:sp>
        <p:nvSpPr>
          <p:cNvPr id="5" name="Text 3"/>
          <p:cNvSpPr/>
          <p:nvPr/>
        </p:nvSpPr>
        <p:spPr>
          <a:xfrm>
            <a:off x="0" y="594360"/>
            <a:ext cx="9144000" cy="365760"/>
          </a:xfrm>
          <a:prstGeom prst="rect">
            <a:avLst/>
          </a:prstGeom>
          <a:noFill/>
          <a:ln/>
        </p:spPr>
        <p:txBody>
          <a:bodyPr wrap="square" lIns="0" tIns="0" rIns="2540" bIns="0" rtlCol="0" anchor="ctr"/>
          <a:lstStyle/>
          <a:p>
            <a:pPr marL="0" indent="0" algn="r">
              <a:buNone/>
            </a:pPr>
            <a:r>
              <a:rPr lang="en-US" sz="900" dirty="0">
                <a:solidFill>
                  <a:srgbClr val="6EC6D0"/>
                </a:solidFill>
                <a:latin typeface="Calibri" pitchFamily="34" charset="0"/>
                <a:ea typeface="Calibri" pitchFamily="34" charset="-122"/>
                <a:cs typeface="Calibri" pitchFamily="34" charset="-120"/>
              </a:rPr>
              <a:t>for + while loops  ·  conditions  ·  data types  ·  f-strings  ·  input validation</a:t>
            </a:r>
            <a:endParaRPr lang="en-US" sz="900" dirty="0"/>
          </a:p>
        </p:txBody>
      </p:sp>
      <p:sp>
        <p:nvSpPr>
          <p:cNvPr id="6" name="Shape 4"/>
          <p:cNvSpPr/>
          <p:nvPr/>
        </p:nvSpPr>
        <p:spPr>
          <a:xfrm>
            <a:off x="274320" y="777240"/>
            <a:ext cx="4160520" cy="3611880"/>
          </a:xfrm>
          <a:prstGeom prst="rect">
            <a:avLst/>
          </a:prstGeom>
          <a:solidFill>
            <a:srgbClr val="FFFFFF"/>
          </a:solidFill>
          <a:ln w="12700">
            <a:solidFill>
              <a:srgbClr val="DDE3EC"/>
            </a:solidFill>
            <a:prstDash val="solid"/>
          </a:ln>
          <a:effectLst>
            <a:outerShdw blurRad="101600" dist="38100" dir="8100000" algn="bl" rotWithShape="0">
              <a:srgbClr val="000000">
                <a:alpha val="12000"/>
              </a:srgbClr>
            </a:outerShdw>
          </a:effectLst>
        </p:spPr>
        <p:txBody>
          <a:bodyPr/>
          <a:lstStyle/>
          <a:p>
            <a:endParaRPr lang="tr-TR"/>
          </a:p>
        </p:txBody>
      </p:sp>
      <p:sp>
        <p:nvSpPr>
          <p:cNvPr id="7" name="Shape 5"/>
          <p:cNvSpPr/>
          <p:nvPr/>
        </p:nvSpPr>
        <p:spPr>
          <a:xfrm>
            <a:off x="274320" y="777240"/>
            <a:ext cx="64008" cy="3611880"/>
          </a:xfrm>
          <a:prstGeom prst="rect">
            <a:avLst/>
          </a:prstGeom>
          <a:solidFill>
            <a:srgbClr val="C0392B"/>
          </a:solidFill>
          <a:ln w="12700">
            <a:solidFill>
              <a:srgbClr val="C0392B"/>
            </a:solidFill>
            <a:prstDash val="solid"/>
          </a:ln>
        </p:spPr>
        <p:txBody>
          <a:bodyPr/>
          <a:lstStyle/>
          <a:p>
            <a:endParaRPr lang="tr-TR"/>
          </a:p>
        </p:txBody>
      </p:sp>
      <p:sp>
        <p:nvSpPr>
          <p:cNvPr id="8" name="Text 6"/>
          <p:cNvSpPr/>
          <p:nvPr/>
        </p:nvSpPr>
        <p:spPr>
          <a:xfrm>
            <a:off x="457200" y="868680"/>
            <a:ext cx="3749040" cy="320040"/>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Task Summary</a:t>
            </a:r>
            <a:endParaRPr lang="en-US" sz="1300" dirty="0"/>
          </a:p>
        </p:txBody>
      </p:sp>
      <p:sp>
        <p:nvSpPr>
          <p:cNvPr id="9" name="Text 7"/>
          <p:cNvSpPr/>
          <p:nvPr/>
        </p:nvSpPr>
        <p:spPr>
          <a:xfrm>
            <a:off x="429768" y="1261872"/>
            <a:ext cx="3840480" cy="2194560"/>
          </a:xfrm>
          <a:prstGeom prst="rect">
            <a:avLst/>
          </a:prstGeom>
          <a:noFill/>
          <a:ln/>
        </p:spPr>
        <p:txBody>
          <a:bodyPr wrap="square" rtlCol="0" anchor="ctr"/>
          <a:lstStyle/>
          <a:p>
            <a:pPr marL="0" indent="0">
              <a:spcAft>
                <a:spcPts val="500"/>
              </a:spcAft>
              <a:buNone/>
            </a:pPr>
            <a:r>
              <a:rPr lang="en-US" sz="1250" dirty="0">
                <a:solidFill>
                  <a:srgbClr val="1E293B"/>
                </a:solidFill>
                <a:latin typeface="Calibri" pitchFamily="34" charset="0"/>
                <a:ea typeface="Calibri" pitchFamily="34" charset="-122"/>
                <a:cs typeface="Calibri" pitchFamily="34" charset="-120"/>
              </a:rPr>
              <a:t>Write a program that reads a number of students, then for each student reads a name and a score. Scores must be between 0 and 100; re-prompt until a valid value is entered. Grade cutoffs: A ≥ 90, B ≥ 80, C ≥ 70, D ≥ 60, F below 60. After all students, print the class average (2 decimal places), the highest score, and the name of the top student.</a:t>
            </a:r>
            <a:endParaRPr lang="en-US" sz="1250" dirty="0"/>
          </a:p>
        </p:txBody>
      </p:sp>
      <p:sp>
        <p:nvSpPr>
          <p:cNvPr id="10" name="Text 8"/>
          <p:cNvSpPr/>
          <p:nvPr/>
        </p:nvSpPr>
        <p:spPr>
          <a:xfrm>
            <a:off x="4663440" y="841248"/>
            <a:ext cx="420624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Expected Output:</a:t>
            </a:r>
            <a:endParaRPr lang="en-US" sz="1300" dirty="0"/>
          </a:p>
        </p:txBody>
      </p:sp>
      <p:sp>
        <p:nvSpPr>
          <p:cNvPr id="11" name="Shape 9"/>
          <p:cNvSpPr/>
          <p:nvPr/>
        </p:nvSpPr>
        <p:spPr>
          <a:xfrm>
            <a:off x="4663440" y="1170432"/>
            <a:ext cx="4224528" cy="2331720"/>
          </a:xfrm>
          <a:prstGeom prst="rect">
            <a:avLst/>
          </a:prstGeom>
          <a:solidFill>
            <a:srgbClr val="0F1F38"/>
          </a:solidFill>
          <a:ln w="12700">
            <a:solidFill>
              <a:srgbClr val="2D4A6E"/>
            </a:solidFill>
            <a:prstDash val="solid"/>
          </a:ln>
          <a:effectLst>
            <a:outerShdw blurRad="101600" dist="38100" dir="8100000" algn="bl" rotWithShape="0">
              <a:srgbClr val="000000">
                <a:alpha val="12000"/>
              </a:srgbClr>
            </a:outerShdw>
          </a:effectLst>
        </p:spPr>
        <p:txBody>
          <a:bodyPr/>
          <a:lstStyle/>
          <a:p>
            <a:endParaRPr lang="tr-TR"/>
          </a:p>
        </p:txBody>
      </p:sp>
      <p:sp>
        <p:nvSpPr>
          <p:cNvPr id="12" name="Text 10"/>
          <p:cNvSpPr/>
          <p:nvPr/>
        </p:nvSpPr>
        <p:spPr>
          <a:xfrm>
            <a:off x="4800600" y="1243584"/>
            <a:ext cx="3977640" cy="2148840"/>
          </a:xfrm>
          <a:prstGeom prst="rect">
            <a:avLst/>
          </a:prstGeom>
          <a:noFill/>
          <a:ln/>
        </p:spPr>
        <p:txBody>
          <a:bodyPr wrap="square" rtlCol="0" anchor="ctr"/>
          <a:lstStyle/>
          <a:p>
            <a:pPr marL="0" indent="0">
              <a:buNone/>
            </a:pPr>
            <a:r>
              <a:rPr lang="en-US" sz="1100" dirty="0">
                <a:solidFill>
                  <a:srgbClr val="6EE7B7"/>
                </a:solidFill>
                <a:latin typeface="Courier New" pitchFamily="34" charset="0"/>
                <a:ea typeface="Courier New" pitchFamily="34" charset="-122"/>
                <a:cs typeface="Courier New" pitchFamily="34" charset="-120"/>
              </a:rPr>
              <a:t>Number of students: 3</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Student 1 - Name: Alice   Score: 92  → Grade: A</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Student 2 - Name: Bob     Score: 74  → Grade: C</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Student 3 - Name: Carol   Score: 85  → Grade: B</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Class average: 83.67</a:t>
            </a:r>
            <a:endParaRPr lang="en-US" sz="1100" dirty="0"/>
          </a:p>
          <a:p>
            <a:pPr marL="0" indent="0">
              <a:buNone/>
            </a:pPr>
            <a:r>
              <a:rPr lang="en-US" sz="1100" dirty="0">
                <a:solidFill>
                  <a:srgbClr val="6EE7B7"/>
                </a:solidFill>
                <a:latin typeface="Courier New" pitchFamily="34" charset="0"/>
                <a:ea typeface="Courier New" pitchFamily="34" charset="-122"/>
                <a:cs typeface="Courier New" pitchFamily="34" charset="-120"/>
              </a:rPr>
              <a:t>Top student: Alice (92)</a:t>
            </a:r>
            <a:endParaRPr lang="en-US" sz="1100" dirty="0"/>
          </a:p>
        </p:txBody>
      </p:sp>
      <p:sp>
        <p:nvSpPr>
          <p:cNvPr id="13" name="Shape 11"/>
          <p:cNvSpPr/>
          <p:nvPr/>
        </p:nvSpPr>
        <p:spPr>
          <a:xfrm>
            <a:off x="4663440" y="3775417"/>
            <a:ext cx="4160520" cy="594360"/>
          </a:xfrm>
          <a:prstGeom prst="rect">
            <a:avLst/>
          </a:prstGeom>
          <a:solidFill>
            <a:srgbClr val="EFF6FF"/>
          </a:solidFill>
          <a:ln w="19050">
            <a:solidFill>
              <a:srgbClr val="3B82F6"/>
            </a:solidFill>
            <a:prstDash val="solid"/>
          </a:ln>
        </p:spPr>
        <p:txBody>
          <a:bodyPr/>
          <a:lstStyle/>
          <a:p>
            <a:endParaRPr lang="tr-TR"/>
          </a:p>
        </p:txBody>
      </p:sp>
      <p:sp>
        <p:nvSpPr>
          <p:cNvPr id="14" name="Text 12"/>
          <p:cNvSpPr/>
          <p:nvPr/>
        </p:nvSpPr>
        <p:spPr>
          <a:xfrm>
            <a:off x="4773168" y="3793705"/>
            <a:ext cx="3840480" cy="548640"/>
          </a:xfrm>
          <a:prstGeom prst="rect">
            <a:avLst/>
          </a:prstGeom>
          <a:noFill/>
          <a:ln/>
        </p:spPr>
        <p:txBody>
          <a:bodyPr wrap="square" rtlCol="0" anchor="ctr"/>
          <a:lstStyle/>
          <a:p>
            <a:pPr marL="0" indent="0">
              <a:buNone/>
            </a:pPr>
            <a:r>
              <a:rPr lang="en-US" sz="1100" b="1" dirty="0">
                <a:solidFill>
                  <a:srgbClr val="1D4ED8"/>
                </a:solidFill>
                <a:latin typeface="Calibri" pitchFamily="34" charset="0"/>
                <a:ea typeface="Calibri" pitchFamily="34" charset="-122"/>
                <a:cs typeface="Calibri" pitchFamily="34" charset="-120"/>
              </a:rPr>
              <a:t xml:space="preserve">💡  Hint  </a:t>
            </a:r>
            <a:r>
              <a:rPr lang="en-US" sz="1100" dirty="0">
                <a:solidFill>
                  <a:srgbClr val="1E3A5F"/>
                </a:solidFill>
                <a:latin typeface="Calibri" pitchFamily="34" charset="0"/>
                <a:ea typeface="Calibri" pitchFamily="34" charset="-122"/>
                <a:cs typeface="Calibri" pitchFamily="34" charset="-120"/>
              </a:rPr>
              <a:t>Use a for loop for the n students and a nested while loop for score validation. Track running total, max score, and top name.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1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0392B"/>
          </a:solidFill>
          <a:ln w="12700">
            <a:solidFill>
              <a:srgbClr val="C0392B"/>
            </a:solidFill>
            <a:prstDash val="solid"/>
          </a:ln>
        </p:spPr>
        <p:txBody>
          <a:bodyPr/>
          <a:lstStyle/>
          <a:p>
            <a:endParaRPr lang="tr-TR"/>
          </a:p>
        </p:txBody>
      </p:sp>
      <p:sp>
        <p:nvSpPr>
          <p:cNvPr id="3" name="Shape 1"/>
          <p:cNvSpPr/>
          <p:nvPr/>
        </p:nvSpPr>
        <p:spPr>
          <a:xfrm>
            <a:off x="0" y="5033772"/>
            <a:ext cx="9144000" cy="109728"/>
          </a:xfrm>
          <a:prstGeom prst="rect">
            <a:avLst/>
          </a:prstGeom>
          <a:solidFill>
            <a:srgbClr val="C0392B"/>
          </a:solidFill>
          <a:ln w="12700">
            <a:solidFill>
              <a:srgbClr val="C0392B"/>
            </a:solidFill>
            <a:prstDash val="solid"/>
          </a:ln>
        </p:spPr>
        <p:txBody>
          <a:bodyPr/>
          <a:lstStyle/>
          <a:p>
            <a:endParaRPr lang="tr-TR"/>
          </a:p>
        </p:txBody>
      </p:sp>
      <p:sp>
        <p:nvSpPr>
          <p:cNvPr id="4" name="Text 2"/>
          <p:cNvSpPr/>
          <p:nvPr/>
        </p:nvSpPr>
        <p:spPr>
          <a:xfrm>
            <a:off x="692834" y="1396218"/>
            <a:ext cx="5486400" cy="411480"/>
          </a:xfrm>
          <a:prstGeom prst="rect">
            <a:avLst/>
          </a:prstGeom>
          <a:noFill/>
          <a:ln/>
        </p:spPr>
        <p:txBody>
          <a:bodyPr wrap="square" rtlCol="0" anchor="ctr"/>
          <a:lstStyle/>
          <a:p>
            <a:pPr marL="0" indent="0">
              <a:buNone/>
            </a:pPr>
            <a:r>
              <a:rPr lang="en-US" sz="2000" dirty="0">
                <a:solidFill>
                  <a:srgbClr val="F0F3F6"/>
                </a:solidFill>
                <a:latin typeface="Calibri" pitchFamily="34" charset="0"/>
                <a:ea typeface="Calibri" pitchFamily="34" charset="-122"/>
                <a:cs typeface="Calibri" pitchFamily="34" charset="-120"/>
              </a:rPr>
              <a:t xml:space="preserve">Lab </a:t>
            </a:r>
            <a:r>
              <a:rPr lang="tr-TR" sz="2000" dirty="0">
                <a:solidFill>
                  <a:srgbClr val="F0F3F6"/>
                </a:solidFill>
                <a:latin typeface="Calibri" pitchFamily="34" charset="0"/>
                <a:ea typeface="Calibri" pitchFamily="34" charset="-122"/>
                <a:cs typeface="Calibri" pitchFamily="34" charset="-120"/>
              </a:rPr>
              <a:t>6</a:t>
            </a:r>
            <a:r>
              <a:rPr lang="en-US" sz="2000" dirty="0">
                <a:solidFill>
                  <a:srgbClr val="F0F3F6"/>
                </a:solidFill>
                <a:latin typeface="Calibri" pitchFamily="34" charset="0"/>
                <a:ea typeface="Calibri" pitchFamily="34" charset="-122"/>
                <a:cs typeface="Calibri" pitchFamily="34" charset="-120"/>
              </a:rPr>
              <a:t>:</a:t>
            </a:r>
            <a:endParaRPr lang="en-US" sz="2000" dirty="0"/>
          </a:p>
        </p:txBody>
      </p:sp>
      <p:sp>
        <p:nvSpPr>
          <p:cNvPr id="5" name="Text 3"/>
          <p:cNvSpPr/>
          <p:nvPr/>
        </p:nvSpPr>
        <p:spPr>
          <a:xfrm>
            <a:off x="780757" y="2095207"/>
            <a:ext cx="7315200" cy="1188720"/>
          </a:xfrm>
          <a:prstGeom prst="rect">
            <a:avLst/>
          </a:prstGeom>
          <a:noFill/>
          <a:ln/>
        </p:spPr>
        <p:txBody>
          <a:bodyPr wrap="square" rtlCol="0" anchor="ctr"/>
          <a:lstStyle/>
          <a:p>
            <a:pPr marL="0" indent="0">
              <a:buNone/>
            </a:pPr>
            <a:r>
              <a:rPr lang="tr-TR" sz="5400" b="1" dirty="0" err="1">
                <a:solidFill>
                  <a:srgbClr val="FFFFFF"/>
                </a:solidFill>
                <a:latin typeface="Calibri" pitchFamily="34" charset="0"/>
                <a:ea typeface="Calibri" pitchFamily="34" charset="-122"/>
                <a:cs typeface="Calibri" pitchFamily="34" charset="-120"/>
              </a:rPr>
              <a:t>Thank</a:t>
            </a:r>
            <a:r>
              <a:rPr lang="tr-TR" sz="5400" b="1" dirty="0">
                <a:solidFill>
                  <a:srgbClr val="FFFFFF"/>
                </a:solidFill>
                <a:latin typeface="Calibri" pitchFamily="34" charset="0"/>
                <a:ea typeface="Calibri" pitchFamily="34" charset="-122"/>
                <a:cs typeface="Calibri" pitchFamily="34" charset="-120"/>
              </a:rPr>
              <a:t xml:space="preserve"> </a:t>
            </a:r>
            <a:r>
              <a:rPr lang="tr-TR" sz="5400" b="1" dirty="0" err="1">
                <a:solidFill>
                  <a:srgbClr val="FFFFFF"/>
                </a:solidFill>
                <a:latin typeface="Calibri" pitchFamily="34" charset="0"/>
                <a:ea typeface="Calibri" pitchFamily="34" charset="-122"/>
                <a:cs typeface="Calibri" pitchFamily="34" charset="-120"/>
              </a:rPr>
              <a:t>You</a:t>
            </a:r>
            <a:r>
              <a:rPr lang="en-US" sz="5400" b="1" dirty="0">
                <a:solidFill>
                  <a:srgbClr val="FFFFFF"/>
                </a:solidFill>
                <a:latin typeface="Calibri" pitchFamily="34" charset="0"/>
                <a:ea typeface="Calibri" pitchFamily="34" charset="-122"/>
                <a:cs typeface="Calibri" pitchFamily="34" charset="-120"/>
              </a:rPr>
              <a:t>!</a:t>
            </a:r>
            <a:endParaRPr lang="en-US" sz="5400" dirty="0"/>
          </a:p>
        </p:txBody>
      </p:sp>
      <p:sp>
        <p:nvSpPr>
          <p:cNvPr id="8" name="Shape 6"/>
          <p:cNvSpPr/>
          <p:nvPr/>
        </p:nvSpPr>
        <p:spPr>
          <a:xfrm>
            <a:off x="539496" y="1980907"/>
            <a:ext cx="73152" cy="1417320"/>
          </a:xfrm>
          <a:prstGeom prst="rect">
            <a:avLst/>
          </a:prstGeom>
          <a:solidFill>
            <a:srgbClr val="C0392B"/>
          </a:solidFill>
          <a:ln w="12700">
            <a:solidFill>
              <a:srgbClr val="C0392B"/>
            </a:solidFill>
            <a:prstDash val="solid"/>
          </a:ln>
        </p:spPr>
        <p:txBody>
          <a:bodyPr/>
          <a:lstStyle/>
          <a:p>
            <a:endParaRPr lang="tr-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A1E18385FE39D941AA199D3D339AA629" ma:contentTypeVersion="3" ma:contentTypeDescription="Yeni belge oluşturun." ma:contentTypeScope="" ma:versionID="19aa0f239003ff5cb8729c287f217ad6">
  <xsd:schema xmlns:xsd="http://www.w3.org/2001/XMLSchema" xmlns:xs="http://www.w3.org/2001/XMLSchema" xmlns:p="http://schemas.microsoft.com/office/2006/metadata/properties" xmlns:ns2="a80aa6ed-64eb-4536-b734-1570525c18fd" targetNamespace="http://schemas.microsoft.com/office/2006/metadata/properties" ma:root="true" ma:fieldsID="bc5b12e7dacf0f92481a936137e04f52" ns2:_="">
    <xsd:import namespace="a80aa6ed-64eb-4536-b734-1570525c18f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0aa6ed-64eb-4536-b734-1570525c18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002A278-E751-40D2-8243-DED9AFE5B2A5}"/>
</file>

<file path=customXml/itemProps2.xml><?xml version="1.0" encoding="utf-8"?>
<ds:datastoreItem xmlns:ds="http://schemas.openxmlformats.org/officeDocument/2006/customXml" ds:itemID="{B5529941-DCC0-46FD-9636-B999979EDDB2}"/>
</file>

<file path=customXml/itemProps3.xml><?xml version="1.0" encoding="utf-8"?>
<ds:datastoreItem xmlns:ds="http://schemas.openxmlformats.org/officeDocument/2006/customXml" ds:itemID="{C2F355CA-8BAD-46F9-8C35-8472F5A53178}"/>
</file>

<file path=docProps/app.xml><?xml version="1.0" encoding="utf-8"?>
<Properties xmlns="http://schemas.openxmlformats.org/officeDocument/2006/extended-properties" xmlns:vt="http://schemas.openxmlformats.org/officeDocument/2006/docPropsVTypes">
  <TotalTime>4</TotalTime>
  <Words>836</Words>
  <Application>Microsoft Office PowerPoint</Application>
  <PresentationFormat>Ekran Gösterisi (16:9)</PresentationFormat>
  <Paragraphs>95</Paragraphs>
  <Slides>7</Slides>
  <Notes>7</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7</vt:i4>
      </vt:variant>
    </vt:vector>
  </HeadingPairs>
  <TitlesOfParts>
    <vt:vector size="12" baseType="lpstr">
      <vt:lpstr>Aptos</vt:lpstr>
      <vt:lpstr>Arial</vt:lpstr>
      <vt:lpstr>Calibri</vt:lpstr>
      <vt:lpstr>Courier New</vt:lpstr>
      <vt:lpstr>Office Theme</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Fundamentals – Exam Practice</dc:title>
  <dc:subject>PptxGenJS Presentation</dc:subject>
  <dc:creator>PptxGenJS</dc:creator>
  <cp:lastModifiedBy>Bengisu Şahin</cp:lastModifiedBy>
  <cp:revision>3</cp:revision>
  <dcterms:created xsi:type="dcterms:W3CDTF">2026-04-09T15:40:47Z</dcterms:created>
  <dcterms:modified xsi:type="dcterms:W3CDTF">2026-04-09T16:00:19Z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0x010100A1E18385FE39D941AA199D3D339AA629</vt:lpwstr>
  </property>
</Properties>
</file>