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5D6C8A-021E-2628-3E81-02E88863891C}" v="1" dt="2026-03-10T12:07:42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NUS EMRE BALCI" userId="S::yunusbalci@ogr365.iyte.edu.tr::1c1a2771-0271-4f6f-a5fd-4e2b41b414d1" providerId="AD" clId="Web-{C95D6C8A-021E-2628-3E81-02E88863891C}"/>
    <pc:docChg chg="modSld">
      <pc:chgData name="YUNUS EMRE BALCI" userId="S::yunusbalci@ogr365.iyte.edu.tr::1c1a2771-0271-4f6f-a5fd-4e2b41b414d1" providerId="AD" clId="Web-{C95D6C8A-021E-2628-3E81-02E88863891C}" dt="2026-03-10T12:07:42.753" v="0" actId="1076"/>
      <pc:docMkLst>
        <pc:docMk/>
      </pc:docMkLst>
      <pc:sldChg chg="modSp">
        <pc:chgData name="YUNUS EMRE BALCI" userId="S::yunusbalci@ogr365.iyte.edu.tr::1c1a2771-0271-4f6f-a5fd-4e2b41b414d1" providerId="AD" clId="Web-{C95D6C8A-021E-2628-3E81-02E88863891C}" dt="2026-03-10T12:07:42.753" v="0" actId="1076"/>
        <pc:sldMkLst>
          <pc:docMk/>
          <pc:sldMk cId="0" sldId="261"/>
        </pc:sldMkLst>
        <pc:spChg chg="mod">
          <ac:chgData name="YUNUS EMRE BALCI" userId="S::yunusbalci@ogr365.iyte.edu.tr::1c1a2771-0271-4f6f-a5fd-4e2b41b414d1" providerId="AD" clId="Web-{C95D6C8A-021E-2628-3E81-02E88863891C}" dt="2026-03-10T12:07:42.753" v="0" actId="1076"/>
          <ac:spMkLst>
            <pc:docMk/>
            <pc:sldMk cId="0" sldId="261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69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9728" cy="2560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4748B"/>
                </a:solidFill>
              </a:rPr>
              <a:t>WEEK </a:t>
            </a:r>
            <a:r>
              <a:rPr lang="tr-TR" sz="1200" kern="0" spc="200" dirty="0">
                <a:solidFill>
                  <a:srgbClr val="64748B"/>
                </a:solidFill>
              </a:rPr>
              <a:t>2</a:t>
            </a:r>
            <a:r>
              <a:rPr lang="en-US" sz="1200" kern="0" spc="200" dirty="0">
                <a:solidFill>
                  <a:srgbClr val="64748B"/>
                </a:solidFill>
              </a:rPr>
              <a:t>  —  LAB SESSION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</a:rPr>
              <a:t>(using Python)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73152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Variables  ·  Expressions  ·  Input / Output  ·  Type Conversion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Core Concepts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577840" y="320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4748B"/>
                </a:solidFill>
              </a:rPr>
              <a:t>concept first  →  Python syntax second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Storing data in a variable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16152"/>
            <a:ext cx="393192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127248" y="1280160"/>
            <a:ext cx="1280160" cy="20116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127248" y="1280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3C5FD"/>
                </a:solidFill>
              </a:rPr>
              <a:t>PSEUDOCODE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13232" y="1307592"/>
            <a:ext cx="3675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
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"Ali"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93976"/>
            <a:ext cx="3931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474720" y="2157984"/>
            <a:ext cx="932688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474720" y="215798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BFDBFE"/>
                </a:solidFill>
              </a:rPr>
              <a:t>PYTHON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13232" y="2185416"/>
            <a:ext cx="3675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Getting input from the user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216152"/>
            <a:ext cx="41148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7424928" y="1280160"/>
            <a:ext cx="1280160" cy="20116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424928" y="1280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3C5FD"/>
                </a:solidFill>
              </a:rPr>
              <a:t>PSEUDOCODE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828032" y="1307592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user: 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your name?"
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answer in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(answer is always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even if user types a number)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203704"/>
            <a:ext cx="41148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7772400" y="2267712"/>
            <a:ext cx="932688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772400" y="226771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BFDBFE"/>
                </a:solidFill>
              </a:rPr>
              <a:t>PYTHON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28032" y="229514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("What is your name? ")
age  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("Age? "))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to number!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090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Computing a result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393192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3127248" y="3447288"/>
            <a:ext cx="1280160" cy="20116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127248" y="3447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3C5FD"/>
                </a:solidFill>
              </a:rPr>
              <a:t>PSEUDOCODE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13232" y="3474720"/>
            <a:ext cx="3675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× height
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 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b) ÷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169664"/>
            <a:ext cx="3931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3474720" y="4233672"/>
            <a:ext cx="932688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3474720" y="423367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BFDBFE"/>
                </a:solidFill>
              </a:rPr>
              <a:t>PYTHON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13232" y="4261104"/>
            <a:ext cx="3675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
avg  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b)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090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Displaying output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3383280"/>
            <a:ext cx="41148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7424928" y="3447288"/>
            <a:ext cx="1280160" cy="20116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7424928" y="3447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3C5FD"/>
                </a:solidFill>
              </a:rPr>
              <a:t>PSEUDOCODE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828032" y="3474720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"Hello, " + name
print "Score: " + score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(must convert score to text first!)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4169664"/>
            <a:ext cx="411480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7772400" y="4233672"/>
            <a:ext cx="932688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7772400" y="423367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BFDBFE"/>
                </a:solidFill>
              </a:rPr>
              <a:t>PYTHON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28032" y="4261104"/>
            <a:ext cx="38587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("Hello, " + name)
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("Score: " + 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(score))
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("Score:", score)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shortcut: comma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</a:rPr>
              <a:t>Data Types &amp; Converting Between Them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9019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9019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whole number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426464"/>
            <a:ext cx="1719072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85800" y="14356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42, -5, 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17190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85800" y="1764792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</a:t>
            </a: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42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960120"/>
            <a:ext cx="19019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606040" y="960120"/>
            <a:ext cx="190195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697480" y="107899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decimal number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1426464"/>
            <a:ext cx="1719072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2743200" y="14356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3.14, -0.5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97480" y="1737360"/>
            <a:ext cx="17190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743200" y="1764792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</a:t>
            </a: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3.14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19019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1901952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754880" y="107899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text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426464"/>
            <a:ext cx="1719072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800600" y="14356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"hello", "42"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737360"/>
            <a:ext cx="17190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800600" y="1764792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</a:t>
            </a: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"Ali"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20840" y="960120"/>
            <a:ext cx="19019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6720840" y="960120"/>
            <a:ext cx="1901952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812280" y="107899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true / false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12280" y="1426464"/>
            <a:ext cx="1719072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858000" y="14356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/ no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12280" y="1737360"/>
            <a:ext cx="1719072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858000" y="1764792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</a:t>
            </a: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True/False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2999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Why types matter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3310128"/>
            <a:ext cx="3931920" cy="15087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548640" y="3310128"/>
            <a:ext cx="91440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713232" y="3383280"/>
            <a:ext cx="3611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 + "8"  =  "428"   ← text joined together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42  +  8   =   50    ← numbers added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+ symbol does different things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depending on the type of the values.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2999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Converting between types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3310128"/>
            <a:ext cx="41148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7424928" y="3374136"/>
            <a:ext cx="1280160" cy="20116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7424928" y="33741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3C5FD"/>
                </a:solidFill>
              </a:rPr>
              <a:t>PSEUDOCODE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28032" y="3401568"/>
            <a:ext cx="3858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"42" (text)  → 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whole number
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42  (number) →  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 (text)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4041648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7772400" y="4105656"/>
            <a:ext cx="932688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7772400" y="410565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BFDBFE"/>
                </a:solidFill>
              </a:rPr>
              <a:t>PYTHON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28032" y="4133088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("42")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42
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("3.1")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3.1
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(42)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"42"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</a:rPr>
              <a:t>Operators &amp; Expressions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What each operator means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39319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58368" y="126187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-  *  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261872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add, subtract, multiply, divide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58368" y="173736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73736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divide and drop the decimal  (7÷2=3)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212848"/>
            <a:ext cx="39319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8368" y="221284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21284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remainder after division      (7÷2 leaves 1)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88336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58368" y="2688336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688336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raise to a power              (2⁸=256)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63824"/>
            <a:ext cx="39319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58368" y="316382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!=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163824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equal to / not equal to  → True or False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39312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58368" y="363931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&gt; &lt;= &gt;=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639312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less/greater than  → True or False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39319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58368" y="411480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or not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114800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combine or flip true/false values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9326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Precedence — which operation runs first?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261872"/>
            <a:ext cx="411480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7424928" y="1325880"/>
            <a:ext cx="1280160" cy="20116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7424928" y="1325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3C5FD"/>
                </a:solidFill>
              </a:rPr>
              <a:t>PSEUDOCODE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828032" y="1353312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+ 3 × 4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same as 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(3×4)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14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override, use parentheses:
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 + 3) × 4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139696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7772400" y="2203704"/>
            <a:ext cx="932688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7772400" y="220370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BFDBFE"/>
                </a:solidFill>
              </a:rPr>
              <a:t>PYTHON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28032" y="2231136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+ 3 * 4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14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 + 3) * 4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20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// 3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3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** 8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256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200400"/>
            <a:ext cx="411480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828032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Order (highest → lowest)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584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1.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120640" y="3584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37960" y="3584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parentheses always first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37856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2.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20640" y="3785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37960" y="3785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powers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39867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3.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120640" y="39867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/ // 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37960" y="39867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multiply / divide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00600" y="4187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4.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20640" y="4187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-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37960" y="4187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add / subtract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00600" y="43891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5.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120640" y="4389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!= &lt; &gt; …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37960" y="4389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comparisons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00600" y="45902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6.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20640" y="4590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 and  or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37960" y="45902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logic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48640" y="256032"/>
            <a:ext cx="17373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Common Traps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23160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</a:rPr>
              <a:t>Things that surprise even experienced programmers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932688"/>
            <a:ext cx="4069080" cy="12618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48640" y="932688"/>
            <a:ext cx="40690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58368" y="9875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❌  User input always arrives as 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271016"/>
            <a:ext cx="3840480" cy="40233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49808" y="12893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for a number → they type "7"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receive the text "7", not the number 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709928"/>
            <a:ext cx="38404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49808" y="17282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int(input("Enter a number: "))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304288"/>
            <a:ext cx="4069080" cy="12618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548640" y="2304288"/>
            <a:ext cx="40690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58368" y="23591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❌  / always produces a decimal, even for whole numbers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2642616"/>
            <a:ext cx="3840480" cy="40233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49808" y="26609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divided by 2 → you expect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 you get 5.0 (a decimal!)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" y="3081528"/>
            <a:ext cx="38404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749808" y="30998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   # → 5.0     10 // 2  # → 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675888"/>
            <a:ext cx="4069080" cy="12618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548640" y="3675888"/>
            <a:ext cx="40690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58368" y="37307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❌  = stores a value,  == asks a question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4014216"/>
            <a:ext cx="3840480" cy="40233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49808" y="40325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5 in x          →  x =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 x equal to 5?"    →  x == 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8368" y="4453128"/>
            <a:ext cx="38404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49808" y="44714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      # stores the value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== 5     # returns True or False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932688"/>
            <a:ext cx="4069080" cy="12618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4892040" y="932688"/>
            <a:ext cx="40690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5001768" y="9875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❌  You cannot join text and a number with +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01768" y="1271016"/>
            <a:ext cx="3840480" cy="40233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093208" y="12893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"Score: " joined with number 42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error — they are different types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01768" y="1709928"/>
            <a:ext cx="38404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5093208" y="17282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"Score: " + str(42)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print("Score:", 42)   # or use comma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2304288"/>
            <a:ext cx="4069080" cy="12618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4892040" y="2304288"/>
            <a:ext cx="40690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5001768" y="23591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❌  int() cuts off the decimal — it does not round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01768" y="2642616"/>
            <a:ext cx="3840480" cy="40233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5093208" y="26609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3.9 to whole number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you get 3, not 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01768" y="3081528"/>
            <a:ext cx="38404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5093208" y="30998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int(3.9)    # → 3  (truncated)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round(3.9)  # → 4  (rounded)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92040" y="3675888"/>
            <a:ext cx="4069080" cy="12618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4892040" y="3675888"/>
            <a:ext cx="40690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001768" y="37307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❌  Computing something does not display it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01768" y="4014216"/>
            <a:ext cx="3840480" cy="40233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5093208" y="40325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x + 1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nothing appears on screen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01768" y="4453128"/>
            <a:ext cx="38404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5093208" y="44714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+ 1)   # must display explicitly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48640" y="256032"/>
            <a:ext cx="20116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Exercise 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697480" y="256032"/>
            <a:ext cx="6446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Hello World &amp; Personal Info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Goal: read data from the user, combine it, and display a result.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47548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33856" y="1289304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Display the message "Hello, World!" on the screen.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67128"/>
            <a:ext cx="8046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548640" y="2167128"/>
            <a:ext cx="47548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48640" y="2167128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33856" y="221457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Ask for first name, last name, and age. Display: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"Hello, Ali Veli! You are 20 years old."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⚠️  First join the pieces with + and str(). Then try the comma shortcut: print("Hello,", name)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99816"/>
            <a:ext cx="804672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548640" y="3099816"/>
            <a:ext cx="47548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48640" y="3099816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33856" y="3154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Ask for the user's age. Calculate and display birth year.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Hint: think of the formula first — birth year = current year − 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32504"/>
            <a:ext cx="8046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47548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48640" y="4032504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33856" y="408736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BONUS: Ask for a favourite number. Display the number, its square, and its cube — each on a separate line.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47548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⏱  10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48640" y="256032"/>
            <a:ext cx="20116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Exercise 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697480" y="256032"/>
            <a:ext cx="6446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Temperature Converter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Goal: translate a mathematical formula into a program. The formula is given — your job is to express it as an assignment statement.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265176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58368" y="1435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Celsius → Fahrenheit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1764792"/>
            <a:ext cx="2423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13232" y="178308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C × 1.8 + 32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203704"/>
            <a:ext cx="242316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2185416" y="2231136"/>
            <a:ext cx="822960" cy="1828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2185416" y="22311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93C5FD"/>
                </a:solidFill>
              </a:rPr>
              <a:t>PSEUDOCODE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713232" y="223113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←  c × 1.8 + 32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2642616"/>
            <a:ext cx="24231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404872" y="2670048"/>
            <a:ext cx="603504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404872" y="267004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BFDBFE"/>
                </a:solidFill>
              </a:rPr>
              <a:t>PYTHON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713232" y="267004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(c * 1.8) + 32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30906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💡 What you compute goes on the LEFT of =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132588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3383280" y="1325880"/>
            <a:ext cx="265176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493008" y="1435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Fahrenheit → Celsius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93008" y="1764792"/>
            <a:ext cx="2423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547872" y="178308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(F − 32) × 5/9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93008" y="2203704"/>
            <a:ext cx="242316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5020056" y="2231136"/>
            <a:ext cx="822960" cy="1828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020056" y="22311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93C5FD"/>
                </a:solidFill>
              </a:rPr>
              <a:t>PSEUDOCODE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547872" y="223113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←  (f − 32) × (5 ÷ 9)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93008" y="2642616"/>
            <a:ext cx="24231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5239512" y="2670048"/>
            <a:ext cx="603504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239512" y="267004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BFDBFE"/>
                </a:solidFill>
              </a:rPr>
              <a:t>PYTHON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547872" y="267004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(f - 32) * (5 / 9)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93008" y="30906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💡 Parentheses change the order — precedence!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132588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6217920" y="1325880"/>
            <a:ext cx="26517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6327648" y="1435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Celsius → Kelvin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27648" y="1764792"/>
            <a:ext cx="24231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6382512" y="178308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C + 273.15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27648" y="2203704"/>
            <a:ext cx="242316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7854696" y="2231136"/>
            <a:ext cx="822960" cy="1828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7854696" y="22311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93C5FD"/>
                </a:solidFill>
              </a:rPr>
              <a:t>PSEUDOCODE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382512" y="223113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 ←  c + 273.15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27648" y="2642616"/>
            <a:ext cx="24231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8074152" y="2670048"/>
            <a:ext cx="603504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8074152" y="267004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BFDBFE"/>
                </a:solidFill>
              </a:rPr>
              <a:t>PYTHON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382512" y="267004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c + 273.15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4608576"/>
            <a:ext cx="80467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713232" y="46268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Task: read a Celsius value → convert and display Fahrenheit and Kelvin.  BONUS: also convert a Fahrenheit input back to Celsius.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498080" y="47548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⏱  12 min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48640" y="256032"/>
            <a:ext cx="20116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Exercise 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697480" y="256032"/>
            <a:ext cx="6446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Simple Calculator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Goal: apply every arithmetic operator and observe how each one behaves.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393192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31520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356616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944368" y="1755648"/>
            <a:ext cx="1280160" cy="20116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944368" y="1755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3C5FD"/>
                </a:solidFill>
              </a:rPr>
              <a:t>PSEUDOCODE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96112" y="1783080"/>
            <a:ext cx="33101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numbers 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user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and display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7 operations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423160"/>
            <a:ext cx="35661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291840" y="2487168"/>
            <a:ext cx="932688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291840" y="248716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BFDBFE"/>
                </a:solidFill>
              </a:rPr>
              <a:t>PYTHON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96112" y="2514600"/>
            <a:ext cx="33101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("First: "))
b 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("Second: "))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01568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
</a:t>
            </a: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 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subtraction
</a:t>
            </a: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 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multiplication
</a:t>
            </a: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
</a:t>
            </a: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 division (drop decimal)
</a:t>
            </a: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  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remainder after division
</a:t>
            </a: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** 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to a power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1261872"/>
            <a:ext cx="41148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846320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Expected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1664208"/>
            <a:ext cx="379476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First: </a:t>
            </a: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
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Second: </a:t>
            </a: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+ 5  = 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12 - 5  = 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* 5  = 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5  = 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// 5 = 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12 % 5  = 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** 5 = 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248832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98080" y="47548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⏱  12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48640" y="256032"/>
            <a:ext cx="20116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Exercise 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697480" y="256032"/>
            <a:ext cx="6446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Pythagorean Theorem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Goal: express a formula that uses a square root — which has no built-in symbol, so we think our way around 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4160520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31520" y="1389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The formula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3657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804672" y="1755648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c² = a² + b²   →   c = √(a² + b²)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Key insight: √x  =  x raised to the power of 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37490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127248" y="2624328"/>
            <a:ext cx="1280160" cy="20116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127248" y="2624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3C5FD"/>
                </a:solidFill>
              </a:rPr>
              <a:t>PSEUDOCODE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96112" y="2651760"/>
            <a:ext cx="34930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←  square_root( a² + b² )
   =  ( a² + b² ) raised to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374904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3474720" y="3355848"/>
            <a:ext cx="932688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474720" y="335584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BFDBFE"/>
                </a:solidFill>
              </a:rPr>
              <a:t>PYTHON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96112" y="3383280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(a**2 + b**2) **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(a**2 + b**2) ** (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1/2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also ok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374904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731520" y="4160520"/>
            <a:ext cx="37490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868680" y="42245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⚠️  Try this and explain why it gives the wrong answer: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" y="4416552"/>
            <a:ext cx="347472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987552" y="4498848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(a**2 + b**2) ** </a:t>
            </a: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1/2</a:t>
            </a: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missing parentheses!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19472" y="1298448"/>
            <a:ext cx="384048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074920" y="1389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Task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1737360"/>
            <a:ext cx="3520440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1. Read sides a and b from the user.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2. Compute the hypotenuse c.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3. Display the result.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4. BONUS: deliberately write 1/2 without parentheses, run it, and explain what happened.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5. BONUS: given the hypotenuse and one side, find the other side.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74920" y="3822192"/>
            <a:ext cx="35204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5230368" y="38862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Expected Output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30368" y="4133088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a: 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
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b: 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Hypotenuse c: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0" y="47548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⏱  15 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48640" y="256032"/>
            <a:ext cx="25603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Exercise 5  —  Debug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246120" y="256032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Find &amp; Fix the 5 Bugs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Goal: read broken code, understand what it is supposed to do, identify each mistake by its concept, and fix 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4160520" cy="35844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85800" y="13350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Buggy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645920"/>
            <a:ext cx="384048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Should ask for two numbers and print their average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num1 = </a:t>
            </a:r>
            <a:r>
              <a:rPr lang="en-US" sz="11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("First number: ")
num2 = </a:t>
            </a:r>
            <a:r>
              <a:rPr lang="en-US" sz="11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("Second number: ")
</a:t>
            </a: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= num1 + num2 / 2
</a:t>
            </a: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("The average is: "</a:t>
            </a: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average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massege = </a:t>
            </a: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"Done"
</a:t>
            </a:r>
            <a:r>
              <a:rPr lang="en-US" sz="11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Massege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19472" y="1261872"/>
            <a:ext cx="3840480" cy="35844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074920" y="13350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Hints — think in concepts, not syntax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74920" y="1755648"/>
            <a:ext cx="3520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5074920" y="1755648"/>
            <a:ext cx="914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230368" y="179222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Bug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30368" y="202996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When you read from the user you get text. But you need to do arithmetic.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74920" y="2377440"/>
            <a:ext cx="3520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074920" y="2377440"/>
            <a:ext cx="914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230368" y="24140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Bug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30368" y="265176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Same problem on the second number.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74920" y="2999232"/>
            <a:ext cx="3520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5074920" y="2999232"/>
            <a:ext cx="914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230368" y="30358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Bug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327355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average of two numbers is (a+b)÷2 — is the formula computing that?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74920" y="3621024"/>
            <a:ext cx="3520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5074920" y="3621024"/>
            <a:ext cx="914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230368" y="36576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Bug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389534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 Python, built-in function names must be written exactly as defined.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74920" y="4242816"/>
            <a:ext cx="3520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5074920" y="4242816"/>
            <a:ext cx="914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230368" y="42793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Bug 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30368" y="451713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 name you define must be spelled identically every time you use it.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98080" y="47548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⏱  10 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48640" y="256032"/>
            <a:ext cx="20116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Exercise 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697480" y="256032"/>
            <a:ext cx="6446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String Inspector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Goal: explore what operations are possible on text. Every language has these — the names differ, the concepts don't.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40690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38404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36245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Print the text as the user typed it.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75564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as entered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16712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548640" y="2167128"/>
            <a:ext cx="38404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8640" y="216712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23113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Print the text in all capital letters.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62432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.upper()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035808"/>
            <a:ext cx="40690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48640" y="3035808"/>
            <a:ext cx="38404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48640" y="303580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09981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Print the text in all lowercase letters.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49300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.lower()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90448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548640" y="3904488"/>
            <a:ext cx="38404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48640" y="390448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96849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Count how many characters the text has.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43616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len(text)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1298448"/>
            <a:ext cx="40690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4892040" y="1298448"/>
            <a:ext cx="38404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892040" y="129844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136245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Get the first character.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175564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text[0]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216712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4892040" y="2167128"/>
            <a:ext cx="38404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892040" y="216712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223113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Get the last character.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262432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text[-1]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3035808"/>
            <a:ext cx="40690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4892040" y="3035808"/>
            <a:ext cx="38404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892040" y="303580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94960" y="309981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Reverse the text.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94960" y="349300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text[::-1]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92040" y="390448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4892040" y="3904488"/>
            <a:ext cx="38404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4892040" y="390448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94960" y="396849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Check if it reads the same forwards and backwards (palindrome).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94960" y="43616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text.lower() == text.lower()[::-1]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4828032"/>
            <a:ext cx="5120640" cy="1645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694944" y="4846320"/>
            <a:ext cx="4846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"racecar"  →  Palindrome: </a:t>
            </a: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98080" y="4800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⏱  10 min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48640" y="256032"/>
            <a:ext cx="25603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Exercise 7  —  Hard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246120" y="256032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Currency Converter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Goal: structure a multi-step calculation — same pattern used in any language.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2834640" cy="34564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029968" y="1380744"/>
            <a:ext cx="1280160" cy="20116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029968" y="1380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3C5FD"/>
                </a:solidFill>
              </a:rPr>
              <a:t>PSEUDOCODE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3232" y="1645920"/>
            <a:ext cx="2542032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in USD
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 rates
eur  ←  amount × rate_eur
gbp  ←  amount × rate_gbp
try  ←  amount × rate_try
jpy  ←  amount × rate_jpy
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results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47872" y="1325880"/>
            <a:ext cx="2487168" cy="3456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5029200" y="1380744"/>
            <a:ext cx="932688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029200" y="138074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BFDBFE"/>
                </a:solidFill>
              </a:rPr>
              <a:t>PYTHON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703320" y="1664208"/>
            <a:ext cx="22128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USD_TO_EUR</a:t>
            </a:r>
            <a:r>
              <a:rPr lang="en-US" sz="9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
</a:t>
            </a: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USD_TO_GBP</a:t>
            </a:r>
            <a:r>
              <a:rPr lang="en-US" sz="9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
</a:t>
            </a: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USD_TO_TRY</a:t>
            </a:r>
            <a:r>
              <a:rPr lang="en-US" sz="9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32.50
</a:t>
            </a: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USD_TO_JPY</a:t>
            </a:r>
            <a:r>
              <a:rPr lang="en-US" sz="9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149.80
</a:t>
            </a: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UPPERCASE = constant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(convention, not a rule)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8776" y="1271016"/>
            <a:ext cx="2578608" cy="3456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327648" y="1389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77356" y="1577692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USD: 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100.00 USD =
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92.00 EUR
   79.00 GBP
 3250.00 TRY
14980.00 JPY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9632" y="3154680"/>
            <a:ext cx="2578608" cy="162763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327648" y="3218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Extra Challenges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3547872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Right-align numbers so decimal points line up.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Show the inverse rate: "1 EUR = X USD".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0" y="47548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⏱  20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48640" y="256032"/>
            <a:ext cx="2743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🏠  Home Bonus  —  Optional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29000" y="25603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Solve before next class!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Build a receipt printer. Ask for 3 items, compute subtotals, add 18% tax, print a formatted receipt.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4160520" cy="35478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3355848" y="1353312"/>
            <a:ext cx="1280160" cy="20116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355848" y="1353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3C5FD"/>
                </a:solidFill>
              </a:rPr>
              <a:t>PSEUDOCODE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3232" y="1627632"/>
            <a:ext cx="3840480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of 3 items:
   read 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price, quantity
   subtotal ← price × quantity
total ← subtotal1 + subtotal2 + subtotal3
tax    ← total × 0.18
final  ← total + tax
</a:t>
            </a: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 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formatted receipt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19472" y="1298448"/>
            <a:ext cx="3840480" cy="35478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074920" y="13716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Expected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664208"/>
            <a:ext cx="3547872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       x4  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10.00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Bread       x2  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5.00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Milk        x3  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4.50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Subtotal:       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19.50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 (18%):      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3.51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          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23.01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💡  First try aligning manually with spaces. Shortcut exists (f-string) — try the slow way first!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697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914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Store, compute, read input, display output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005840"/>
            <a:ext cx="2697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429000" y="1005840"/>
            <a:ext cx="914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611880" y="10972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144475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Types &amp; Conversion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17190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Whole number, decimal, text, true/false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697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6309360" y="1005840"/>
            <a:ext cx="914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492240" y="10972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44475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Operators &amp; Precedence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17190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All 7 arithmetic, comparison, logical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212848"/>
            <a:ext cx="2697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548640" y="2212848"/>
            <a:ext cx="914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31520" y="23042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6517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Common Traps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29260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6 classic mistakes — concept + fix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29000" y="2212848"/>
            <a:ext cx="2697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3429000" y="2212848"/>
            <a:ext cx="914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611880" y="23042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11880" y="26517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Ex 1 — Hello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11880" y="29260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Joining text pieces, print vs display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2212848"/>
            <a:ext cx="2697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6309360" y="2212848"/>
            <a:ext cx="914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492240" y="23042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26517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Ex 2 — Temperature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29260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Formula → assignment statement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419856"/>
            <a:ext cx="2697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548640" y="3419856"/>
            <a:ext cx="914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731520" y="35112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1520" y="38587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Ex 3 — Calculator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41330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All 7 operators in action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29000" y="3419856"/>
            <a:ext cx="2697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3429000" y="3419856"/>
            <a:ext cx="914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3611880" y="35112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611880" y="38587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Ex 4 — Pythagorean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11880" y="41330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√ as power of ½, precedence trap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09360" y="3419856"/>
            <a:ext cx="2697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6309360" y="3419856"/>
            <a:ext cx="914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6492240" y="35112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92240" y="38587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Ex 5–7 + Bonus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92240" y="41330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Debug / Strings / Converter / Receipt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48640" y="4663440"/>
            <a:ext cx="80467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548640" y="47091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Next week: Conditions  (if / elif / else)  →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A1E18385FE39D941AA199D3D339AA629" ma:contentTypeVersion="3" ma:contentTypeDescription="Yeni belge oluşturun." ma:contentTypeScope="" ma:versionID="19aa0f239003ff5cb8729c287f217ad6">
  <xsd:schema xmlns:xsd="http://www.w3.org/2001/XMLSchema" xmlns:xs="http://www.w3.org/2001/XMLSchema" xmlns:p="http://schemas.microsoft.com/office/2006/metadata/properties" xmlns:ns2="a80aa6ed-64eb-4536-b734-1570525c18fd" targetNamespace="http://schemas.microsoft.com/office/2006/metadata/properties" ma:root="true" ma:fieldsID="bc5b12e7dacf0f92481a936137e04f52" ns2:_="">
    <xsd:import namespace="a80aa6ed-64eb-4536-b734-1570525c18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0aa6ed-64eb-4536-b734-1570525c18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A2AC828-C2A0-4B10-9830-A7DDD23784E1}"/>
</file>

<file path=customXml/itemProps2.xml><?xml version="1.0" encoding="utf-8"?>
<ds:datastoreItem xmlns:ds="http://schemas.openxmlformats.org/officeDocument/2006/customXml" ds:itemID="{6A363DF4-C196-4B69-B957-7E42321C9B0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6347B35-CB5C-4F7B-9BD3-666EB67EEB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2257</Words>
  <Application>Microsoft Office PowerPoint</Application>
  <PresentationFormat>On-screen Show (16:9)</PresentationFormat>
  <Paragraphs>308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Fundamentals — Lab</dc:title>
  <dc:subject>PptxGenJS Presentation</dc:subject>
  <dc:creator>PptxGenJS</dc:creator>
  <cp:lastModifiedBy>Bengisu Şahin</cp:lastModifiedBy>
  <cp:revision>4</cp:revision>
  <dcterms:created xsi:type="dcterms:W3CDTF">2026-03-06T05:46:39Z</dcterms:created>
  <dcterms:modified xsi:type="dcterms:W3CDTF">2026-03-10T12:07:43Z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0x010100A1E18385FE39D941AA199D3D339AA629</vt:lpwstr>
  </property>
</Properties>
</file>