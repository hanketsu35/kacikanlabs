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4"/>
  </p:sldMasterIdLst>
  <p:notesMasterIdLst>
    <p:notesMasterId r:id="rId19"/>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Lst>
  <p:sldSz cx="12192000" cy="6858000"/>
  <p:notesSz cx="6858000" cy="9144000"/>
  <p:embeddedFontLst>
    <p:embeddedFont>
      <p:font typeface="Urbanist" panose="020B0604020202020204" charset="0"/>
      <p:regular r:id="rId20"/>
      <p:bold r:id="rId21"/>
      <p:italic r:id="rId22"/>
      <p:boldItalic r:id="rId23"/>
    </p:embeddedFont>
    <p:embeddedFont>
      <p:font typeface="Urbanist SemiBold" panose="020B0604020202020204" charset="0"/>
      <p:regular r:id="rId24"/>
      <p:bold r:id="rId25"/>
      <p:italic r:id="rId26"/>
      <p:boldItalic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E125F46-5EC5-B4FB-F68C-F5C3D129E3B2}" v="3" dt="2026-04-02T23:08:32.67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00" d="100"/>
          <a:sy n="100" d="100"/>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7.fntdata"/><Relationship Id="rId3" Type="http://schemas.openxmlformats.org/officeDocument/2006/relationships/customXml" Target="../customXml/item3.xml"/><Relationship Id="rId21" Type="http://schemas.openxmlformats.org/officeDocument/2006/relationships/font" Target="fonts/font2.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6.fntdata"/><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font" Target="fonts/font1.fntdata"/><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5.fntdata"/><Relationship Id="rId32"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4.fntdata"/><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notesMaster" Target="notesMasters/notesMaster1.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theme" Target="theme/theme1.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gemen Kaçıkan" userId="S::egemenkacikan@pers365.iyte.edu.tr::9219604d-17e4-41f4-810e-ebd8726dd0ec" providerId="AD" clId="Web-{BE125F46-5EC5-B4FB-F68C-F5C3D129E3B2}"/>
    <pc:docChg chg="modSld">
      <pc:chgData name="Egemen Kaçıkan" userId="S::egemenkacikan@pers365.iyte.edu.tr::9219604d-17e4-41f4-810e-ebd8726dd0ec" providerId="AD" clId="Web-{BE125F46-5EC5-B4FB-F68C-F5C3D129E3B2}" dt="2026-04-02T23:08:32.676" v="2" actId="1076"/>
      <pc:docMkLst>
        <pc:docMk/>
      </pc:docMkLst>
      <pc:sldChg chg="modSp">
        <pc:chgData name="Egemen Kaçıkan" userId="S::egemenkacikan@pers365.iyte.edu.tr::9219604d-17e4-41f4-810e-ebd8726dd0ec" providerId="AD" clId="Web-{BE125F46-5EC5-B4FB-F68C-F5C3D129E3B2}" dt="2026-04-02T23:08:32.676" v="2" actId="1076"/>
        <pc:sldMkLst>
          <pc:docMk/>
          <pc:sldMk cId="0" sldId="262"/>
        </pc:sldMkLst>
        <pc:picChg chg="mod">
          <ac:chgData name="Egemen Kaçıkan" userId="S::egemenkacikan@pers365.iyte.edu.tr::9219604d-17e4-41f4-810e-ebd8726dd0ec" providerId="AD" clId="Web-{BE125F46-5EC5-B4FB-F68C-F5C3D129E3B2}" dt="2026-04-02T23:08:32.676" v="2" actId="1076"/>
          <ac:picMkLst>
            <pc:docMk/>
            <pc:sldMk cId="0" sldId="262"/>
            <ac:picMk id="170"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1" name="Google Shape;91;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6" name="Google Shape;106;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3" name="Google Shape;123;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1" name="Google Shape;141;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9" name="Google Shape;149;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4" name="Google Shape;164;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4" name="Google Shape;184;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4" name="Google Shape;204;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1" name="Google Shape;221;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4" name="Google Shape;234;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2" name="Google Shape;252;p1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2" name="Google Shape;272;p1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0" name="Google Shape;290;p1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image" Target="../media/image19.png"/></Relationships>
</file>

<file path=ppt/slides/_rels/slide7.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 Id="rId9" Type="http://schemas.openxmlformats.org/officeDocument/2006/relationships/image" Target="../media/image27.png"/></Relationships>
</file>

<file path=ppt/slides/_rels/slide8.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 Id="rId9" Type="http://schemas.openxmlformats.org/officeDocument/2006/relationships/image" Target="../media/image34.png"/></Relationships>
</file>

<file path=ppt/slides/_rels/slide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11.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40.png"/><Relationship Id="rId7" Type="http://schemas.openxmlformats.org/officeDocument/2006/relationships/image" Target="../media/image44.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12.xml.rels><?xml version="1.0" encoding="UTF-8" standalone="yes"?>
<Relationships xmlns="http://schemas.openxmlformats.org/package/2006/relationships"><Relationship Id="rId3" Type="http://schemas.openxmlformats.org/officeDocument/2006/relationships/image" Target="../media/image46.png"/><Relationship Id="rId7" Type="http://schemas.openxmlformats.org/officeDocument/2006/relationships/image" Target="../media/image50.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13.xml.rels><?xml version="1.0" encoding="UTF-8" standalone="yes"?>
<Relationships xmlns="http://schemas.openxmlformats.org/package/2006/relationships"><Relationship Id="rId8" Type="http://schemas.openxmlformats.org/officeDocument/2006/relationships/image" Target="../media/image56.png"/><Relationship Id="rId3" Type="http://schemas.openxmlformats.org/officeDocument/2006/relationships/image" Target="../media/image51.png"/><Relationship Id="rId7" Type="http://schemas.openxmlformats.org/officeDocument/2006/relationships/image" Target="../media/image55.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2.png"/></Relationships>
</file>

<file path=ppt/slides/_rels/slide14.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2738437" y="4160490"/>
            <a:ext cx="6715125" cy="1209675"/>
          </a:xfrm>
          <a:prstGeom prst="rect">
            <a:avLst/>
          </a:prstGeom>
          <a:noFill/>
          <a:ln>
            <a:noFill/>
          </a:ln>
        </p:spPr>
      </p:pic>
      <p:sp>
        <p:nvSpPr>
          <p:cNvPr id="85" name="Google Shape;85;p13"/>
          <p:cNvSpPr txBox="1"/>
          <p:nvPr/>
        </p:nvSpPr>
        <p:spPr>
          <a:xfrm>
            <a:off x="2195512" y="1487834"/>
            <a:ext cx="7800975" cy="1577280"/>
          </a:xfrm>
          <a:prstGeom prst="rect">
            <a:avLst/>
          </a:prstGeom>
          <a:noFill/>
          <a:ln>
            <a:noFill/>
          </a:ln>
        </p:spPr>
        <p:txBody>
          <a:bodyPr spcFirstLastPara="1" wrap="square" lIns="0" tIns="0" rIns="0" bIns="0" anchor="t" anchorCtr="0">
            <a:spAutoFit/>
          </a:bodyPr>
          <a:lstStyle/>
          <a:p>
            <a:pPr marL="0" marR="0" lvl="0" indent="0" algn="ctr" rtl="0">
              <a:lnSpc>
                <a:spcPct val="114981"/>
              </a:lnSpc>
              <a:spcBef>
                <a:spcPts val="0"/>
              </a:spcBef>
              <a:spcAft>
                <a:spcPts val="0"/>
              </a:spcAft>
              <a:buNone/>
            </a:pPr>
            <a:r>
              <a:rPr lang="en-US" sz="5400" b="1" i="0" u="none" strike="noStrike" cap="none">
                <a:solidFill>
                  <a:srgbClr val="E6EDF3"/>
                </a:solidFill>
                <a:latin typeface="Urbanist"/>
                <a:ea typeface="Urbanist"/>
                <a:cs typeface="Urbanist"/>
                <a:sym typeface="Urbanist"/>
              </a:rPr>
              <a:t>Lab 3: </a:t>
            </a:r>
            <a:br>
              <a:rPr lang="en-US" sz="1800" b="0" i="0" u="none" strike="noStrike" cap="none">
                <a:solidFill>
                  <a:schemeClr val="dk1"/>
                </a:solidFill>
                <a:latin typeface="Calibri"/>
                <a:ea typeface="Calibri"/>
                <a:cs typeface="Calibri"/>
                <a:sym typeface="Calibri"/>
              </a:rPr>
            </a:br>
            <a:r>
              <a:rPr lang="en-US" sz="5400" b="1" i="0" u="none" strike="noStrike" cap="none">
                <a:solidFill>
                  <a:srgbClr val="58A6FF"/>
                </a:solidFill>
                <a:latin typeface="Urbanist"/>
                <a:ea typeface="Urbanist"/>
                <a:cs typeface="Urbanist"/>
                <a:sym typeface="Urbanist"/>
              </a:rPr>
              <a:t>Logic &amp; Decision Making</a:t>
            </a:r>
            <a:endParaRPr/>
          </a:p>
        </p:txBody>
      </p:sp>
      <p:sp>
        <p:nvSpPr>
          <p:cNvPr id="86" name="Google Shape;86;p13"/>
          <p:cNvSpPr txBox="1"/>
          <p:nvPr/>
        </p:nvSpPr>
        <p:spPr>
          <a:xfrm>
            <a:off x="4310062" y="3255615"/>
            <a:ext cx="3571875" cy="428625"/>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2250" b="0" i="0" u="none" strike="noStrike" cap="none">
                <a:solidFill>
                  <a:srgbClr val="8B949E"/>
                </a:solidFill>
                <a:latin typeface="Urbanist"/>
                <a:ea typeface="Urbanist"/>
                <a:cs typeface="Urbanist"/>
                <a:sym typeface="Urbanist"/>
              </a:rPr>
              <a:t>Programming Fundamentals</a:t>
            </a:r>
            <a:endParaRPr/>
          </a:p>
        </p:txBody>
      </p:sp>
      <p:sp>
        <p:nvSpPr>
          <p:cNvPr id="87" name="Google Shape;87;p13"/>
          <p:cNvSpPr txBox="1"/>
          <p:nvPr/>
        </p:nvSpPr>
        <p:spPr>
          <a:xfrm>
            <a:off x="3167062" y="4408140"/>
            <a:ext cx="5895975" cy="3238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3FB950"/>
                </a:solidFill>
                <a:latin typeface="Urbanist"/>
                <a:ea typeface="Urbanist"/>
                <a:cs typeface="Urbanist"/>
                <a:sym typeface="Urbanist"/>
              </a:rPr>
              <a:t>Goal</a:t>
            </a:r>
            <a:endParaRPr/>
          </a:p>
        </p:txBody>
      </p:sp>
      <p:sp>
        <p:nvSpPr>
          <p:cNvPr id="88" name="Google Shape;88;p13"/>
          <p:cNvSpPr txBox="1"/>
          <p:nvPr/>
        </p:nvSpPr>
        <p:spPr>
          <a:xfrm>
            <a:off x="3167062" y="4846290"/>
            <a:ext cx="5895975" cy="2762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a:solidFill>
                  <a:srgbClr val="E6EDF3"/>
                </a:solidFill>
                <a:latin typeface="Urbanist"/>
                <a:ea typeface="Urbanist"/>
                <a:cs typeface="Urbanist"/>
                <a:sym typeface="Urbanist"/>
              </a:rPr>
              <a:t>Translating logic and mathematics into Python (if, elif, else).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Shape 92"/>
        <p:cNvGrpSpPr/>
        <p:nvPr/>
      </p:nvGrpSpPr>
      <p:grpSpPr>
        <a:xfrm>
          <a:off x="0" y="0"/>
          <a:ext cx="0" cy="0"/>
          <a:chOff x="0" y="0"/>
          <a:chExt cx="0" cy="0"/>
        </a:xfrm>
      </p:grpSpPr>
      <p:pic>
        <p:nvPicPr>
          <p:cNvPr id="93" name="Google Shape;93;p14" descr="image.png"/>
          <p:cNvPicPr preferRelativeResize="0"/>
          <p:nvPr/>
        </p:nvPicPr>
        <p:blipFill rotWithShape="1">
          <a:blip r:embed="rId3">
            <a:alphaModFix/>
          </a:blip>
          <a:srcRect/>
          <a:stretch/>
        </p:blipFill>
        <p:spPr>
          <a:xfrm>
            <a:off x="571500" y="2028825"/>
            <a:ext cx="5381625" cy="4352925"/>
          </a:xfrm>
          <a:prstGeom prst="rect">
            <a:avLst/>
          </a:prstGeom>
          <a:noFill/>
          <a:ln>
            <a:noFill/>
          </a:ln>
        </p:spPr>
      </p:pic>
      <p:pic>
        <p:nvPicPr>
          <p:cNvPr id="94" name="Google Shape;94;p14" descr="image.png"/>
          <p:cNvPicPr preferRelativeResize="0"/>
          <p:nvPr/>
        </p:nvPicPr>
        <p:blipFill rotWithShape="1">
          <a:blip r:embed="rId4">
            <a:alphaModFix/>
          </a:blip>
          <a:srcRect/>
          <a:stretch/>
        </p:blipFill>
        <p:spPr>
          <a:xfrm>
            <a:off x="6238875" y="2028825"/>
            <a:ext cx="5381625" cy="4352925"/>
          </a:xfrm>
          <a:prstGeom prst="rect">
            <a:avLst/>
          </a:prstGeom>
          <a:noFill/>
          <a:ln>
            <a:noFill/>
          </a:ln>
        </p:spPr>
      </p:pic>
      <p:sp>
        <p:nvSpPr>
          <p:cNvPr id="95" name="Google Shape;95;p14"/>
          <p:cNvSpPr txBox="1"/>
          <p:nvPr/>
        </p:nvSpPr>
        <p:spPr>
          <a:xfrm>
            <a:off x="571500" y="1428750"/>
            <a:ext cx="11049000" cy="31432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50" b="0" i="0" u="none" strike="noStrike" cap="none">
                <a:solidFill>
                  <a:srgbClr val="C9D1D9"/>
                </a:solidFill>
                <a:latin typeface="Urbanist"/>
                <a:ea typeface="Urbanist"/>
                <a:cs typeface="Urbanist"/>
                <a:sym typeface="Urbanist"/>
              </a:rPr>
              <a:t>What is the final value of these expressions? (Think like the Python interpreter!)</a:t>
            </a:r>
            <a:endParaRPr/>
          </a:p>
        </p:txBody>
      </p:sp>
      <p:sp>
        <p:nvSpPr>
          <p:cNvPr id="96" name="Google Shape;96;p14"/>
          <p:cNvSpPr txBox="1"/>
          <p:nvPr/>
        </p:nvSpPr>
        <p:spPr>
          <a:xfrm>
            <a:off x="866775" y="3419475"/>
            <a:ext cx="5030628"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0" i="0" u="none" strike="noStrike" cap="none">
                <a:solidFill>
                  <a:srgbClr val="58A6FF"/>
                </a:solidFill>
                <a:latin typeface="Urbanist SemiBold"/>
                <a:ea typeface="Urbanist SemiBold"/>
                <a:cs typeface="Urbanist SemiBold"/>
                <a:sym typeface="Urbanist SemiBold"/>
              </a:rPr>
              <a:t>Expressions 1 &amp; 2</a:t>
            </a:r>
            <a:endParaRPr/>
          </a:p>
        </p:txBody>
      </p:sp>
      <p:sp>
        <p:nvSpPr>
          <p:cNvPr id="97" name="Google Shape;97;p14"/>
          <p:cNvSpPr txBox="1"/>
          <p:nvPr/>
        </p:nvSpPr>
        <p:spPr>
          <a:xfrm>
            <a:off x="6534150" y="3419475"/>
            <a:ext cx="5030628"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0" i="0" u="none" strike="noStrike" cap="none">
                <a:solidFill>
                  <a:srgbClr val="58A6FF"/>
                </a:solidFill>
                <a:latin typeface="Urbanist SemiBold"/>
                <a:ea typeface="Urbanist SemiBold"/>
                <a:cs typeface="Urbanist SemiBold"/>
                <a:sym typeface="Urbanist SemiBold"/>
              </a:rPr>
              <a:t>Expressions 3 &amp; 4</a:t>
            </a:r>
            <a:endParaRPr/>
          </a:p>
        </p:txBody>
      </p:sp>
      <p:pic>
        <p:nvPicPr>
          <p:cNvPr id="98" name="Google Shape;98;p14" descr="image.png"/>
          <p:cNvPicPr preferRelativeResize="0"/>
          <p:nvPr/>
        </p:nvPicPr>
        <p:blipFill rotWithShape="1">
          <a:blip r:embed="rId5">
            <a:alphaModFix/>
          </a:blip>
          <a:srcRect/>
          <a:stretch/>
        </p:blipFill>
        <p:spPr>
          <a:xfrm>
            <a:off x="866775" y="3962400"/>
            <a:ext cx="1238250" cy="419100"/>
          </a:xfrm>
          <a:prstGeom prst="rect">
            <a:avLst/>
          </a:prstGeom>
          <a:noFill/>
          <a:ln>
            <a:noFill/>
          </a:ln>
        </p:spPr>
      </p:pic>
      <p:pic>
        <p:nvPicPr>
          <p:cNvPr id="99" name="Google Shape;99;p14" descr="image.png"/>
          <p:cNvPicPr preferRelativeResize="0"/>
          <p:nvPr/>
        </p:nvPicPr>
        <p:blipFill rotWithShape="1">
          <a:blip r:embed="rId6">
            <a:alphaModFix/>
          </a:blip>
          <a:srcRect/>
          <a:stretch/>
        </p:blipFill>
        <p:spPr>
          <a:xfrm>
            <a:off x="866775" y="4572000"/>
            <a:ext cx="1504950" cy="419100"/>
          </a:xfrm>
          <a:prstGeom prst="rect">
            <a:avLst/>
          </a:prstGeom>
          <a:noFill/>
          <a:ln>
            <a:noFill/>
          </a:ln>
        </p:spPr>
      </p:pic>
      <p:pic>
        <p:nvPicPr>
          <p:cNvPr id="100" name="Google Shape;100;p14" descr="image.png"/>
          <p:cNvPicPr preferRelativeResize="0"/>
          <p:nvPr/>
        </p:nvPicPr>
        <p:blipFill rotWithShape="1">
          <a:blip r:embed="rId7">
            <a:alphaModFix/>
          </a:blip>
          <a:srcRect/>
          <a:stretch/>
        </p:blipFill>
        <p:spPr>
          <a:xfrm>
            <a:off x="6534150" y="3962400"/>
            <a:ext cx="2838450" cy="419100"/>
          </a:xfrm>
          <a:prstGeom prst="rect">
            <a:avLst/>
          </a:prstGeom>
          <a:noFill/>
          <a:ln>
            <a:noFill/>
          </a:ln>
        </p:spPr>
      </p:pic>
      <p:pic>
        <p:nvPicPr>
          <p:cNvPr id="101" name="Google Shape;101;p14" descr="image.png"/>
          <p:cNvPicPr preferRelativeResize="0"/>
          <p:nvPr/>
        </p:nvPicPr>
        <p:blipFill rotWithShape="1">
          <a:blip r:embed="rId8">
            <a:alphaModFix/>
          </a:blip>
          <a:srcRect/>
          <a:stretch/>
        </p:blipFill>
        <p:spPr>
          <a:xfrm>
            <a:off x="6534150" y="4572000"/>
            <a:ext cx="1504950" cy="419100"/>
          </a:xfrm>
          <a:prstGeom prst="rect">
            <a:avLst/>
          </a:prstGeom>
          <a:noFill/>
          <a:ln>
            <a:noFill/>
          </a:ln>
        </p:spPr>
      </p:pic>
      <p:sp>
        <p:nvSpPr>
          <p:cNvPr id="102" name="Google Shape;102;p14"/>
          <p:cNvSpPr txBox="1"/>
          <p:nvPr/>
        </p:nvSpPr>
        <p:spPr>
          <a:xfrm>
            <a:off x="571500" y="476250"/>
            <a:ext cx="11601450" cy="523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0" i="0" u="none" strike="noStrike" cap="none">
                <a:solidFill>
                  <a:srgbClr val="E6EDF3"/>
                </a:solidFill>
                <a:latin typeface="Urbanist SemiBold"/>
                <a:ea typeface="Urbanist SemiBold"/>
                <a:cs typeface="Urbanist SemiBold"/>
                <a:sym typeface="Urbanist SemiBold"/>
              </a:rPr>
              <a:t>Mini-Quiz 1: </a:t>
            </a:r>
            <a:r>
              <a:rPr lang="en-US" sz="3300" b="0" i="0" u="none" strike="noStrike" cap="none">
                <a:solidFill>
                  <a:srgbClr val="3FB950"/>
                </a:solidFill>
                <a:latin typeface="Urbanist SemiBold"/>
                <a:ea typeface="Urbanist SemiBold"/>
                <a:cs typeface="Urbanist SemiBold"/>
                <a:sym typeface="Urbanist SemiBold"/>
              </a:rPr>
              <a:t>Type Conversion</a:t>
            </a:r>
            <a:endParaRPr/>
          </a:p>
        </p:txBody>
      </p:sp>
      <p:sp>
        <p:nvSpPr>
          <p:cNvPr id="103" name="Google Shape;103;p14"/>
          <p:cNvSpPr/>
          <p:nvPr/>
        </p:nvSpPr>
        <p:spPr>
          <a:xfrm>
            <a:off x="571500" y="1123950"/>
            <a:ext cx="11049000" cy="19050"/>
          </a:xfrm>
          <a:prstGeom prst="rect">
            <a:avLst/>
          </a:prstGeom>
          <a:solidFill>
            <a:srgbClr val="30363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Shape 107"/>
        <p:cNvGrpSpPr/>
        <p:nvPr/>
      </p:nvGrpSpPr>
      <p:grpSpPr>
        <a:xfrm>
          <a:off x="0" y="0"/>
          <a:ext cx="0" cy="0"/>
          <a:chOff x="0" y="0"/>
          <a:chExt cx="0" cy="0"/>
        </a:xfrm>
      </p:grpSpPr>
      <p:sp>
        <p:nvSpPr>
          <p:cNvPr id="108" name="Google Shape;108;p15"/>
          <p:cNvSpPr txBox="1"/>
          <p:nvPr/>
        </p:nvSpPr>
        <p:spPr>
          <a:xfrm>
            <a:off x="571500" y="2200275"/>
            <a:ext cx="11049000" cy="31432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50" b="0" i="0" u="none" strike="noStrike" cap="none">
                <a:solidFill>
                  <a:srgbClr val="C9D1D9"/>
                </a:solidFill>
                <a:latin typeface="Urbanist"/>
                <a:ea typeface="Urbanist"/>
                <a:cs typeface="Urbanist"/>
                <a:sym typeface="Urbanist"/>
              </a:rPr>
              <a:t>Evaluate each expression. Is the result </a:t>
            </a:r>
            <a:r>
              <a:rPr lang="en-US" sz="1650" b="1" i="0" u="none" strike="noStrike" cap="none">
                <a:solidFill>
                  <a:srgbClr val="3FB950"/>
                </a:solidFill>
                <a:latin typeface="Urbanist"/>
                <a:ea typeface="Urbanist"/>
                <a:cs typeface="Urbanist"/>
                <a:sym typeface="Urbanist"/>
              </a:rPr>
              <a:t>True</a:t>
            </a:r>
            <a:r>
              <a:rPr lang="en-US" sz="1650" b="0" i="0" u="none" strike="noStrike" cap="none">
                <a:solidFill>
                  <a:srgbClr val="C9D1D9"/>
                </a:solidFill>
                <a:latin typeface="Urbanist"/>
                <a:ea typeface="Urbanist"/>
                <a:cs typeface="Urbanist"/>
                <a:sym typeface="Urbanist"/>
              </a:rPr>
              <a:t> or </a:t>
            </a:r>
            <a:r>
              <a:rPr lang="en-US" sz="1650" b="1" i="0" u="none" strike="noStrike" cap="none">
                <a:solidFill>
                  <a:srgbClr val="F0883E"/>
                </a:solidFill>
                <a:latin typeface="Urbanist"/>
                <a:ea typeface="Urbanist"/>
                <a:cs typeface="Urbanist"/>
                <a:sym typeface="Urbanist"/>
              </a:rPr>
              <a:t>False</a:t>
            </a:r>
            <a:r>
              <a:rPr lang="en-US" sz="1650" b="0" i="0" u="none" strike="noStrike" cap="none">
                <a:solidFill>
                  <a:srgbClr val="C9D1D9"/>
                </a:solidFill>
                <a:latin typeface="Urbanist"/>
                <a:ea typeface="Urbanist"/>
                <a:cs typeface="Urbanist"/>
                <a:sym typeface="Urbanist"/>
              </a:rPr>
              <a:t>?</a:t>
            </a:r>
            <a:endParaRPr/>
          </a:p>
        </p:txBody>
      </p:sp>
      <p:pic>
        <p:nvPicPr>
          <p:cNvPr id="109" name="Google Shape;109;p15" descr="image.png"/>
          <p:cNvPicPr preferRelativeResize="0"/>
          <p:nvPr/>
        </p:nvPicPr>
        <p:blipFill rotWithShape="1">
          <a:blip r:embed="rId3">
            <a:alphaModFix/>
          </a:blip>
          <a:srcRect/>
          <a:stretch/>
        </p:blipFill>
        <p:spPr>
          <a:xfrm>
            <a:off x="1000125" y="2847975"/>
            <a:ext cx="742950" cy="361950"/>
          </a:xfrm>
          <a:prstGeom prst="rect">
            <a:avLst/>
          </a:prstGeom>
          <a:noFill/>
          <a:ln>
            <a:noFill/>
          </a:ln>
        </p:spPr>
      </p:pic>
      <p:pic>
        <p:nvPicPr>
          <p:cNvPr id="110" name="Google Shape;110;p15" descr="image.png"/>
          <p:cNvPicPr preferRelativeResize="0"/>
          <p:nvPr/>
        </p:nvPicPr>
        <p:blipFill rotWithShape="1">
          <a:blip r:embed="rId4">
            <a:alphaModFix/>
          </a:blip>
          <a:srcRect/>
          <a:stretch/>
        </p:blipFill>
        <p:spPr>
          <a:xfrm>
            <a:off x="1000125" y="3400425"/>
            <a:ext cx="1085850" cy="361950"/>
          </a:xfrm>
          <a:prstGeom prst="rect">
            <a:avLst/>
          </a:prstGeom>
          <a:noFill/>
          <a:ln>
            <a:noFill/>
          </a:ln>
        </p:spPr>
      </p:pic>
      <p:pic>
        <p:nvPicPr>
          <p:cNvPr id="111" name="Google Shape;111;p15" descr="image.png"/>
          <p:cNvPicPr preferRelativeResize="0"/>
          <p:nvPr/>
        </p:nvPicPr>
        <p:blipFill rotWithShape="1">
          <a:blip r:embed="rId5">
            <a:alphaModFix/>
          </a:blip>
          <a:srcRect/>
          <a:stretch/>
        </p:blipFill>
        <p:spPr>
          <a:xfrm>
            <a:off x="1000125" y="3952875"/>
            <a:ext cx="1543050" cy="361950"/>
          </a:xfrm>
          <a:prstGeom prst="rect">
            <a:avLst/>
          </a:prstGeom>
          <a:noFill/>
          <a:ln>
            <a:noFill/>
          </a:ln>
        </p:spPr>
      </p:pic>
      <p:pic>
        <p:nvPicPr>
          <p:cNvPr id="112" name="Google Shape;112;p15" descr="image.png"/>
          <p:cNvPicPr preferRelativeResize="0"/>
          <p:nvPr/>
        </p:nvPicPr>
        <p:blipFill rotWithShape="1">
          <a:blip r:embed="rId6">
            <a:alphaModFix/>
          </a:blip>
          <a:srcRect/>
          <a:stretch/>
        </p:blipFill>
        <p:spPr>
          <a:xfrm>
            <a:off x="1000125" y="4505325"/>
            <a:ext cx="2228850" cy="361950"/>
          </a:xfrm>
          <a:prstGeom prst="rect">
            <a:avLst/>
          </a:prstGeom>
          <a:noFill/>
          <a:ln>
            <a:noFill/>
          </a:ln>
        </p:spPr>
      </p:pic>
      <p:pic>
        <p:nvPicPr>
          <p:cNvPr id="113" name="Google Shape;113;p15" descr="image.png"/>
          <p:cNvPicPr preferRelativeResize="0"/>
          <p:nvPr/>
        </p:nvPicPr>
        <p:blipFill rotWithShape="1">
          <a:blip r:embed="rId7">
            <a:alphaModFix/>
          </a:blip>
          <a:srcRect/>
          <a:stretch/>
        </p:blipFill>
        <p:spPr>
          <a:xfrm>
            <a:off x="1000125" y="5057775"/>
            <a:ext cx="1657350" cy="361950"/>
          </a:xfrm>
          <a:prstGeom prst="rect">
            <a:avLst/>
          </a:prstGeom>
          <a:noFill/>
          <a:ln>
            <a:noFill/>
          </a:ln>
        </p:spPr>
      </p:pic>
      <p:pic>
        <p:nvPicPr>
          <p:cNvPr id="114" name="Google Shape;114;p15" descr="image.png"/>
          <p:cNvPicPr preferRelativeResize="0"/>
          <p:nvPr/>
        </p:nvPicPr>
        <p:blipFill rotWithShape="1">
          <a:blip r:embed="rId8">
            <a:alphaModFix/>
          </a:blip>
          <a:srcRect/>
          <a:stretch/>
        </p:blipFill>
        <p:spPr>
          <a:xfrm>
            <a:off x="571500" y="2876550"/>
            <a:ext cx="142875" cy="247650"/>
          </a:xfrm>
          <a:prstGeom prst="rect">
            <a:avLst/>
          </a:prstGeom>
          <a:noFill/>
          <a:ln>
            <a:noFill/>
          </a:ln>
        </p:spPr>
      </p:pic>
      <p:pic>
        <p:nvPicPr>
          <p:cNvPr id="115" name="Google Shape;115;p15" descr="image.png"/>
          <p:cNvPicPr preferRelativeResize="0"/>
          <p:nvPr/>
        </p:nvPicPr>
        <p:blipFill rotWithShape="1">
          <a:blip r:embed="rId8">
            <a:alphaModFix/>
          </a:blip>
          <a:srcRect/>
          <a:stretch/>
        </p:blipFill>
        <p:spPr>
          <a:xfrm>
            <a:off x="571500" y="3429000"/>
            <a:ext cx="142875" cy="247650"/>
          </a:xfrm>
          <a:prstGeom prst="rect">
            <a:avLst/>
          </a:prstGeom>
          <a:noFill/>
          <a:ln>
            <a:noFill/>
          </a:ln>
        </p:spPr>
      </p:pic>
      <p:pic>
        <p:nvPicPr>
          <p:cNvPr id="116" name="Google Shape;116;p15" descr="image.png"/>
          <p:cNvPicPr preferRelativeResize="0"/>
          <p:nvPr/>
        </p:nvPicPr>
        <p:blipFill rotWithShape="1">
          <a:blip r:embed="rId8">
            <a:alphaModFix/>
          </a:blip>
          <a:srcRect/>
          <a:stretch/>
        </p:blipFill>
        <p:spPr>
          <a:xfrm>
            <a:off x="571500" y="3981450"/>
            <a:ext cx="142875" cy="247650"/>
          </a:xfrm>
          <a:prstGeom prst="rect">
            <a:avLst/>
          </a:prstGeom>
          <a:noFill/>
          <a:ln>
            <a:noFill/>
          </a:ln>
        </p:spPr>
      </p:pic>
      <p:pic>
        <p:nvPicPr>
          <p:cNvPr id="117" name="Google Shape;117;p15" descr="image.png"/>
          <p:cNvPicPr preferRelativeResize="0"/>
          <p:nvPr/>
        </p:nvPicPr>
        <p:blipFill rotWithShape="1">
          <a:blip r:embed="rId8">
            <a:alphaModFix/>
          </a:blip>
          <a:srcRect/>
          <a:stretch/>
        </p:blipFill>
        <p:spPr>
          <a:xfrm>
            <a:off x="571500" y="4533900"/>
            <a:ext cx="142875" cy="247650"/>
          </a:xfrm>
          <a:prstGeom prst="rect">
            <a:avLst/>
          </a:prstGeom>
          <a:noFill/>
          <a:ln>
            <a:noFill/>
          </a:ln>
        </p:spPr>
      </p:pic>
      <p:pic>
        <p:nvPicPr>
          <p:cNvPr id="118" name="Google Shape;118;p15" descr="image.png"/>
          <p:cNvPicPr preferRelativeResize="0"/>
          <p:nvPr/>
        </p:nvPicPr>
        <p:blipFill rotWithShape="1">
          <a:blip r:embed="rId8">
            <a:alphaModFix/>
          </a:blip>
          <a:srcRect/>
          <a:stretch/>
        </p:blipFill>
        <p:spPr>
          <a:xfrm>
            <a:off x="571500" y="5086350"/>
            <a:ext cx="142875" cy="247650"/>
          </a:xfrm>
          <a:prstGeom prst="rect">
            <a:avLst/>
          </a:prstGeom>
          <a:noFill/>
          <a:ln>
            <a:noFill/>
          </a:ln>
        </p:spPr>
      </p:pic>
      <p:sp>
        <p:nvSpPr>
          <p:cNvPr id="119" name="Google Shape;119;p15"/>
          <p:cNvSpPr txBox="1"/>
          <p:nvPr/>
        </p:nvSpPr>
        <p:spPr>
          <a:xfrm>
            <a:off x="571500" y="476250"/>
            <a:ext cx="11601450" cy="523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0" i="0" u="none" strike="noStrike" cap="none">
                <a:solidFill>
                  <a:srgbClr val="E6EDF3"/>
                </a:solidFill>
                <a:latin typeface="Urbanist SemiBold"/>
                <a:ea typeface="Urbanist SemiBold"/>
                <a:cs typeface="Urbanist SemiBold"/>
                <a:sym typeface="Urbanist SemiBold"/>
              </a:rPr>
              <a:t>Mini-Quiz 2: </a:t>
            </a:r>
            <a:r>
              <a:rPr lang="en-US" sz="3300" b="0" i="0" u="none" strike="noStrike" cap="none">
                <a:solidFill>
                  <a:srgbClr val="3FB950"/>
                </a:solidFill>
                <a:latin typeface="Urbanist SemiBold"/>
                <a:ea typeface="Urbanist SemiBold"/>
                <a:cs typeface="Urbanist SemiBold"/>
                <a:sym typeface="Urbanist SemiBold"/>
              </a:rPr>
              <a:t>Boolean Propositions</a:t>
            </a:r>
            <a:endParaRPr/>
          </a:p>
        </p:txBody>
      </p:sp>
      <p:sp>
        <p:nvSpPr>
          <p:cNvPr id="120" name="Google Shape;120;p15"/>
          <p:cNvSpPr/>
          <p:nvPr/>
        </p:nvSpPr>
        <p:spPr>
          <a:xfrm>
            <a:off x="571500" y="1123950"/>
            <a:ext cx="11049000" cy="19050"/>
          </a:xfrm>
          <a:prstGeom prst="rect">
            <a:avLst/>
          </a:prstGeom>
          <a:solidFill>
            <a:srgbClr val="30363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Shape 124"/>
        <p:cNvGrpSpPr/>
        <p:nvPr/>
      </p:nvGrpSpPr>
      <p:grpSpPr>
        <a:xfrm>
          <a:off x="0" y="0"/>
          <a:ext cx="0" cy="0"/>
          <a:chOff x="0" y="0"/>
          <a:chExt cx="0" cy="0"/>
        </a:xfrm>
      </p:grpSpPr>
      <p:pic>
        <p:nvPicPr>
          <p:cNvPr id="125" name="Google Shape;125;p16" descr="image.png"/>
          <p:cNvPicPr preferRelativeResize="0"/>
          <p:nvPr/>
        </p:nvPicPr>
        <p:blipFill rotWithShape="1">
          <a:blip r:embed="rId3">
            <a:alphaModFix/>
          </a:blip>
          <a:srcRect/>
          <a:stretch/>
        </p:blipFill>
        <p:spPr>
          <a:xfrm>
            <a:off x="571500" y="2019300"/>
            <a:ext cx="11049000" cy="2486025"/>
          </a:xfrm>
          <a:prstGeom prst="rect">
            <a:avLst/>
          </a:prstGeom>
          <a:noFill/>
          <a:ln>
            <a:noFill/>
          </a:ln>
        </p:spPr>
      </p:pic>
      <p:sp>
        <p:nvSpPr>
          <p:cNvPr id="126" name="Google Shape;126;p16"/>
          <p:cNvSpPr txBox="1"/>
          <p:nvPr/>
        </p:nvSpPr>
        <p:spPr>
          <a:xfrm>
            <a:off x="6077275" y="3114638"/>
            <a:ext cx="5909700" cy="23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F0883E"/>
                </a:solidFill>
                <a:latin typeface="Urbanist"/>
                <a:ea typeface="Urbanist"/>
                <a:cs typeface="Urbanist"/>
                <a:sym typeface="Urbanist"/>
              </a:rPr>
              <a:t>Rule:</a:t>
            </a:r>
            <a:r>
              <a:rPr lang="en-US" sz="1500" b="0" i="0" u="none" strike="noStrike" cap="none">
                <a:solidFill>
                  <a:srgbClr val="F0883E"/>
                </a:solidFill>
                <a:latin typeface="Urbanist"/>
                <a:ea typeface="Urbanist"/>
                <a:cs typeface="Urbanist"/>
                <a:sym typeface="Urbanist"/>
              </a:rPr>
              <a:t> Use a single</a:t>
            </a:r>
            <a:r>
              <a:rPr lang="en-US" sz="1500">
                <a:solidFill>
                  <a:srgbClr val="F0883E"/>
                </a:solidFill>
                <a:latin typeface="Urbanist"/>
                <a:ea typeface="Urbanist"/>
                <a:cs typeface="Urbanist"/>
                <a:sym typeface="Urbanist"/>
              </a:rPr>
              <a:t>          </a:t>
            </a:r>
            <a:r>
              <a:rPr lang="en-US" sz="1500" b="0" i="0" u="none" strike="noStrike" cap="none">
                <a:solidFill>
                  <a:srgbClr val="F0883E"/>
                </a:solidFill>
                <a:latin typeface="Urbanist"/>
                <a:ea typeface="Urbanist"/>
                <a:cs typeface="Urbanist"/>
                <a:sym typeface="Urbanist"/>
              </a:rPr>
              <a:t>statement. You do not need an else.</a:t>
            </a:r>
            <a:endParaRPr/>
          </a:p>
        </p:txBody>
      </p:sp>
      <p:sp>
        <p:nvSpPr>
          <p:cNvPr id="127" name="Google Shape;127;p16"/>
          <p:cNvSpPr/>
          <p:nvPr/>
        </p:nvSpPr>
        <p:spPr>
          <a:xfrm>
            <a:off x="5527425" y="2924138"/>
            <a:ext cx="38100" cy="809700"/>
          </a:xfrm>
          <a:prstGeom prst="rect">
            <a:avLst/>
          </a:prstGeom>
          <a:solidFill>
            <a:srgbClr val="F0883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28" name="Google Shape;128;p16"/>
          <p:cNvSpPr txBox="1"/>
          <p:nvPr/>
        </p:nvSpPr>
        <p:spPr>
          <a:xfrm>
            <a:off x="819150" y="2266950"/>
            <a:ext cx="5030628"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0" i="0" u="none" strike="noStrike" cap="none">
                <a:solidFill>
                  <a:srgbClr val="58A6FF"/>
                </a:solidFill>
                <a:latin typeface="Urbanist SemiBold"/>
                <a:ea typeface="Urbanist SemiBold"/>
                <a:cs typeface="Urbanist SemiBold"/>
                <a:sym typeface="Urbanist SemiBold"/>
              </a:rPr>
              <a:t>Task Summary</a:t>
            </a:r>
            <a:endParaRPr/>
          </a:p>
        </p:txBody>
      </p:sp>
      <p:pic>
        <p:nvPicPr>
          <p:cNvPr id="129" name="Google Shape;129;p16" descr="image.png"/>
          <p:cNvPicPr preferRelativeResize="0"/>
          <p:nvPr/>
        </p:nvPicPr>
        <p:blipFill rotWithShape="1">
          <a:blip r:embed="rId4">
            <a:alphaModFix/>
          </a:blip>
          <a:srcRect/>
          <a:stretch/>
        </p:blipFill>
        <p:spPr>
          <a:xfrm>
            <a:off x="5803650" y="3114638"/>
            <a:ext cx="190500" cy="190500"/>
          </a:xfrm>
          <a:prstGeom prst="rect">
            <a:avLst/>
          </a:prstGeom>
          <a:noFill/>
          <a:ln>
            <a:noFill/>
          </a:ln>
        </p:spPr>
      </p:pic>
      <p:pic>
        <p:nvPicPr>
          <p:cNvPr id="130" name="Google Shape;130;p16" descr="image.png"/>
          <p:cNvPicPr preferRelativeResize="0"/>
          <p:nvPr/>
        </p:nvPicPr>
        <p:blipFill rotWithShape="1">
          <a:blip r:embed="rId5">
            <a:alphaModFix/>
          </a:blip>
          <a:srcRect/>
          <a:stretch/>
        </p:blipFill>
        <p:spPr>
          <a:xfrm>
            <a:off x="7544625" y="3082500"/>
            <a:ext cx="381000" cy="295275"/>
          </a:xfrm>
          <a:prstGeom prst="rect">
            <a:avLst/>
          </a:prstGeom>
          <a:noFill/>
          <a:ln>
            <a:noFill/>
          </a:ln>
        </p:spPr>
      </p:pic>
      <p:sp>
        <p:nvSpPr>
          <p:cNvPr id="131" name="Google Shape;131;p16"/>
          <p:cNvSpPr txBox="1"/>
          <p:nvPr/>
        </p:nvSpPr>
        <p:spPr>
          <a:xfrm>
            <a:off x="962025" y="2714625"/>
            <a:ext cx="95250" cy="3143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0" i="0" u="none" strike="noStrike" cap="none">
                <a:solidFill>
                  <a:srgbClr val="C9D1D9"/>
                </a:solidFill>
                <a:latin typeface="Urbanist"/>
                <a:ea typeface="Urbanist"/>
                <a:cs typeface="Urbanist"/>
                <a:sym typeface="Urbanist"/>
              </a:rPr>
              <a:t>1.</a:t>
            </a:r>
            <a:endParaRPr/>
          </a:p>
        </p:txBody>
      </p:sp>
      <p:sp>
        <p:nvSpPr>
          <p:cNvPr id="132" name="Google Shape;132;p16"/>
          <p:cNvSpPr txBox="1"/>
          <p:nvPr/>
        </p:nvSpPr>
        <p:spPr>
          <a:xfrm>
            <a:off x="1057275" y="2714625"/>
            <a:ext cx="4553100" cy="314400"/>
          </a:xfrm>
          <a:prstGeom prst="rect">
            <a:avLst/>
          </a:prstGeom>
          <a:noFill/>
          <a:ln>
            <a:noFill/>
          </a:ln>
        </p:spPr>
        <p:txBody>
          <a:bodyPr spcFirstLastPara="1" wrap="square" lIns="95250" tIns="0" rIns="0" bIns="0" anchor="t" anchorCtr="0">
            <a:spAutoFit/>
          </a:bodyPr>
          <a:lstStyle/>
          <a:p>
            <a:pPr marL="0" marR="0" lvl="0" indent="0" algn="l" rtl="0">
              <a:lnSpc>
                <a:spcPct val="150000"/>
              </a:lnSpc>
              <a:spcBef>
                <a:spcPts val="0"/>
              </a:spcBef>
              <a:spcAft>
                <a:spcPts val="0"/>
              </a:spcAft>
              <a:buNone/>
            </a:pPr>
            <a:r>
              <a:rPr lang="en-US" sz="1650" b="0" i="0" u="none" strike="noStrike" cap="none">
                <a:solidFill>
                  <a:srgbClr val="C9D1D9"/>
                </a:solidFill>
                <a:latin typeface="Urbanist"/>
                <a:ea typeface="Urbanist"/>
                <a:cs typeface="Urbanist"/>
                <a:sym typeface="Urbanist"/>
              </a:rPr>
              <a:t>Ask the user for their total shopping amount.</a:t>
            </a:r>
            <a:endParaRPr/>
          </a:p>
        </p:txBody>
      </p:sp>
      <p:sp>
        <p:nvSpPr>
          <p:cNvPr id="133" name="Google Shape;133;p16"/>
          <p:cNvSpPr txBox="1"/>
          <p:nvPr/>
        </p:nvSpPr>
        <p:spPr>
          <a:xfrm>
            <a:off x="904875" y="3171825"/>
            <a:ext cx="152400" cy="3143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0" i="0" u="none" strike="noStrike" cap="none">
                <a:solidFill>
                  <a:srgbClr val="C9D1D9"/>
                </a:solidFill>
                <a:latin typeface="Urbanist"/>
                <a:ea typeface="Urbanist"/>
                <a:cs typeface="Urbanist"/>
                <a:sym typeface="Urbanist"/>
              </a:rPr>
              <a:t>2.</a:t>
            </a:r>
            <a:endParaRPr/>
          </a:p>
        </p:txBody>
      </p:sp>
      <p:sp>
        <p:nvSpPr>
          <p:cNvPr id="134" name="Google Shape;134;p16"/>
          <p:cNvSpPr txBox="1"/>
          <p:nvPr/>
        </p:nvSpPr>
        <p:spPr>
          <a:xfrm>
            <a:off x="1057275" y="3171825"/>
            <a:ext cx="4552950" cy="628650"/>
          </a:xfrm>
          <a:prstGeom prst="rect">
            <a:avLst/>
          </a:prstGeom>
          <a:noFill/>
          <a:ln>
            <a:noFill/>
          </a:ln>
        </p:spPr>
        <p:txBody>
          <a:bodyPr spcFirstLastPara="1" wrap="square" lIns="152400" tIns="0" rIns="0" bIns="0" anchor="t" anchorCtr="0">
            <a:spAutoFit/>
          </a:bodyPr>
          <a:lstStyle/>
          <a:p>
            <a:pPr marL="0" marR="0" lvl="0" indent="0" algn="l" rtl="0">
              <a:lnSpc>
                <a:spcPct val="150000"/>
              </a:lnSpc>
              <a:spcBef>
                <a:spcPts val="0"/>
              </a:spcBef>
              <a:spcAft>
                <a:spcPts val="0"/>
              </a:spcAft>
              <a:buNone/>
            </a:pPr>
            <a:r>
              <a:rPr lang="en-US" sz="1650" b="0" i="0" u="none" strike="noStrike" cap="none">
                <a:solidFill>
                  <a:srgbClr val="C9D1D9"/>
                </a:solidFill>
                <a:latin typeface="Urbanist"/>
                <a:ea typeface="Urbanist"/>
                <a:cs typeface="Urbanist"/>
                <a:sym typeface="Urbanist"/>
              </a:rPr>
              <a:t>If the amount is strictly greater than 1000 TL, apply a flat 100 TL discount to the total.</a:t>
            </a:r>
            <a:endParaRPr/>
          </a:p>
        </p:txBody>
      </p:sp>
      <p:sp>
        <p:nvSpPr>
          <p:cNvPr id="135" name="Google Shape;135;p16"/>
          <p:cNvSpPr txBox="1"/>
          <p:nvPr/>
        </p:nvSpPr>
        <p:spPr>
          <a:xfrm>
            <a:off x="914400" y="3943350"/>
            <a:ext cx="142875" cy="3143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0" i="0" u="none" strike="noStrike" cap="none">
                <a:solidFill>
                  <a:srgbClr val="C9D1D9"/>
                </a:solidFill>
                <a:latin typeface="Urbanist"/>
                <a:ea typeface="Urbanist"/>
                <a:cs typeface="Urbanist"/>
                <a:sym typeface="Urbanist"/>
              </a:rPr>
              <a:t>3.</a:t>
            </a:r>
            <a:endParaRPr/>
          </a:p>
        </p:txBody>
      </p:sp>
      <p:sp>
        <p:nvSpPr>
          <p:cNvPr id="136" name="Google Shape;136;p16"/>
          <p:cNvSpPr txBox="1"/>
          <p:nvPr/>
        </p:nvSpPr>
        <p:spPr>
          <a:xfrm>
            <a:off x="1057275" y="3943350"/>
            <a:ext cx="4553100" cy="314400"/>
          </a:xfrm>
          <a:prstGeom prst="rect">
            <a:avLst/>
          </a:prstGeom>
          <a:noFill/>
          <a:ln>
            <a:noFill/>
          </a:ln>
        </p:spPr>
        <p:txBody>
          <a:bodyPr spcFirstLastPara="1" wrap="square" lIns="142875" tIns="0" rIns="0" bIns="0" anchor="t" anchorCtr="0">
            <a:spAutoFit/>
          </a:bodyPr>
          <a:lstStyle/>
          <a:p>
            <a:pPr marL="0" marR="0" lvl="0" indent="0" algn="l" rtl="0">
              <a:lnSpc>
                <a:spcPct val="150000"/>
              </a:lnSpc>
              <a:spcBef>
                <a:spcPts val="0"/>
              </a:spcBef>
              <a:spcAft>
                <a:spcPts val="0"/>
              </a:spcAft>
              <a:buNone/>
            </a:pPr>
            <a:r>
              <a:rPr lang="en-US" sz="1650" b="0" i="0" u="none" strike="noStrike" cap="none">
                <a:solidFill>
                  <a:srgbClr val="C9D1D9"/>
                </a:solidFill>
                <a:latin typeface="Urbanist"/>
                <a:ea typeface="Urbanist"/>
                <a:cs typeface="Urbanist"/>
                <a:sym typeface="Urbanist"/>
              </a:rPr>
              <a:t>Print the final amount to pay.</a:t>
            </a:r>
            <a:endParaRPr/>
          </a:p>
        </p:txBody>
      </p:sp>
      <p:sp>
        <p:nvSpPr>
          <p:cNvPr id="137" name="Google Shape;137;p16"/>
          <p:cNvSpPr txBox="1"/>
          <p:nvPr/>
        </p:nvSpPr>
        <p:spPr>
          <a:xfrm>
            <a:off x="571500" y="476250"/>
            <a:ext cx="11601450" cy="523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0" i="0" u="none" strike="noStrike" cap="none">
                <a:solidFill>
                  <a:srgbClr val="E6EDF3"/>
                </a:solidFill>
                <a:latin typeface="Urbanist SemiBold"/>
                <a:ea typeface="Urbanist SemiBold"/>
                <a:cs typeface="Urbanist SemiBold"/>
                <a:sym typeface="Urbanist SemiBold"/>
              </a:rPr>
              <a:t>Exercise 1: </a:t>
            </a:r>
            <a:r>
              <a:rPr lang="en-US" sz="3300" b="0" i="0" u="none" strike="noStrike" cap="none">
                <a:solidFill>
                  <a:srgbClr val="3FB950"/>
                </a:solidFill>
                <a:latin typeface="Urbanist SemiBold"/>
                <a:ea typeface="Urbanist SemiBold"/>
                <a:cs typeface="Urbanist SemiBold"/>
                <a:sym typeface="Urbanist SemiBold"/>
              </a:rPr>
              <a:t>The Discount</a:t>
            </a:r>
            <a:endParaRPr/>
          </a:p>
        </p:txBody>
      </p:sp>
      <p:sp>
        <p:nvSpPr>
          <p:cNvPr id="138" name="Google Shape;138;p16"/>
          <p:cNvSpPr/>
          <p:nvPr/>
        </p:nvSpPr>
        <p:spPr>
          <a:xfrm>
            <a:off x="571500" y="1123950"/>
            <a:ext cx="11049000" cy="19050"/>
          </a:xfrm>
          <a:prstGeom prst="rect">
            <a:avLst/>
          </a:prstGeom>
          <a:solidFill>
            <a:srgbClr val="30363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Shape 142"/>
        <p:cNvGrpSpPr/>
        <p:nvPr/>
      </p:nvGrpSpPr>
      <p:grpSpPr>
        <a:xfrm>
          <a:off x="0" y="0"/>
          <a:ext cx="0" cy="0"/>
          <a:chOff x="0" y="0"/>
          <a:chExt cx="0" cy="0"/>
        </a:xfrm>
      </p:grpSpPr>
      <p:sp>
        <p:nvSpPr>
          <p:cNvPr id="143" name="Google Shape;143;p17"/>
          <p:cNvSpPr txBox="1"/>
          <p:nvPr/>
        </p:nvSpPr>
        <p:spPr>
          <a:xfrm>
            <a:off x="571500" y="3086100"/>
            <a:ext cx="11008800" cy="6348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50" b="0" i="0" u="none" strike="noStrike" cap="none">
                <a:solidFill>
                  <a:srgbClr val="C9D1D9"/>
                </a:solidFill>
                <a:latin typeface="Urbanist"/>
                <a:ea typeface="Urbanist"/>
                <a:cs typeface="Urbanist"/>
                <a:sym typeface="Urbanist"/>
              </a:rPr>
              <a:t>Ask the user to enter an integer and determine if the number is Even (Çift) or Odd (Tek), then print the result. </a:t>
            </a:r>
            <a:endParaRPr sz="1650" b="0" i="0" u="none" strike="noStrike" cap="none">
              <a:solidFill>
                <a:srgbClr val="C9D1D9"/>
              </a:solidFill>
              <a:latin typeface="Urbanist"/>
              <a:ea typeface="Urbanist"/>
              <a:cs typeface="Urbanist"/>
              <a:sym typeface="Urbanist"/>
            </a:endParaRPr>
          </a:p>
          <a:p>
            <a:pPr marL="0" marR="0" lvl="0" indent="0" algn="l" rtl="0">
              <a:lnSpc>
                <a:spcPct val="150000"/>
              </a:lnSpc>
              <a:spcBef>
                <a:spcPts val="0"/>
              </a:spcBef>
              <a:spcAft>
                <a:spcPts val="0"/>
              </a:spcAft>
              <a:buNone/>
            </a:pPr>
            <a:r>
              <a:rPr lang="en-US" sz="1650" b="0" i="0" u="none" strike="noStrike" cap="none">
                <a:solidFill>
                  <a:srgbClr val="C9D1D9"/>
                </a:solidFill>
                <a:latin typeface="Urbanist"/>
                <a:ea typeface="Urbanist"/>
                <a:cs typeface="Urbanist"/>
                <a:sym typeface="Urbanist"/>
              </a:rPr>
              <a:t>Hint: Remember the modulo operator (</a:t>
            </a:r>
            <a:r>
              <a:rPr lang="en-US" sz="1650">
                <a:solidFill>
                  <a:srgbClr val="C9D1D9"/>
                </a:solidFill>
                <a:latin typeface="Urbanist"/>
                <a:ea typeface="Urbanist"/>
                <a:cs typeface="Urbanist"/>
                <a:sym typeface="Urbanist"/>
              </a:rPr>
              <a:t>       </a:t>
            </a:r>
            <a:r>
              <a:rPr lang="en-US" sz="1650" b="0" i="0" u="none" strike="noStrike" cap="none">
                <a:solidFill>
                  <a:srgbClr val="C9D1D9"/>
                </a:solidFill>
                <a:latin typeface="Urbanist"/>
                <a:ea typeface="Urbanist"/>
                <a:cs typeface="Urbanist"/>
                <a:sym typeface="Urbanist"/>
              </a:rPr>
              <a:t>)! What is the remainder when an even number is divided by 2?</a:t>
            </a:r>
            <a:endParaRPr/>
          </a:p>
        </p:txBody>
      </p:sp>
      <p:pic>
        <p:nvPicPr>
          <p:cNvPr id="144" name="Google Shape;144;p17" descr="image.png"/>
          <p:cNvPicPr preferRelativeResize="0"/>
          <p:nvPr/>
        </p:nvPicPr>
        <p:blipFill rotWithShape="1">
          <a:blip r:embed="rId3">
            <a:alphaModFix/>
          </a:blip>
          <a:srcRect/>
          <a:stretch/>
        </p:blipFill>
        <p:spPr>
          <a:xfrm>
            <a:off x="4147400" y="3429000"/>
            <a:ext cx="285750" cy="361950"/>
          </a:xfrm>
          <a:prstGeom prst="rect">
            <a:avLst/>
          </a:prstGeom>
          <a:noFill/>
          <a:ln>
            <a:noFill/>
          </a:ln>
        </p:spPr>
      </p:pic>
      <p:sp>
        <p:nvSpPr>
          <p:cNvPr id="145" name="Google Shape;145;p17"/>
          <p:cNvSpPr txBox="1"/>
          <p:nvPr/>
        </p:nvSpPr>
        <p:spPr>
          <a:xfrm>
            <a:off x="571500" y="571500"/>
            <a:ext cx="5200650" cy="1028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0" i="0" u="none" strike="noStrike" cap="none">
                <a:solidFill>
                  <a:srgbClr val="E6EDF3"/>
                </a:solidFill>
                <a:latin typeface="Urbanist SemiBold"/>
                <a:ea typeface="Urbanist SemiBold"/>
                <a:cs typeface="Urbanist SemiBold"/>
                <a:sym typeface="Urbanist SemiBold"/>
              </a:rPr>
              <a:t>Exercise 2:</a:t>
            </a:r>
            <a:br>
              <a:rPr lang="en-US" sz="1800" b="0" i="0" u="none" strike="noStrike" cap="none">
                <a:solidFill>
                  <a:schemeClr val="dk1"/>
                </a:solidFill>
                <a:latin typeface="Calibri"/>
                <a:ea typeface="Calibri"/>
                <a:cs typeface="Calibri"/>
                <a:sym typeface="Calibri"/>
              </a:rPr>
            </a:br>
            <a:r>
              <a:rPr lang="en-US" sz="3300" b="0" i="0" u="none" strike="noStrike" cap="none">
                <a:solidFill>
                  <a:srgbClr val="3FB950"/>
                </a:solidFill>
                <a:latin typeface="Urbanist SemiBold"/>
                <a:ea typeface="Urbanist SemiBold"/>
                <a:cs typeface="Urbanist SemiBold"/>
                <a:sym typeface="Urbanist SemiBold"/>
              </a:rPr>
              <a:t>Even or Odd?</a:t>
            </a:r>
            <a:endParaRPr/>
          </a:p>
        </p:txBody>
      </p:sp>
      <p:sp>
        <p:nvSpPr>
          <p:cNvPr id="146" name="Google Shape;146;p17"/>
          <p:cNvSpPr/>
          <p:nvPr/>
        </p:nvSpPr>
        <p:spPr>
          <a:xfrm>
            <a:off x="571500" y="1771650"/>
            <a:ext cx="4953000" cy="19050"/>
          </a:xfrm>
          <a:prstGeom prst="rect">
            <a:avLst/>
          </a:prstGeom>
          <a:solidFill>
            <a:srgbClr val="30363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Shape 150"/>
        <p:cNvGrpSpPr/>
        <p:nvPr/>
      </p:nvGrpSpPr>
      <p:grpSpPr>
        <a:xfrm>
          <a:off x="0" y="0"/>
          <a:ext cx="0" cy="0"/>
          <a:chOff x="0" y="0"/>
          <a:chExt cx="0" cy="0"/>
        </a:xfrm>
      </p:grpSpPr>
      <p:pic>
        <p:nvPicPr>
          <p:cNvPr id="151" name="Google Shape;151;p18" descr="image.png"/>
          <p:cNvPicPr preferRelativeResize="0"/>
          <p:nvPr/>
        </p:nvPicPr>
        <p:blipFill rotWithShape="1">
          <a:blip r:embed="rId3">
            <a:alphaModFix/>
          </a:blip>
          <a:srcRect/>
          <a:stretch/>
        </p:blipFill>
        <p:spPr>
          <a:xfrm>
            <a:off x="571500" y="2119300"/>
            <a:ext cx="10955875" cy="2305050"/>
          </a:xfrm>
          <a:prstGeom prst="rect">
            <a:avLst/>
          </a:prstGeom>
          <a:noFill/>
          <a:ln>
            <a:noFill/>
          </a:ln>
        </p:spPr>
      </p:pic>
      <p:sp>
        <p:nvSpPr>
          <p:cNvPr id="152" name="Google Shape;152;p18"/>
          <p:cNvSpPr txBox="1"/>
          <p:nvPr/>
        </p:nvSpPr>
        <p:spPr>
          <a:xfrm>
            <a:off x="6056663" y="3019413"/>
            <a:ext cx="4964100" cy="461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F0883E"/>
                </a:solidFill>
                <a:latin typeface="Urbanist"/>
                <a:ea typeface="Urbanist"/>
                <a:cs typeface="Urbanist"/>
                <a:sym typeface="Urbanist"/>
              </a:rPr>
              <a:t>Rule:</a:t>
            </a:r>
            <a:r>
              <a:rPr lang="en-US" sz="1500" b="0" i="0" u="none" strike="noStrike" cap="none">
                <a:solidFill>
                  <a:srgbClr val="F0883E"/>
                </a:solidFill>
                <a:latin typeface="Urbanist"/>
                <a:ea typeface="Urbanist"/>
                <a:cs typeface="Urbanist"/>
                <a:sym typeface="Urbanist"/>
              </a:rPr>
              <a:t> Use an if-else block. Do NOT use Python's built-in a</a:t>
            </a:r>
            <a:r>
              <a:rPr lang="en-US" sz="1500">
                <a:solidFill>
                  <a:srgbClr val="F0883E"/>
                </a:solidFill>
                <a:latin typeface="Urbanist"/>
                <a:ea typeface="Urbanist"/>
                <a:cs typeface="Urbanist"/>
                <a:sym typeface="Urbanist"/>
              </a:rPr>
              <a:t>bs()</a:t>
            </a:r>
            <a:r>
              <a:rPr lang="en-US" sz="1500" b="0" i="0" u="none" strike="noStrike" cap="none">
                <a:solidFill>
                  <a:srgbClr val="F0883E"/>
                </a:solidFill>
                <a:latin typeface="Urbanist"/>
                <a:ea typeface="Urbanist"/>
                <a:cs typeface="Urbanist"/>
                <a:sym typeface="Urbanist"/>
              </a:rPr>
              <a:t>                    function</a:t>
            </a:r>
            <a:r>
              <a:rPr lang="en-US" sz="1500">
                <a:solidFill>
                  <a:srgbClr val="F0883E"/>
                </a:solidFill>
                <a:latin typeface="Urbanist"/>
                <a:ea typeface="Urbanist"/>
                <a:cs typeface="Urbanist"/>
                <a:sym typeface="Urbanist"/>
              </a:rPr>
              <a:t>.</a:t>
            </a:r>
            <a:r>
              <a:rPr lang="en-US" sz="1500" b="0" i="0" u="none" strike="noStrike" cap="none">
                <a:solidFill>
                  <a:srgbClr val="F0883E"/>
                </a:solidFill>
                <a:latin typeface="Urbanist"/>
                <a:ea typeface="Urbanist"/>
                <a:cs typeface="Urbanist"/>
                <a:sym typeface="Urbanist"/>
              </a:rPr>
              <a:t>Build the logic yourself!</a:t>
            </a:r>
            <a:endParaRPr/>
          </a:p>
        </p:txBody>
      </p:sp>
      <p:sp>
        <p:nvSpPr>
          <p:cNvPr id="153" name="Google Shape;153;p18"/>
          <p:cNvSpPr/>
          <p:nvPr/>
        </p:nvSpPr>
        <p:spPr>
          <a:xfrm>
            <a:off x="5775750" y="2876550"/>
            <a:ext cx="38100" cy="790500"/>
          </a:xfrm>
          <a:prstGeom prst="rect">
            <a:avLst/>
          </a:prstGeom>
          <a:solidFill>
            <a:srgbClr val="F0883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54" name="Google Shape;154;p18"/>
          <p:cNvSpPr txBox="1"/>
          <p:nvPr/>
        </p:nvSpPr>
        <p:spPr>
          <a:xfrm>
            <a:off x="819150" y="2366962"/>
            <a:ext cx="5030628"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0" i="0" u="none" strike="noStrike" cap="none">
                <a:solidFill>
                  <a:srgbClr val="58A6FF"/>
                </a:solidFill>
                <a:latin typeface="Urbanist SemiBold"/>
                <a:ea typeface="Urbanist SemiBold"/>
                <a:cs typeface="Urbanist SemiBold"/>
                <a:sym typeface="Urbanist SemiBold"/>
              </a:rPr>
              <a:t>Mathematical Task</a:t>
            </a:r>
            <a:endParaRPr/>
          </a:p>
        </p:txBody>
      </p:sp>
      <p:sp>
        <p:nvSpPr>
          <p:cNvPr id="155" name="Google Shape;155;p18"/>
          <p:cNvSpPr txBox="1"/>
          <p:nvPr/>
        </p:nvSpPr>
        <p:spPr>
          <a:xfrm>
            <a:off x="819150" y="2814637"/>
            <a:ext cx="4791075" cy="31432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50" b="0" i="0" u="none" strike="noStrike" cap="none">
                <a:solidFill>
                  <a:srgbClr val="C9D1D9"/>
                </a:solidFill>
                <a:latin typeface="Urbanist"/>
                <a:ea typeface="Urbanist"/>
                <a:cs typeface="Urbanist"/>
                <a:sym typeface="Urbanist"/>
              </a:rPr>
              <a:t>Ask the user to enter an integer.</a:t>
            </a:r>
            <a:endParaRPr/>
          </a:p>
        </p:txBody>
      </p:sp>
      <p:sp>
        <p:nvSpPr>
          <p:cNvPr id="156" name="Google Shape;156;p18"/>
          <p:cNvSpPr txBox="1"/>
          <p:nvPr/>
        </p:nvSpPr>
        <p:spPr>
          <a:xfrm>
            <a:off x="819150" y="3224212"/>
            <a:ext cx="4791075" cy="31432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50" b="0" i="0" u="none" strike="noStrike" cap="none">
                <a:solidFill>
                  <a:srgbClr val="C9D1D9"/>
                </a:solidFill>
                <a:latin typeface="Urbanist"/>
                <a:ea typeface="Urbanist"/>
                <a:cs typeface="Urbanist"/>
                <a:sym typeface="Urbanist"/>
              </a:rPr>
              <a:t>Calculate its mathematical absolute value:</a:t>
            </a:r>
            <a:endParaRPr/>
          </a:p>
        </p:txBody>
      </p:sp>
      <p:sp>
        <p:nvSpPr>
          <p:cNvPr id="157" name="Google Shape;157;p18"/>
          <p:cNvSpPr txBox="1"/>
          <p:nvPr/>
        </p:nvSpPr>
        <p:spPr>
          <a:xfrm>
            <a:off x="819150" y="3862387"/>
            <a:ext cx="4791075" cy="31432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50" b="0" i="0" u="none" strike="noStrike" cap="none">
                <a:solidFill>
                  <a:srgbClr val="C9D1D9"/>
                </a:solidFill>
                <a:latin typeface="Urbanist"/>
                <a:ea typeface="Urbanist"/>
                <a:cs typeface="Urbanist"/>
                <a:sym typeface="Urbanist"/>
              </a:rPr>
              <a:t>Print the result.</a:t>
            </a:r>
            <a:endParaRPr/>
          </a:p>
        </p:txBody>
      </p:sp>
      <p:pic>
        <p:nvPicPr>
          <p:cNvPr id="158" name="Google Shape;158;p18" descr="image.png"/>
          <p:cNvPicPr preferRelativeResize="0"/>
          <p:nvPr/>
        </p:nvPicPr>
        <p:blipFill rotWithShape="1">
          <a:blip r:embed="rId4">
            <a:alphaModFix/>
          </a:blip>
          <a:srcRect/>
          <a:stretch/>
        </p:blipFill>
        <p:spPr>
          <a:xfrm>
            <a:off x="5840013" y="3045849"/>
            <a:ext cx="190500" cy="190500"/>
          </a:xfrm>
          <a:prstGeom prst="rect">
            <a:avLst/>
          </a:prstGeom>
          <a:noFill/>
          <a:ln>
            <a:noFill/>
          </a:ln>
        </p:spPr>
      </p:pic>
      <p:pic>
        <p:nvPicPr>
          <p:cNvPr id="159" name="Google Shape;159;p18" descr="image.png"/>
          <p:cNvPicPr preferRelativeResize="0"/>
          <p:nvPr/>
        </p:nvPicPr>
        <p:blipFill rotWithShape="1">
          <a:blip r:embed="rId5">
            <a:alphaModFix/>
          </a:blip>
          <a:srcRect/>
          <a:stretch/>
        </p:blipFill>
        <p:spPr>
          <a:xfrm>
            <a:off x="892300" y="3538537"/>
            <a:ext cx="536078" cy="238125"/>
          </a:xfrm>
          <a:prstGeom prst="rect">
            <a:avLst/>
          </a:prstGeom>
          <a:noFill/>
          <a:ln>
            <a:noFill/>
          </a:ln>
        </p:spPr>
      </p:pic>
      <p:sp>
        <p:nvSpPr>
          <p:cNvPr id="160" name="Google Shape;160;p18"/>
          <p:cNvSpPr txBox="1"/>
          <p:nvPr/>
        </p:nvSpPr>
        <p:spPr>
          <a:xfrm>
            <a:off x="571500" y="476250"/>
            <a:ext cx="11601450" cy="523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0" i="0" u="none" strike="noStrike" cap="none">
                <a:solidFill>
                  <a:srgbClr val="E6EDF3"/>
                </a:solidFill>
                <a:latin typeface="Urbanist SemiBold"/>
                <a:ea typeface="Urbanist SemiBold"/>
                <a:cs typeface="Urbanist SemiBold"/>
                <a:sym typeface="Urbanist SemiBold"/>
              </a:rPr>
              <a:t>Exercise 3: </a:t>
            </a:r>
            <a:r>
              <a:rPr lang="en-US" sz="3300" b="0" i="0" u="none" strike="noStrike" cap="none">
                <a:solidFill>
                  <a:srgbClr val="3FB950"/>
                </a:solidFill>
                <a:latin typeface="Urbanist SemiBold"/>
                <a:ea typeface="Urbanist SemiBold"/>
                <a:cs typeface="Urbanist SemiBold"/>
                <a:sym typeface="Urbanist SemiBold"/>
              </a:rPr>
              <a:t>Absolute Value</a:t>
            </a:r>
            <a:endParaRPr/>
          </a:p>
        </p:txBody>
      </p:sp>
      <p:sp>
        <p:nvSpPr>
          <p:cNvPr id="161" name="Google Shape;161;p18"/>
          <p:cNvSpPr/>
          <p:nvPr/>
        </p:nvSpPr>
        <p:spPr>
          <a:xfrm>
            <a:off x="571500" y="1123950"/>
            <a:ext cx="11049000" cy="19050"/>
          </a:xfrm>
          <a:prstGeom prst="rect">
            <a:avLst/>
          </a:prstGeom>
          <a:solidFill>
            <a:srgbClr val="30363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Shape 165"/>
        <p:cNvGrpSpPr/>
        <p:nvPr/>
      </p:nvGrpSpPr>
      <p:grpSpPr>
        <a:xfrm>
          <a:off x="0" y="0"/>
          <a:ext cx="0" cy="0"/>
          <a:chOff x="0" y="0"/>
          <a:chExt cx="0" cy="0"/>
        </a:xfrm>
      </p:grpSpPr>
      <p:pic>
        <p:nvPicPr>
          <p:cNvPr id="166" name="Google Shape;166;p19" descr="image.png"/>
          <p:cNvPicPr preferRelativeResize="0"/>
          <p:nvPr/>
        </p:nvPicPr>
        <p:blipFill rotWithShape="1">
          <a:blip r:embed="rId3">
            <a:alphaModFix/>
          </a:blip>
          <a:srcRect/>
          <a:stretch/>
        </p:blipFill>
        <p:spPr>
          <a:xfrm>
            <a:off x="571500" y="3274218"/>
            <a:ext cx="3524250" cy="1909613"/>
          </a:xfrm>
          <a:prstGeom prst="rect">
            <a:avLst/>
          </a:prstGeom>
          <a:noFill/>
          <a:ln>
            <a:noFill/>
          </a:ln>
        </p:spPr>
      </p:pic>
      <p:pic>
        <p:nvPicPr>
          <p:cNvPr id="167" name="Google Shape;167;p19" descr="image.png"/>
          <p:cNvPicPr preferRelativeResize="0"/>
          <p:nvPr/>
        </p:nvPicPr>
        <p:blipFill rotWithShape="1">
          <a:blip r:embed="rId4">
            <a:alphaModFix/>
          </a:blip>
          <a:srcRect/>
          <a:stretch/>
        </p:blipFill>
        <p:spPr>
          <a:xfrm>
            <a:off x="4333875" y="3274218"/>
            <a:ext cx="3524250" cy="1909613"/>
          </a:xfrm>
          <a:prstGeom prst="rect">
            <a:avLst/>
          </a:prstGeom>
          <a:noFill/>
          <a:ln>
            <a:noFill/>
          </a:ln>
        </p:spPr>
      </p:pic>
      <p:pic>
        <p:nvPicPr>
          <p:cNvPr id="168" name="Google Shape;168;p19" descr="image.png"/>
          <p:cNvPicPr preferRelativeResize="0"/>
          <p:nvPr/>
        </p:nvPicPr>
        <p:blipFill rotWithShape="1">
          <a:blip r:embed="rId5">
            <a:alphaModFix/>
          </a:blip>
          <a:srcRect/>
          <a:stretch/>
        </p:blipFill>
        <p:spPr>
          <a:xfrm>
            <a:off x="8096250" y="3274218"/>
            <a:ext cx="3524250" cy="1909613"/>
          </a:xfrm>
          <a:prstGeom prst="rect">
            <a:avLst/>
          </a:prstGeom>
          <a:noFill/>
          <a:ln>
            <a:noFill/>
          </a:ln>
        </p:spPr>
      </p:pic>
      <p:sp>
        <p:nvSpPr>
          <p:cNvPr id="169" name="Google Shape;169;p19"/>
          <p:cNvSpPr txBox="1"/>
          <p:nvPr/>
        </p:nvSpPr>
        <p:spPr>
          <a:xfrm>
            <a:off x="571500" y="2626518"/>
            <a:ext cx="11049000" cy="2541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50" b="0" i="0" u="none" strike="noStrike" cap="none">
                <a:solidFill>
                  <a:srgbClr val="C9D1D9"/>
                </a:solidFill>
                <a:latin typeface="Urbanist"/>
                <a:ea typeface="Urbanist"/>
                <a:cs typeface="Urbanist"/>
                <a:sym typeface="Urbanist"/>
              </a:rPr>
              <a:t>Ask the user for a float          and calculate </a:t>
            </a:r>
            <a:r>
              <a:rPr lang="en-US" sz="1650" b="0" i="0" u="none" strike="noStrike" cap="none">
                <a:solidFill>
                  <a:srgbClr val="58A6FF"/>
                </a:solidFill>
                <a:latin typeface="Urbanist"/>
                <a:ea typeface="Urbanist"/>
                <a:cs typeface="Urbanist"/>
                <a:sym typeface="Urbanist"/>
              </a:rPr>
              <a:t>f(x)</a:t>
            </a:r>
            <a:r>
              <a:rPr lang="en-US" sz="1650" b="0" i="0" u="none" strike="noStrike" cap="none">
                <a:solidFill>
                  <a:srgbClr val="C9D1D9"/>
                </a:solidFill>
                <a:latin typeface="Urbanist"/>
                <a:ea typeface="Urbanist"/>
                <a:cs typeface="Urbanist"/>
                <a:sym typeface="Urbanist"/>
              </a:rPr>
              <a:t> using an if-elif-else structure.</a:t>
            </a:r>
            <a:endParaRPr/>
          </a:p>
        </p:txBody>
      </p:sp>
      <p:pic>
        <p:nvPicPr>
          <p:cNvPr id="170" name="Google Shape;170;p19" descr="image.png"/>
          <p:cNvPicPr preferRelativeResize="0"/>
          <p:nvPr/>
        </p:nvPicPr>
        <p:blipFill rotWithShape="1">
          <a:blip r:embed="rId6">
            <a:alphaModFix/>
          </a:blip>
          <a:srcRect/>
          <a:stretch/>
        </p:blipFill>
        <p:spPr>
          <a:xfrm>
            <a:off x="2622228" y="2629037"/>
            <a:ext cx="285750" cy="361950"/>
          </a:xfrm>
          <a:prstGeom prst="rect">
            <a:avLst/>
          </a:prstGeom>
          <a:noFill/>
          <a:ln>
            <a:noFill/>
          </a:ln>
        </p:spPr>
      </p:pic>
      <p:sp>
        <p:nvSpPr>
          <p:cNvPr id="171" name="Google Shape;171;p19"/>
          <p:cNvSpPr txBox="1"/>
          <p:nvPr/>
        </p:nvSpPr>
        <p:spPr>
          <a:xfrm>
            <a:off x="1703546" y="3569493"/>
            <a:ext cx="1260157" cy="3048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950" b="0" i="0" u="none" strike="noStrike" cap="none">
                <a:solidFill>
                  <a:srgbClr val="58A6FF"/>
                </a:solidFill>
                <a:latin typeface="Urbanist SemiBold"/>
                <a:ea typeface="Urbanist SemiBold"/>
                <a:cs typeface="Urbanist SemiBold"/>
                <a:sym typeface="Urbanist SemiBold"/>
              </a:rPr>
              <a:t>Condition 1</a:t>
            </a:r>
            <a:endParaRPr/>
          </a:p>
        </p:txBody>
      </p:sp>
      <p:sp>
        <p:nvSpPr>
          <p:cNvPr id="172" name="Google Shape;172;p19"/>
          <p:cNvSpPr txBox="1"/>
          <p:nvPr/>
        </p:nvSpPr>
        <p:spPr>
          <a:xfrm>
            <a:off x="2043112" y="4017168"/>
            <a:ext cx="581025" cy="28575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500" b="0" i="0" u="none" strike="noStrike" cap="none">
                <a:solidFill>
                  <a:srgbClr val="8B949E"/>
                </a:solidFill>
                <a:latin typeface="Urbanist"/>
                <a:ea typeface="Urbanist"/>
                <a:cs typeface="Urbanist"/>
                <a:sym typeface="Urbanist"/>
              </a:rPr>
              <a:t>if x &lt; 0</a:t>
            </a:r>
            <a:endParaRPr/>
          </a:p>
        </p:txBody>
      </p:sp>
      <p:sp>
        <p:nvSpPr>
          <p:cNvPr id="173" name="Google Shape;173;p19"/>
          <p:cNvSpPr txBox="1"/>
          <p:nvPr/>
        </p:nvSpPr>
        <p:spPr>
          <a:xfrm>
            <a:off x="5430916" y="3569493"/>
            <a:ext cx="1330166" cy="3048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950" b="0" i="0" u="none" strike="noStrike" cap="none">
                <a:solidFill>
                  <a:srgbClr val="58A6FF"/>
                </a:solidFill>
                <a:latin typeface="Urbanist SemiBold"/>
                <a:ea typeface="Urbanist SemiBold"/>
                <a:cs typeface="Urbanist SemiBold"/>
                <a:sym typeface="Urbanist SemiBold"/>
              </a:rPr>
              <a:t>Condition 2</a:t>
            </a:r>
            <a:endParaRPr/>
          </a:p>
        </p:txBody>
      </p:sp>
      <p:sp>
        <p:nvSpPr>
          <p:cNvPr id="174" name="Google Shape;174;p19"/>
          <p:cNvSpPr txBox="1"/>
          <p:nvPr/>
        </p:nvSpPr>
        <p:spPr>
          <a:xfrm>
            <a:off x="5624512" y="4017168"/>
            <a:ext cx="942826" cy="28575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500" b="0" i="0" u="none" strike="noStrike" cap="none">
                <a:solidFill>
                  <a:srgbClr val="8B949E"/>
                </a:solidFill>
                <a:latin typeface="Urbanist"/>
                <a:ea typeface="Urbanist"/>
                <a:cs typeface="Urbanist"/>
                <a:sym typeface="Urbanist"/>
              </a:rPr>
              <a:t>if 0 ≤ x &lt; 10</a:t>
            </a:r>
            <a:endParaRPr/>
          </a:p>
        </p:txBody>
      </p:sp>
      <p:sp>
        <p:nvSpPr>
          <p:cNvPr id="175" name="Google Shape;175;p19"/>
          <p:cNvSpPr txBox="1"/>
          <p:nvPr/>
        </p:nvSpPr>
        <p:spPr>
          <a:xfrm>
            <a:off x="9203293" y="3569493"/>
            <a:ext cx="1310163" cy="3048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950" b="0" i="0" u="none" strike="noStrike" cap="none">
                <a:solidFill>
                  <a:srgbClr val="58A6FF"/>
                </a:solidFill>
                <a:latin typeface="Urbanist SemiBold"/>
                <a:ea typeface="Urbanist SemiBold"/>
                <a:cs typeface="Urbanist SemiBold"/>
                <a:sym typeface="Urbanist SemiBold"/>
              </a:rPr>
              <a:t>Condition 3</a:t>
            </a:r>
            <a:endParaRPr/>
          </a:p>
        </p:txBody>
      </p:sp>
      <p:sp>
        <p:nvSpPr>
          <p:cNvPr id="176" name="Google Shape;176;p19"/>
          <p:cNvSpPr txBox="1"/>
          <p:nvPr/>
        </p:nvSpPr>
        <p:spPr>
          <a:xfrm>
            <a:off x="9548812" y="4017168"/>
            <a:ext cx="618976" cy="285750"/>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500" b="0" i="0" u="none" strike="noStrike" cap="none">
                <a:solidFill>
                  <a:srgbClr val="8B949E"/>
                </a:solidFill>
                <a:latin typeface="Urbanist"/>
                <a:ea typeface="Urbanist"/>
                <a:cs typeface="Urbanist"/>
                <a:sym typeface="Urbanist"/>
              </a:rPr>
              <a:t>if x ≥ 10</a:t>
            </a:r>
            <a:endParaRPr/>
          </a:p>
        </p:txBody>
      </p:sp>
      <p:pic>
        <p:nvPicPr>
          <p:cNvPr id="177" name="Google Shape;177;p19" descr="image.png"/>
          <p:cNvPicPr preferRelativeResize="0"/>
          <p:nvPr/>
        </p:nvPicPr>
        <p:blipFill rotWithShape="1">
          <a:blip r:embed="rId7">
            <a:alphaModFix/>
          </a:blip>
          <a:srcRect/>
          <a:stretch/>
        </p:blipFill>
        <p:spPr>
          <a:xfrm>
            <a:off x="1606748" y="4453383"/>
            <a:ext cx="1453753" cy="349448"/>
          </a:xfrm>
          <a:prstGeom prst="rect">
            <a:avLst/>
          </a:prstGeom>
          <a:noFill/>
          <a:ln>
            <a:noFill/>
          </a:ln>
        </p:spPr>
      </p:pic>
      <p:pic>
        <p:nvPicPr>
          <p:cNvPr id="178" name="Google Shape;178;p19" descr="image.png"/>
          <p:cNvPicPr preferRelativeResize="0"/>
          <p:nvPr/>
        </p:nvPicPr>
        <p:blipFill rotWithShape="1">
          <a:blip r:embed="rId8">
            <a:alphaModFix/>
          </a:blip>
          <a:srcRect/>
          <a:stretch/>
        </p:blipFill>
        <p:spPr>
          <a:xfrm>
            <a:off x="5451723" y="4517082"/>
            <a:ext cx="1288405" cy="285750"/>
          </a:xfrm>
          <a:prstGeom prst="rect">
            <a:avLst/>
          </a:prstGeom>
          <a:noFill/>
          <a:ln>
            <a:noFill/>
          </a:ln>
        </p:spPr>
      </p:pic>
      <p:pic>
        <p:nvPicPr>
          <p:cNvPr id="179" name="Google Shape;179;p19" descr="image.png"/>
          <p:cNvPicPr preferRelativeResize="0"/>
          <p:nvPr/>
        </p:nvPicPr>
        <p:blipFill rotWithShape="1">
          <a:blip r:embed="rId9">
            <a:alphaModFix/>
          </a:blip>
          <a:srcRect/>
          <a:stretch/>
        </p:blipFill>
        <p:spPr>
          <a:xfrm>
            <a:off x="9130456" y="4512468"/>
            <a:ext cx="1455687" cy="299888"/>
          </a:xfrm>
          <a:prstGeom prst="rect">
            <a:avLst/>
          </a:prstGeom>
          <a:noFill/>
          <a:ln>
            <a:noFill/>
          </a:ln>
        </p:spPr>
      </p:pic>
      <p:sp>
        <p:nvSpPr>
          <p:cNvPr id="180" name="Google Shape;180;p19"/>
          <p:cNvSpPr txBox="1"/>
          <p:nvPr/>
        </p:nvSpPr>
        <p:spPr>
          <a:xfrm>
            <a:off x="571500" y="476250"/>
            <a:ext cx="11601450" cy="523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0" i="0" u="none" strike="noStrike" cap="none">
                <a:solidFill>
                  <a:srgbClr val="E6EDF3"/>
                </a:solidFill>
                <a:latin typeface="Urbanist SemiBold"/>
                <a:ea typeface="Urbanist SemiBold"/>
                <a:cs typeface="Urbanist SemiBold"/>
                <a:sym typeface="Urbanist SemiBold"/>
              </a:rPr>
              <a:t>Exercise 4: </a:t>
            </a:r>
            <a:r>
              <a:rPr lang="en-US" sz="3300" b="0" i="0" u="none" strike="noStrike" cap="none">
                <a:solidFill>
                  <a:srgbClr val="3FB950"/>
                </a:solidFill>
                <a:latin typeface="Urbanist SemiBold"/>
                <a:ea typeface="Urbanist SemiBold"/>
                <a:cs typeface="Urbanist SemiBold"/>
                <a:sym typeface="Urbanist SemiBold"/>
              </a:rPr>
              <a:t>Piecewise Function</a:t>
            </a:r>
            <a:endParaRPr/>
          </a:p>
        </p:txBody>
      </p:sp>
      <p:sp>
        <p:nvSpPr>
          <p:cNvPr id="181" name="Google Shape;181;p19"/>
          <p:cNvSpPr/>
          <p:nvPr/>
        </p:nvSpPr>
        <p:spPr>
          <a:xfrm>
            <a:off x="571500" y="1123950"/>
            <a:ext cx="11049000" cy="19050"/>
          </a:xfrm>
          <a:prstGeom prst="rect">
            <a:avLst/>
          </a:prstGeom>
          <a:solidFill>
            <a:srgbClr val="30363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Shape 185"/>
        <p:cNvGrpSpPr/>
        <p:nvPr/>
      </p:nvGrpSpPr>
      <p:grpSpPr>
        <a:xfrm>
          <a:off x="0" y="0"/>
          <a:ext cx="0" cy="0"/>
          <a:chOff x="0" y="0"/>
          <a:chExt cx="0" cy="0"/>
        </a:xfrm>
      </p:grpSpPr>
      <p:pic>
        <p:nvPicPr>
          <p:cNvPr id="186" name="Google Shape;186;p20" descr="image.png"/>
          <p:cNvPicPr preferRelativeResize="0"/>
          <p:nvPr/>
        </p:nvPicPr>
        <p:blipFill rotWithShape="1">
          <a:blip r:embed="rId3">
            <a:alphaModFix/>
          </a:blip>
          <a:srcRect/>
          <a:stretch/>
        </p:blipFill>
        <p:spPr>
          <a:xfrm>
            <a:off x="571500" y="2228850"/>
            <a:ext cx="5381625" cy="3505200"/>
          </a:xfrm>
          <a:prstGeom prst="rect">
            <a:avLst/>
          </a:prstGeom>
          <a:noFill/>
          <a:ln>
            <a:noFill/>
          </a:ln>
        </p:spPr>
      </p:pic>
      <p:pic>
        <p:nvPicPr>
          <p:cNvPr id="187" name="Google Shape;187;p20" descr="image.png"/>
          <p:cNvPicPr preferRelativeResize="0"/>
          <p:nvPr/>
        </p:nvPicPr>
        <p:blipFill rotWithShape="1">
          <a:blip r:embed="rId4">
            <a:alphaModFix/>
          </a:blip>
          <a:srcRect/>
          <a:stretch/>
        </p:blipFill>
        <p:spPr>
          <a:xfrm>
            <a:off x="6238875" y="2228850"/>
            <a:ext cx="5381625" cy="3505200"/>
          </a:xfrm>
          <a:prstGeom prst="rect">
            <a:avLst/>
          </a:prstGeom>
          <a:noFill/>
          <a:ln>
            <a:noFill/>
          </a:ln>
        </p:spPr>
      </p:pic>
      <p:sp>
        <p:nvSpPr>
          <p:cNvPr id="188" name="Google Shape;188;p20"/>
          <p:cNvSpPr txBox="1"/>
          <p:nvPr/>
        </p:nvSpPr>
        <p:spPr>
          <a:xfrm>
            <a:off x="571500" y="6019800"/>
            <a:ext cx="11049000" cy="361950"/>
          </a:xfrm>
          <a:prstGeom prst="rect">
            <a:avLst/>
          </a:prstGeom>
          <a:noFill/>
          <a:ln>
            <a:noFill/>
          </a:ln>
        </p:spPr>
        <p:txBody>
          <a:bodyPr spcFirstLastPara="1" wrap="square" lIns="209550" tIns="0" rIns="0" bIns="0" anchor="t" anchorCtr="0">
            <a:spAutoFit/>
          </a:bodyPr>
          <a:lstStyle/>
          <a:p>
            <a:pPr marL="0" marR="0" lvl="0" indent="0" algn="l" rtl="0">
              <a:lnSpc>
                <a:spcPct val="150000"/>
              </a:lnSpc>
              <a:spcBef>
                <a:spcPts val="0"/>
              </a:spcBef>
              <a:spcAft>
                <a:spcPts val="0"/>
              </a:spcAft>
              <a:buNone/>
            </a:pPr>
            <a:r>
              <a:rPr lang="en-US" sz="1650" b="1" i="0" u="none" strike="noStrike" cap="none">
                <a:solidFill>
                  <a:srgbClr val="F0883E"/>
                </a:solidFill>
                <a:latin typeface="Urbanist"/>
                <a:ea typeface="Urbanist"/>
                <a:cs typeface="Urbanist"/>
                <a:sym typeface="Urbanist"/>
              </a:rPr>
              <a:t>Warning:</a:t>
            </a:r>
            <a:r>
              <a:rPr lang="en-US" sz="1650" b="0" i="0" u="none" strike="noStrike" cap="none">
                <a:solidFill>
                  <a:srgbClr val="F0883E"/>
                </a:solidFill>
                <a:latin typeface="Urbanist"/>
                <a:ea typeface="Urbanist"/>
                <a:cs typeface="Urbanist"/>
                <a:sym typeface="Urbanist"/>
              </a:rPr>
              <a:t> These are independent choices! One finishing does not stop the other. Do not link them with .</a:t>
            </a:r>
            <a:endParaRPr/>
          </a:p>
        </p:txBody>
      </p:sp>
      <p:pic>
        <p:nvPicPr>
          <p:cNvPr id="189" name="Google Shape;189;p20" descr="image.png"/>
          <p:cNvPicPr preferRelativeResize="0"/>
          <p:nvPr/>
        </p:nvPicPr>
        <p:blipFill rotWithShape="1">
          <a:blip r:embed="rId5">
            <a:alphaModFix/>
          </a:blip>
          <a:srcRect/>
          <a:stretch/>
        </p:blipFill>
        <p:spPr>
          <a:xfrm>
            <a:off x="847725" y="1590675"/>
            <a:ext cx="190500" cy="190500"/>
          </a:xfrm>
          <a:prstGeom prst="rect">
            <a:avLst/>
          </a:prstGeom>
          <a:noFill/>
          <a:ln>
            <a:noFill/>
          </a:ln>
        </p:spPr>
      </p:pic>
      <p:pic>
        <p:nvPicPr>
          <p:cNvPr id="190" name="Google Shape;190;p20" descr="image.png"/>
          <p:cNvPicPr preferRelativeResize="0"/>
          <p:nvPr/>
        </p:nvPicPr>
        <p:blipFill rotWithShape="1">
          <a:blip r:embed="rId6">
            <a:alphaModFix/>
          </a:blip>
          <a:srcRect/>
          <a:stretch/>
        </p:blipFill>
        <p:spPr>
          <a:xfrm>
            <a:off x="571500" y="6086475"/>
            <a:ext cx="209550" cy="209550"/>
          </a:xfrm>
          <a:prstGeom prst="rect">
            <a:avLst/>
          </a:prstGeom>
          <a:noFill/>
          <a:ln>
            <a:noFill/>
          </a:ln>
        </p:spPr>
      </p:pic>
      <p:pic>
        <p:nvPicPr>
          <p:cNvPr id="191" name="Google Shape;191;p20" descr="image.png"/>
          <p:cNvPicPr preferRelativeResize="0"/>
          <p:nvPr/>
        </p:nvPicPr>
        <p:blipFill rotWithShape="1">
          <a:blip r:embed="rId7">
            <a:alphaModFix/>
          </a:blip>
          <a:srcRect/>
          <a:stretch/>
        </p:blipFill>
        <p:spPr>
          <a:xfrm>
            <a:off x="10046800" y="5977550"/>
            <a:ext cx="628650" cy="361950"/>
          </a:xfrm>
          <a:prstGeom prst="rect">
            <a:avLst/>
          </a:prstGeom>
          <a:noFill/>
          <a:ln>
            <a:noFill/>
          </a:ln>
        </p:spPr>
      </p:pic>
      <p:sp>
        <p:nvSpPr>
          <p:cNvPr id="192" name="Google Shape;192;p20"/>
          <p:cNvSpPr txBox="1"/>
          <p:nvPr/>
        </p:nvSpPr>
        <p:spPr>
          <a:xfrm>
            <a:off x="866775" y="3695700"/>
            <a:ext cx="5030628"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0" i="0" u="none" strike="noStrike" cap="none">
                <a:solidFill>
                  <a:srgbClr val="58A6FF"/>
                </a:solidFill>
                <a:latin typeface="Urbanist SemiBold"/>
                <a:ea typeface="Urbanist SemiBold"/>
                <a:cs typeface="Urbanist SemiBold"/>
                <a:sym typeface="Urbanist SemiBold"/>
              </a:rPr>
              <a:t>Choice 1: Extra Milk</a:t>
            </a:r>
            <a:endParaRPr/>
          </a:p>
        </p:txBody>
      </p:sp>
      <p:sp>
        <p:nvSpPr>
          <p:cNvPr id="193" name="Google Shape;193;p20"/>
          <p:cNvSpPr txBox="1"/>
          <p:nvPr/>
        </p:nvSpPr>
        <p:spPr>
          <a:xfrm>
            <a:off x="866775" y="4143375"/>
            <a:ext cx="4791075" cy="31432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50" b="0" i="0" u="none" strike="noStrike" cap="none">
                <a:solidFill>
                  <a:srgbClr val="C9D1D9"/>
                </a:solidFill>
                <a:latin typeface="Urbanist"/>
                <a:ea typeface="Urbanist"/>
                <a:cs typeface="Urbanist"/>
                <a:sym typeface="Urbanist"/>
              </a:rPr>
              <a:t>Ask the user: "Do you want extra milk? (y/n)".</a:t>
            </a:r>
            <a:endParaRPr/>
          </a:p>
        </p:txBody>
      </p:sp>
      <p:sp>
        <p:nvSpPr>
          <p:cNvPr id="194" name="Google Shape;194;p20"/>
          <p:cNvSpPr txBox="1"/>
          <p:nvPr/>
        </p:nvSpPr>
        <p:spPr>
          <a:xfrm>
            <a:off x="866775" y="4600575"/>
            <a:ext cx="4791075" cy="31432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50" b="1" i="0" u="none" strike="noStrike" cap="none">
                <a:solidFill>
                  <a:srgbClr val="3FB950"/>
                </a:solidFill>
                <a:latin typeface="Urbanist"/>
                <a:ea typeface="Urbanist"/>
                <a:cs typeface="Urbanist"/>
                <a:sym typeface="Urbanist"/>
              </a:rPr>
              <a:t>If 'y', add 10 TL to the price.</a:t>
            </a:r>
            <a:endParaRPr/>
          </a:p>
        </p:txBody>
      </p:sp>
      <p:sp>
        <p:nvSpPr>
          <p:cNvPr id="195" name="Google Shape;195;p20"/>
          <p:cNvSpPr txBox="1"/>
          <p:nvPr/>
        </p:nvSpPr>
        <p:spPr>
          <a:xfrm>
            <a:off x="6534150" y="3695700"/>
            <a:ext cx="5030628"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0" i="0" u="none" strike="noStrike" cap="none">
                <a:solidFill>
                  <a:srgbClr val="58A6FF"/>
                </a:solidFill>
                <a:latin typeface="Urbanist SemiBold"/>
                <a:ea typeface="Urbanist SemiBold"/>
                <a:cs typeface="Urbanist SemiBold"/>
                <a:sym typeface="Urbanist SemiBold"/>
              </a:rPr>
              <a:t>Choice 2: Syrup</a:t>
            </a:r>
            <a:endParaRPr/>
          </a:p>
        </p:txBody>
      </p:sp>
      <p:sp>
        <p:nvSpPr>
          <p:cNvPr id="196" name="Google Shape;196;p20"/>
          <p:cNvSpPr txBox="1"/>
          <p:nvPr/>
        </p:nvSpPr>
        <p:spPr>
          <a:xfrm>
            <a:off x="6534150" y="4143375"/>
            <a:ext cx="4791075" cy="31432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50" b="0" i="0" u="none" strike="noStrike" cap="none">
                <a:solidFill>
                  <a:srgbClr val="C9D1D9"/>
                </a:solidFill>
                <a:latin typeface="Urbanist"/>
                <a:ea typeface="Urbanist"/>
                <a:cs typeface="Urbanist"/>
                <a:sym typeface="Urbanist"/>
              </a:rPr>
              <a:t>Ask the user: "Do you want syrup? (y/n)".</a:t>
            </a:r>
            <a:endParaRPr/>
          </a:p>
        </p:txBody>
      </p:sp>
      <p:sp>
        <p:nvSpPr>
          <p:cNvPr id="197" name="Google Shape;197;p20"/>
          <p:cNvSpPr txBox="1"/>
          <p:nvPr/>
        </p:nvSpPr>
        <p:spPr>
          <a:xfrm>
            <a:off x="6534150" y="4600575"/>
            <a:ext cx="4791075" cy="31432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50" b="1" i="0" u="none" strike="noStrike" cap="none">
                <a:solidFill>
                  <a:srgbClr val="3FB950"/>
                </a:solidFill>
                <a:latin typeface="Urbanist"/>
                <a:ea typeface="Urbanist"/>
                <a:cs typeface="Urbanist"/>
                <a:sym typeface="Urbanist"/>
              </a:rPr>
              <a:t>If 'y', add 15 TL to the price.</a:t>
            </a:r>
            <a:endParaRPr/>
          </a:p>
        </p:txBody>
      </p:sp>
      <p:pic>
        <p:nvPicPr>
          <p:cNvPr id="198" name="Google Shape;198;p20" descr="image.png"/>
          <p:cNvPicPr preferRelativeResize="0"/>
          <p:nvPr/>
        </p:nvPicPr>
        <p:blipFill rotWithShape="1">
          <a:blip r:embed="rId8">
            <a:alphaModFix/>
          </a:blip>
          <a:srcRect/>
          <a:stretch/>
        </p:blipFill>
        <p:spPr>
          <a:xfrm>
            <a:off x="866775" y="3076575"/>
            <a:ext cx="381000" cy="381000"/>
          </a:xfrm>
          <a:prstGeom prst="rect">
            <a:avLst/>
          </a:prstGeom>
          <a:noFill/>
          <a:ln>
            <a:noFill/>
          </a:ln>
        </p:spPr>
      </p:pic>
      <p:pic>
        <p:nvPicPr>
          <p:cNvPr id="199" name="Google Shape;199;p20" descr="image.png"/>
          <p:cNvPicPr preferRelativeResize="0"/>
          <p:nvPr/>
        </p:nvPicPr>
        <p:blipFill rotWithShape="1">
          <a:blip r:embed="rId9">
            <a:alphaModFix/>
          </a:blip>
          <a:srcRect/>
          <a:stretch/>
        </p:blipFill>
        <p:spPr>
          <a:xfrm>
            <a:off x="6534150" y="3076575"/>
            <a:ext cx="238125" cy="381000"/>
          </a:xfrm>
          <a:prstGeom prst="rect">
            <a:avLst/>
          </a:prstGeom>
          <a:noFill/>
          <a:ln>
            <a:noFill/>
          </a:ln>
        </p:spPr>
      </p:pic>
      <p:sp>
        <p:nvSpPr>
          <p:cNvPr id="200" name="Google Shape;200;p20"/>
          <p:cNvSpPr txBox="1"/>
          <p:nvPr/>
        </p:nvSpPr>
        <p:spPr>
          <a:xfrm>
            <a:off x="571500" y="476250"/>
            <a:ext cx="11601450" cy="523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0" i="0" u="none" strike="noStrike" cap="none">
                <a:solidFill>
                  <a:srgbClr val="E6EDF3"/>
                </a:solidFill>
                <a:latin typeface="Urbanist SemiBold"/>
                <a:ea typeface="Urbanist SemiBold"/>
                <a:cs typeface="Urbanist SemiBold"/>
                <a:sym typeface="Urbanist SemiBold"/>
              </a:rPr>
              <a:t>Exercise 5: </a:t>
            </a:r>
            <a:r>
              <a:rPr lang="en-US" sz="3300" b="0" i="0" u="none" strike="noStrike" cap="none">
                <a:solidFill>
                  <a:srgbClr val="3FB950"/>
                </a:solidFill>
                <a:latin typeface="Urbanist SemiBold"/>
                <a:ea typeface="Urbanist SemiBold"/>
                <a:cs typeface="Urbanist SemiBold"/>
                <a:sym typeface="Urbanist SemiBold"/>
              </a:rPr>
              <a:t>Coffee Shop Order</a:t>
            </a:r>
            <a:endParaRPr/>
          </a:p>
        </p:txBody>
      </p:sp>
      <p:sp>
        <p:nvSpPr>
          <p:cNvPr id="201" name="Google Shape;201;p20"/>
          <p:cNvSpPr/>
          <p:nvPr/>
        </p:nvSpPr>
        <p:spPr>
          <a:xfrm>
            <a:off x="571500" y="1123950"/>
            <a:ext cx="11049000" cy="19050"/>
          </a:xfrm>
          <a:prstGeom prst="rect">
            <a:avLst/>
          </a:prstGeom>
          <a:solidFill>
            <a:srgbClr val="30363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Shape 205"/>
        <p:cNvGrpSpPr/>
        <p:nvPr/>
      </p:nvGrpSpPr>
      <p:grpSpPr>
        <a:xfrm>
          <a:off x="0" y="0"/>
          <a:ext cx="0" cy="0"/>
          <a:chOff x="0" y="0"/>
          <a:chExt cx="0" cy="0"/>
        </a:xfrm>
      </p:grpSpPr>
      <p:pic>
        <p:nvPicPr>
          <p:cNvPr id="206" name="Google Shape;206;p21" descr="image.png"/>
          <p:cNvPicPr preferRelativeResize="0"/>
          <p:nvPr/>
        </p:nvPicPr>
        <p:blipFill rotWithShape="1">
          <a:blip r:embed="rId3">
            <a:alphaModFix/>
          </a:blip>
          <a:srcRect/>
          <a:stretch/>
        </p:blipFill>
        <p:spPr>
          <a:xfrm>
            <a:off x="571500" y="1428750"/>
            <a:ext cx="11049000" cy="4257675"/>
          </a:xfrm>
          <a:prstGeom prst="rect">
            <a:avLst/>
          </a:prstGeom>
          <a:noFill/>
          <a:ln>
            <a:noFill/>
          </a:ln>
        </p:spPr>
      </p:pic>
      <p:sp>
        <p:nvSpPr>
          <p:cNvPr id="207" name="Google Shape;207;p21"/>
          <p:cNvSpPr txBox="1"/>
          <p:nvPr/>
        </p:nvSpPr>
        <p:spPr>
          <a:xfrm>
            <a:off x="6346750" y="3186113"/>
            <a:ext cx="4810200" cy="461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58A6FF"/>
                </a:solidFill>
                <a:latin typeface="Urbanist"/>
                <a:ea typeface="Urbanist"/>
                <a:cs typeface="Urbanist"/>
                <a:sym typeface="Urbanist"/>
              </a:rPr>
              <a:t>Rule:</a:t>
            </a:r>
            <a:r>
              <a:rPr lang="en-US" sz="1500" b="0" i="0" u="none" strike="noStrike" cap="none">
                <a:solidFill>
                  <a:srgbClr val="58A6FF"/>
                </a:solidFill>
                <a:latin typeface="Urbanist"/>
                <a:ea typeface="Urbanist"/>
                <a:cs typeface="Urbanist"/>
                <a:sym typeface="Urbanist"/>
              </a:rPr>
              <a:t> Use a nested condition (an if-else block inside another if block). Pay attention to indentation!</a:t>
            </a:r>
            <a:endParaRPr/>
          </a:p>
        </p:txBody>
      </p:sp>
      <p:sp>
        <p:nvSpPr>
          <p:cNvPr id="208" name="Google Shape;208;p21"/>
          <p:cNvSpPr/>
          <p:nvPr/>
        </p:nvSpPr>
        <p:spPr>
          <a:xfrm>
            <a:off x="6108625" y="3043238"/>
            <a:ext cx="38100" cy="743100"/>
          </a:xfrm>
          <a:prstGeom prst="rect">
            <a:avLst/>
          </a:prstGeom>
          <a:solidFill>
            <a:srgbClr val="58A6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09" name="Google Shape;209;p21"/>
          <p:cNvSpPr txBox="1"/>
          <p:nvPr/>
        </p:nvSpPr>
        <p:spPr>
          <a:xfrm>
            <a:off x="819150" y="1676400"/>
            <a:ext cx="5030628" cy="30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0" i="0" u="none" strike="noStrike" cap="none">
                <a:solidFill>
                  <a:srgbClr val="58A6FF"/>
                </a:solidFill>
                <a:latin typeface="Urbanist SemiBold"/>
                <a:ea typeface="Urbanist SemiBold"/>
                <a:cs typeface="Urbanist SemiBold"/>
                <a:sym typeface="Urbanist SemiBold"/>
              </a:rPr>
              <a:t>Logic Flow</a:t>
            </a:r>
            <a:endParaRPr/>
          </a:p>
        </p:txBody>
      </p:sp>
      <p:sp>
        <p:nvSpPr>
          <p:cNvPr id="210" name="Google Shape;210;p21"/>
          <p:cNvSpPr txBox="1"/>
          <p:nvPr/>
        </p:nvSpPr>
        <p:spPr>
          <a:xfrm>
            <a:off x="971550" y="2124075"/>
            <a:ext cx="38100" cy="3143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0" i="0" u="none" strike="noStrike" cap="none">
                <a:solidFill>
                  <a:srgbClr val="C9D1D9"/>
                </a:solidFill>
                <a:latin typeface="Urbanist"/>
                <a:ea typeface="Urbanist"/>
                <a:cs typeface="Urbanist"/>
                <a:sym typeface="Urbanist"/>
              </a:rPr>
              <a:t>•</a:t>
            </a:r>
            <a:endParaRPr/>
          </a:p>
        </p:txBody>
      </p:sp>
      <p:sp>
        <p:nvSpPr>
          <p:cNvPr id="211" name="Google Shape;211;p21"/>
          <p:cNvSpPr txBox="1"/>
          <p:nvPr/>
        </p:nvSpPr>
        <p:spPr>
          <a:xfrm>
            <a:off x="1123950" y="3667125"/>
            <a:ext cx="123900" cy="215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endParaRPr/>
          </a:p>
        </p:txBody>
      </p:sp>
      <p:sp>
        <p:nvSpPr>
          <p:cNvPr id="212" name="Google Shape;212;p21"/>
          <p:cNvSpPr txBox="1"/>
          <p:nvPr/>
        </p:nvSpPr>
        <p:spPr>
          <a:xfrm>
            <a:off x="1123950" y="4057650"/>
            <a:ext cx="123900" cy="215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endParaRPr/>
          </a:p>
        </p:txBody>
      </p:sp>
      <p:sp>
        <p:nvSpPr>
          <p:cNvPr id="213" name="Google Shape;213;p21"/>
          <p:cNvSpPr txBox="1"/>
          <p:nvPr/>
        </p:nvSpPr>
        <p:spPr>
          <a:xfrm>
            <a:off x="1123950" y="4762500"/>
            <a:ext cx="123900" cy="215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endParaRPr/>
          </a:p>
        </p:txBody>
      </p:sp>
      <p:sp>
        <p:nvSpPr>
          <p:cNvPr id="214" name="Google Shape;214;p21"/>
          <p:cNvSpPr txBox="1"/>
          <p:nvPr/>
        </p:nvSpPr>
        <p:spPr>
          <a:xfrm>
            <a:off x="571500" y="476250"/>
            <a:ext cx="11601450" cy="523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0" i="0" u="none" strike="noStrike" cap="none">
                <a:solidFill>
                  <a:srgbClr val="E6EDF3"/>
                </a:solidFill>
                <a:latin typeface="Urbanist SemiBold"/>
                <a:ea typeface="Urbanist SemiBold"/>
                <a:cs typeface="Urbanist SemiBold"/>
                <a:sym typeface="Urbanist SemiBold"/>
              </a:rPr>
              <a:t>Exercise 6: </a:t>
            </a:r>
            <a:r>
              <a:rPr lang="en-US" sz="3300" b="0" i="0" u="none" strike="noStrike" cap="none">
                <a:solidFill>
                  <a:srgbClr val="3FB950"/>
                </a:solidFill>
                <a:latin typeface="Urbanist SemiBold"/>
                <a:ea typeface="Urbanist SemiBold"/>
                <a:cs typeface="Urbanist SemiBold"/>
                <a:sym typeface="Urbanist SemiBold"/>
              </a:rPr>
              <a:t>Bank Loan System</a:t>
            </a:r>
            <a:endParaRPr/>
          </a:p>
        </p:txBody>
      </p:sp>
      <p:sp>
        <p:nvSpPr>
          <p:cNvPr id="215" name="Google Shape;215;p21"/>
          <p:cNvSpPr/>
          <p:nvPr/>
        </p:nvSpPr>
        <p:spPr>
          <a:xfrm>
            <a:off x="571500" y="1123950"/>
            <a:ext cx="11049000" cy="19050"/>
          </a:xfrm>
          <a:prstGeom prst="rect">
            <a:avLst/>
          </a:prstGeom>
          <a:solidFill>
            <a:srgbClr val="30363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6" name="Google Shape;216;p21"/>
          <p:cNvSpPr txBox="1"/>
          <p:nvPr/>
        </p:nvSpPr>
        <p:spPr>
          <a:xfrm>
            <a:off x="1123950" y="2174025"/>
            <a:ext cx="4637400" cy="1908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solidFill>
                  <a:schemeClr val="lt1"/>
                </a:solidFill>
              </a:rPr>
              <a:t>A bank evaluates loan applications based on strict rules. First, the applicant must state their age. The bank immediately rejects anyone who is not legally an adult (under 18). If the applicant is an adult, the system then proceeds to ask for their monthly income. Adults earning more than 20,000 TL get an automatic "Loan Approved" message. However, adult applicants earning 20,000 TL or less are informed that "A guarantor is required.</a:t>
            </a:r>
            <a:endParaRPr>
              <a:solidFill>
                <a:schemeClr val="lt1"/>
              </a:solidFill>
            </a:endParaRPr>
          </a:p>
        </p:txBody>
      </p:sp>
      <p:sp>
        <p:nvSpPr>
          <p:cNvPr id="217" name="Google Shape;217;p21"/>
          <p:cNvSpPr txBox="1"/>
          <p:nvPr/>
        </p:nvSpPr>
        <p:spPr>
          <a:xfrm>
            <a:off x="4031463" y="4339200"/>
            <a:ext cx="42699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a:solidFill>
                  <a:srgbClr val="58A6FF"/>
                </a:solidFill>
              </a:rPr>
              <a:t>Task : Write a program that simulates this exact banking process.</a:t>
            </a:r>
            <a:endParaRPr>
              <a:solidFill>
                <a:srgbClr val="58A6FF"/>
              </a:solidFill>
            </a:endParaRPr>
          </a:p>
        </p:txBody>
      </p:sp>
      <p:sp>
        <p:nvSpPr>
          <p:cNvPr id="218" name="Google Shape;218;p21"/>
          <p:cNvSpPr/>
          <p:nvPr/>
        </p:nvSpPr>
        <p:spPr>
          <a:xfrm>
            <a:off x="3890625" y="4275438"/>
            <a:ext cx="38100" cy="743100"/>
          </a:xfrm>
          <a:prstGeom prst="rect">
            <a:avLst/>
          </a:prstGeom>
          <a:solidFill>
            <a:srgbClr val="58A6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Shape 222"/>
        <p:cNvGrpSpPr/>
        <p:nvPr/>
      </p:nvGrpSpPr>
      <p:grpSpPr>
        <a:xfrm>
          <a:off x="0" y="0"/>
          <a:ext cx="0" cy="0"/>
          <a:chOff x="0" y="0"/>
          <a:chExt cx="0" cy="0"/>
        </a:xfrm>
      </p:grpSpPr>
      <p:pic>
        <p:nvPicPr>
          <p:cNvPr id="223" name="Google Shape;223;p22" descr="image.png"/>
          <p:cNvPicPr preferRelativeResize="0"/>
          <p:nvPr/>
        </p:nvPicPr>
        <p:blipFill rotWithShape="1">
          <a:blip r:embed="rId3">
            <a:alphaModFix/>
          </a:blip>
          <a:srcRect/>
          <a:stretch/>
        </p:blipFill>
        <p:spPr>
          <a:xfrm>
            <a:off x="3452813" y="2513037"/>
            <a:ext cx="5286375" cy="2562225"/>
          </a:xfrm>
          <a:prstGeom prst="rect">
            <a:avLst/>
          </a:prstGeom>
          <a:noFill/>
          <a:ln>
            <a:noFill/>
          </a:ln>
        </p:spPr>
      </p:pic>
      <p:sp>
        <p:nvSpPr>
          <p:cNvPr id="224" name="Google Shape;224;p22"/>
          <p:cNvSpPr txBox="1"/>
          <p:nvPr/>
        </p:nvSpPr>
        <p:spPr>
          <a:xfrm>
            <a:off x="3700463" y="2713062"/>
            <a:ext cx="5030700" cy="300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0" i="0" u="none" strike="noStrike" cap="none">
                <a:solidFill>
                  <a:srgbClr val="58A6FF"/>
                </a:solidFill>
                <a:latin typeface="Urbanist SemiBold"/>
                <a:ea typeface="Urbanist SemiBold"/>
                <a:cs typeface="Urbanist SemiBold"/>
                <a:sym typeface="Urbanist SemiBold"/>
              </a:rPr>
              <a:t>Triangle Inequality Theorem</a:t>
            </a:r>
            <a:endParaRPr/>
          </a:p>
        </p:txBody>
      </p:sp>
      <p:sp>
        <p:nvSpPr>
          <p:cNvPr id="225" name="Google Shape;225;p22"/>
          <p:cNvSpPr txBox="1"/>
          <p:nvPr/>
        </p:nvSpPr>
        <p:spPr>
          <a:xfrm>
            <a:off x="3700463" y="3113112"/>
            <a:ext cx="4791000" cy="877500"/>
          </a:xfrm>
          <a:prstGeom prst="rect">
            <a:avLst/>
          </a:prstGeom>
          <a:noFill/>
          <a:ln>
            <a:noFill/>
          </a:ln>
        </p:spPr>
        <p:txBody>
          <a:bodyPr spcFirstLastPara="1" wrap="square" lIns="0" tIns="0" rIns="0" bIns="0" anchor="t" anchorCtr="0">
            <a:spAutoFit/>
          </a:bodyPr>
          <a:lstStyle/>
          <a:p>
            <a:pPr marL="0" marR="0" lvl="0" indent="0" algn="l" rtl="0">
              <a:lnSpc>
                <a:spcPct val="140000"/>
              </a:lnSpc>
              <a:spcBef>
                <a:spcPts val="0"/>
              </a:spcBef>
              <a:spcAft>
                <a:spcPts val="0"/>
              </a:spcAft>
              <a:buNone/>
            </a:pPr>
            <a:r>
              <a:rPr lang="en-US" sz="1500" b="0" i="0" u="none" strike="noStrike" cap="none">
                <a:solidFill>
                  <a:srgbClr val="C9D1D9"/>
                </a:solidFill>
                <a:latin typeface="Urbanist"/>
                <a:ea typeface="Urbanist"/>
                <a:cs typeface="Urbanist"/>
                <a:sym typeface="Urbanist"/>
              </a:rPr>
              <a:t>Ask for three positive numbers (a, b, c). A triangle is valid ONLY IF the sum of any two sides is strictly greater than the third side:</a:t>
            </a:r>
            <a:endParaRPr/>
          </a:p>
        </p:txBody>
      </p:sp>
      <p:sp>
        <p:nvSpPr>
          <p:cNvPr id="226" name="Google Shape;226;p22"/>
          <p:cNvSpPr txBox="1"/>
          <p:nvPr/>
        </p:nvSpPr>
        <p:spPr>
          <a:xfrm>
            <a:off x="3700463" y="4332312"/>
            <a:ext cx="4791000" cy="548400"/>
          </a:xfrm>
          <a:prstGeom prst="rect">
            <a:avLst/>
          </a:prstGeom>
          <a:noFill/>
          <a:ln>
            <a:noFill/>
          </a:ln>
        </p:spPr>
        <p:txBody>
          <a:bodyPr spcFirstLastPara="1" wrap="square" lIns="0" tIns="0" rIns="0" bIns="0" anchor="t" anchorCtr="0">
            <a:spAutoFit/>
          </a:bodyPr>
          <a:lstStyle/>
          <a:p>
            <a:pPr marL="0" marR="0" lvl="0" indent="0" algn="l" rtl="0">
              <a:lnSpc>
                <a:spcPct val="149964"/>
              </a:lnSpc>
              <a:spcBef>
                <a:spcPts val="0"/>
              </a:spcBef>
              <a:spcAft>
                <a:spcPts val="0"/>
              </a:spcAft>
              <a:buNone/>
            </a:pPr>
            <a:r>
              <a:rPr lang="en-US" sz="1425" b="0" i="0" u="none" strike="noStrike" cap="none">
                <a:solidFill>
                  <a:srgbClr val="8B949E"/>
                </a:solidFill>
                <a:latin typeface="Urbanist"/>
                <a:ea typeface="Urbanist"/>
                <a:cs typeface="Urbanist"/>
                <a:sym typeface="Urbanist"/>
              </a:rPr>
              <a:t>If all three conditions are met, print "Valid Triangle". Otherwise, print "Invalid Triangle".</a:t>
            </a:r>
            <a:endParaRPr/>
          </a:p>
        </p:txBody>
      </p:sp>
      <p:pic>
        <p:nvPicPr>
          <p:cNvPr id="227" name="Google Shape;227;p22" descr="image.png"/>
          <p:cNvPicPr preferRelativeResize="0"/>
          <p:nvPr/>
        </p:nvPicPr>
        <p:blipFill rotWithShape="1">
          <a:blip r:embed="rId4">
            <a:alphaModFix/>
          </a:blip>
          <a:srcRect/>
          <a:stretch/>
        </p:blipFill>
        <p:spPr>
          <a:xfrm>
            <a:off x="3700463" y="3989412"/>
            <a:ext cx="967085" cy="180975"/>
          </a:xfrm>
          <a:prstGeom prst="rect">
            <a:avLst/>
          </a:prstGeom>
          <a:noFill/>
          <a:ln>
            <a:noFill/>
          </a:ln>
        </p:spPr>
      </p:pic>
      <p:pic>
        <p:nvPicPr>
          <p:cNvPr id="228" name="Google Shape;228;p22" descr="image.png"/>
          <p:cNvPicPr preferRelativeResize="0"/>
          <p:nvPr/>
        </p:nvPicPr>
        <p:blipFill rotWithShape="1">
          <a:blip r:embed="rId5">
            <a:alphaModFix/>
          </a:blip>
          <a:srcRect/>
          <a:stretch/>
        </p:blipFill>
        <p:spPr>
          <a:xfrm>
            <a:off x="5732285" y="3989412"/>
            <a:ext cx="967085" cy="180975"/>
          </a:xfrm>
          <a:prstGeom prst="rect">
            <a:avLst/>
          </a:prstGeom>
          <a:noFill/>
          <a:ln>
            <a:noFill/>
          </a:ln>
        </p:spPr>
      </p:pic>
      <p:pic>
        <p:nvPicPr>
          <p:cNvPr id="229" name="Google Shape;229;p22" descr="image.png"/>
          <p:cNvPicPr preferRelativeResize="0"/>
          <p:nvPr/>
        </p:nvPicPr>
        <p:blipFill rotWithShape="1">
          <a:blip r:embed="rId6">
            <a:alphaModFix/>
          </a:blip>
          <a:srcRect/>
          <a:stretch/>
        </p:blipFill>
        <p:spPr>
          <a:xfrm>
            <a:off x="7317983" y="3989412"/>
            <a:ext cx="967085" cy="180975"/>
          </a:xfrm>
          <a:prstGeom prst="rect">
            <a:avLst/>
          </a:prstGeom>
          <a:noFill/>
          <a:ln>
            <a:noFill/>
          </a:ln>
        </p:spPr>
      </p:pic>
      <p:sp>
        <p:nvSpPr>
          <p:cNvPr id="230" name="Google Shape;230;p22"/>
          <p:cNvSpPr txBox="1"/>
          <p:nvPr/>
        </p:nvSpPr>
        <p:spPr>
          <a:xfrm>
            <a:off x="571500" y="476250"/>
            <a:ext cx="11601450" cy="523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0" i="0" u="none" strike="noStrike" cap="none">
                <a:solidFill>
                  <a:srgbClr val="E6EDF3"/>
                </a:solidFill>
                <a:latin typeface="Urbanist SemiBold"/>
                <a:ea typeface="Urbanist SemiBold"/>
                <a:cs typeface="Urbanist SemiBold"/>
                <a:sym typeface="Urbanist SemiBold"/>
              </a:rPr>
              <a:t>Exercise 7: </a:t>
            </a:r>
            <a:r>
              <a:rPr lang="en-US" sz="3300" b="0" i="0" u="none" strike="noStrike" cap="none">
                <a:solidFill>
                  <a:srgbClr val="3FB950"/>
                </a:solidFill>
                <a:latin typeface="Urbanist SemiBold"/>
                <a:ea typeface="Urbanist SemiBold"/>
                <a:cs typeface="Urbanist SemiBold"/>
                <a:sym typeface="Urbanist SemiBold"/>
              </a:rPr>
              <a:t>Triangle Validator</a:t>
            </a:r>
            <a:endParaRPr/>
          </a:p>
        </p:txBody>
      </p:sp>
      <p:sp>
        <p:nvSpPr>
          <p:cNvPr id="231" name="Google Shape;231;p22"/>
          <p:cNvSpPr/>
          <p:nvPr/>
        </p:nvSpPr>
        <p:spPr>
          <a:xfrm>
            <a:off x="571500" y="1123950"/>
            <a:ext cx="11049000" cy="19050"/>
          </a:xfrm>
          <a:prstGeom prst="rect">
            <a:avLst/>
          </a:prstGeom>
          <a:solidFill>
            <a:srgbClr val="30363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Shape 235"/>
        <p:cNvGrpSpPr/>
        <p:nvPr/>
      </p:nvGrpSpPr>
      <p:grpSpPr>
        <a:xfrm>
          <a:off x="0" y="0"/>
          <a:ext cx="0" cy="0"/>
          <a:chOff x="0" y="0"/>
          <a:chExt cx="0" cy="0"/>
        </a:xfrm>
      </p:grpSpPr>
      <p:sp>
        <p:nvSpPr>
          <p:cNvPr id="236" name="Google Shape;236;p23"/>
          <p:cNvSpPr txBox="1"/>
          <p:nvPr/>
        </p:nvSpPr>
        <p:spPr>
          <a:xfrm>
            <a:off x="571500" y="1995487"/>
            <a:ext cx="11049000" cy="6286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50" b="0" i="0" u="none" strike="noStrike" cap="none">
                <a:solidFill>
                  <a:srgbClr val="C9D1D9"/>
                </a:solidFill>
                <a:latin typeface="Urbanist"/>
                <a:ea typeface="Urbanist"/>
                <a:cs typeface="Urbanist"/>
                <a:sym typeface="Urbanist"/>
              </a:rPr>
              <a:t>Ask the user for two floats, x and y (the coordinates of a point). Determine where this point lies and print the exact location.</a:t>
            </a:r>
            <a:endParaRPr/>
          </a:p>
        </p:txBody>
      </p:sp>
      <p:sp>
        <p:nvSpPr>
          <p:cNvPr id="237" name="Google Shape;237;p23"/>
          <p:cNvSpPr txBox="1"/>
          <p:nvPr/>
        </p:nvSpPr>
        <p:spPr>
          <a:xfrm>
            <a:off x="809625" y="5348287"/>
            <a:ext cx="10572900" cy="23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F0883E"/>
                </a:solidFill>
                <a:latin typeface="Urbanist"/>
                <a:ea typeface="Urbanist"/>
                <a:cs typeface="Urbanist"/>
                <a:sym typeface="Urbanist"/>
              </a:rPr>
              <a:t>Rule:</a:t>
            </a:r>
            <a:r>
              <a:rPr lang="en-US" sz="1500" b="0" i="0" u="none" strike="noStrike" cap="none">
                <a:solidFill>
                  <a:srgbClr val="F0883E"/>
                </a:solidFill>
                <a:latin typeface="Urbanist"/>
                <a:ea typeface="Urbanist"/>
                <a:cs typeface="Urbanist"/>
                <a:sym typeface="Urbanist"/>
              </a:rPr>
              <a:t> You will need multiple                blocks and logical operators (            ).</a:t>
            </a:r>
            <a:endParaRPr/>
          </a:p>
        </p:txBody>
      </p:sp>
      <p:sp>
        <p:nvSpPr>
          <p:cNvPr id="238" name="Google Shape;238;p23"/>
          <p:cNvSpPr/>
          <p:nvPr/>
        </p:nvSpPr>
        <p:spPr>
          <a:xfrm>
            <a:off x="571500" y="5205412"/>
            <a:ext cx="38100" cy="609600"/>
          </a:xfrm>
          <a:prstGeom prst="rect">
            <a:avLst/>
          </a:prstGeom>
          <a:solidFill>
            <a:srgbClr val="F0883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39" name="Google Shape;239;p23" descr="image.png"/>
          <p:cNvPicPr preferRelativeResize="0"/>
          <p:nvPr/>
        </p:nvPicPr>
        <p:blipFill rotWithShape="1">
          <a:blip r:embed="rId3">
            <a:alphaModFix/>
          </a:blip>
          <a:srcRect/>
          <a:stretch/>
        </p:blipFill>
        <p:spPr>
          <a:xfrm>
            <a:off x="3083075" y="5329237"/>
            <a:ext cx="628650" cy="323850"/>
          </a:xfrm>
          <a:prstGeom prst="rect">
            <a:avLst/>
          </a:prstGeom>
          <a:noFill/>
          <a:ln>
            <a:noFill/>
          </a:ln>
        </p:spPr>
      </p:pic>
      <p:pic>
        <p:nvPicPr>
          <p:cNvPr id="240" name="Google Shape;240;p23" descr="image.png"/>
          <p:cNvPicPr preferRelativeResize="0"/>
          <p:nvPr/>
        </p:nvPicPr>
        <p:blipFill rotWithShape="1">
          <a:blip r:embed="rId4">
            <a:alphaModFix/>
          </a:blip>
          <a:srcRect/>
          <a:stretch/>
        </p:blipFill>
        <p:spPr>
          <a:xfrm>
            <a:off x="6230550" y="5329312"/>
            <a:ext cx="514350" cy="323850"/>
          </a:xfrm>
          <a:prstGeom prst="rect">
            <a:avLst/>
          </a:prstGeom>
          <a:noFill/>
          <a:ln>
            <a:noFill/>
          </a:ln>
        </p:spPr>
      </p:pic>
      <p:sp>
        <p:nvSpPr>
          <p:cNvPr id="241" name="Google Shape;241;p23"/>
          <p:cNvSpPr txBox="1"/>
          <p:nvPr/>
        </p:nvSpPr>
        <p:spPr>
          <a:xfrm>
            <a:off x="1000125" y="2909887"/>
            <a:ext cx="10620300" cy="7143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50" b="0" i="0" u="none" strike="noStrike" cap="none">
                <a:solidFill>
                  <a:srgbClr val="E6EDF3"/>
                </a:solidFill>
                <a:latin typeface="Urbanist"/>
                <a:ea typeface="Urbanist"/>
                <a:cs typeface="Urbanist"/>
                <a:sym typeface="Urbanist"/>
              </a:rPr>
              <a:t>Is it at the Origin? </a:t>
            </a:r>
            <a:r>
              <a:rPr lang="en-US" sz="1650" b="0" i="0" u="none" strike="noStrike" cap="none">
                <a:solidFill>
                  <a:srgbClr val="79C0FF"/>
                </a:solidFill>
                <a:latin typeface="Urbanist"/>
                <a:ea typeface="Urbanist"/>
                <a:cs typeface="Urbanist"/>
                <a:sym typeface="Urbanist"/>
              </a:rPr>
              <a:t> </a:t>
            </a:r>
            <a:endParaRPr/>
          </a:p>
        </p:txBody>
      </p:sp>
      <p:sp>
        <p:nvSpPr>
          <p:cNvPr id="242" name="Google Shape;242;p23"/>
          <p:cNvSpPr txBox="1"/>
          <p:nvPr/>
        </p:nvSpPr>
        <p:spPr>
          <a:xfrm>
            <a:off x="1000125" y="3814762"/>
            <a:ext cx="10620375" cy="31432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50" b="0" i="0" u="none" strike="noStrike" cap="none">
                <a:solidFill>
                  <a:srgbClr val="E6EDF3"/>
                </a:solidFill>
                <a:latin typeface="Urbanist"/>
                <a:ea typeface="Urbanist"/>
                <a:cs typeface="Urbanist"/>
                <a:sym typeface="Urbanist"/>
              </a:rPr>
              <a:t>Is it on the X-axis or Y-axis?</a:t>
            </a:r>
            <a:endParaRPr/>
          </a:p>
        </p:txBody>
      </p:sp>
      <p:sp>
        <p:nvSpPr>
          <p:cNvPr id="243" name="Google Shape;243;p23"/>
          <p:cNvSpPr txBox="1"/>
          <p:nvPr/>
        </p:nvSpPr>
        <p:spPr>
          <a:xfrm>
            <a:off x="1000125" y="4319587"/>
            <a:ext cx="10620375" cy="31432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50" b="0" i="0" u="none" strike="noStrike" cap="none">
                <a:solidFill>
                  <a:srgbClr val="E6EDF3"/>
                </a:solidFill>
                <a:latin typeface="Urbanist"/>
                <a:ea typeface="Urbanist"/>
                <a:cs typeface="Urbanist"/>
                <a:sym typeface="Urbanist"/>
              </a:rPr>
              <a:t>Is it in Quadrant I, II, III, or IV?</a:t>
            </a:r>
            <a:endParaRPr/>
          </a:p>
        </p:txBody>
      </p:sp>
      <p:pic>
        <p:nvPicPr>
          <p:cNvPr id="244" name="Google Shape;244;p23" descr="image.png"/>
          <p:cNvPicPr preferRelativeResize="0"/>
          <p:nvPr/>
        </p:nvPicPr>
        <p:blipFill rotWithShape="1">
          <a:blip r:embed="rId5">
            <a:alphaModFix/>
          </a:blip>
          <a:srcRect/>
          <a:stretch/>
        </p:blipFill>
        <p:spPr>
          <a:xfrm>
            <a:off x="571500" y="2938462"/>
            <a:ext cx="228600" cy="247650"/>
          </a:xfrm>
          <a:prstGeom prst="rect">
            <a:avLst/>
          </a:prstGeom>
          <a:noFill/>
          <a:ln>
            <a:noFill/>
          </a:ln>
        </p:spPr>
      </p:pic>
      <p:pic>
        <p:nvPicPr>
          <p:cNvPr id="245" name="Google Shape;245;p23" descr="image.png"/>
          <p:cNvPicPr preferRelativeResize="0"/>
          <p:nvPr/>
        </p:nvPicPr>
        <p:blipFill rotWithShape="1">
          <a:blip r:embed="rId6">
            <a:alphaModFix/>
          </a:blip>
          <a:srcRect/>
          <a:stretch/>
        </p:blipFill>
        <p:spPr>
          <a:xfrm>
            <a:off x="2667021" y="2909887"/>
            <a:ext cx="954881" cy="247650"/>
          </a:xfrm>
          <a:prstGeom prst="rect">
            <a:avLst/>
          </a:prstGeom>
          <a:noFill/>
          <a:ln>
            <a:noFill/>
          </a:ln>
        </p:spPr>
      </p:pic>
      <p:pic>
        <p:nvPicPr>
          <p:cNvPr id="246" name="Google Shape;246;p23" descr="image.png"/>
          <p:cNvPicPr preferRelativeResize="0"/>
          <p:nvPr/>
        </p:nvPicPr>
        <p:blipFill rotWithShape="1">
          <a:blip r:embed="rId7">
            <a:alphaModFix/>
          </a:blip>
          <a:srcRect/>
          <a:stretch/>
        </p:blipFill>
        <p:spPr>
          <a:xfrm>
            <a:off x="571500" y="3843337"/>
            <a:ext cx="228600" cy="247650"/>
          </a:xfrm>
          <a:prstGeom prst="rect">
            <a:avLst/>
          </a:prstGeom>
          <a:noFill/>
          <a:ln>
            <a:noFill/>
          </a:ln>
        </p:spPr>
      </p:pic>
      <p:pic>
        <p:nvPicPr>
          <p:cNvPr id="247" name="Google Shape;247;p23" descr="image.png"/>
          <p:cNvPicPr preferRelativeResize="0"/>
          <p:nvPr/>
        </p:nvPicPr>
        <p:blipFill rotWithShape="1">
          <a:blip r:embed="rId8">
            <a:alphaModFix/>
          </a:blip>
          <a:srcRect/>
          <a:stretch/>
        </p:blipFill>
        <p:spPr>
          <a:xfrm>
            <a:off x="571500" y="4348162"/>
            <a:ext cx="200025" cy="247650"/>
          </a:xfrm>
          <a:prstGeom prst="rect">
            <a:avLst/>
          </a:prstGeom>
          <a:noFill/>
          <a:ln>
            <a:noFill/>
          </a:ln>
        </p:spPr>
      </p:pic>
      <p:sp>
        <p:nvSpPr>
          <p:cNvPr id="248" name="Google Shape;248;p23"/>
          <p:cNvSpPr txBox="1"/>
          <p:nvPr/>
        </p:nvSpPr>
        <p:spPr>
          <a:xfrm>
            <a:off x="571500" y="476250"/>
            <a:ext cx="11601450" cy="523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0" i="0" u="none" strike="noStrike" cap="none">
                <a:solidFill>
                  <a:srgbClr val="E6EDF3"/>
                </a:solidFill>
                <a:latin typeface="Urbanist SemiBold"/>
                <a:ea typeface="Urbanist SemiBold"/>
                <a:cs typeface="Urbanist SemiBold"/>
                <a:sym typeface="Urbanist SemiBold"/>
              </a:rPr>
              <a:t>Exercise 8: </a:t>
            </a:r>
            <a:r>
              <a:rPr lang="en-US" sz="3300" b="0" i="0" u="none" strike="noStrike" cap="none">
                <a:solidFill>
                  <a:srgbClr val="3FB950"/>
                </a:solidFill>
                <a:latin typeface="Urbanist SemiBold"/>
                <a:ea typeface="Urbanist SemiBold"/>
                <a:cs typeface="Urbanist SemiBold"/>
                <a:sym typeface="Urbanist SemiBold"/>
              </a:rPr>
              <a:t>The Cartesian Plane</a:t>
            </a:r>
            <a:endParaRPr/>
          </a:p>
        </p:txBody>
      </p:sp>
      <p:sp>
        <p:nvSpPr>
          <p:cNvPr id="249" name="Google Shape;249;p23"/>
          <p:cNvSpPr/>
          <p:nvPr/>
        </p:nvSpPr>
        <p:spPr>
          <a:xfrm>
            <a:off x="571500" y="1123950"/>
            <a:ext cx="11049000" cy="19050"/>
          </a:xfrm>
          <a:prstGeom prst="rect">
            <a:avLst/>
          </a:prstGeom>
          <a:solidFill>
            <a:srgbClr val="30363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Shape 253"/>
        <p:cNvGrpSpPr/>
        <p:nvPr/>
      </p:nvGrpSpPr>
      <p:grpSpPr>
        <a:xfrm>
          <a:off x="0" y="0"/>
          <a:ext cx="0" cy="0"/>
          <a:chOff x="0" y="0"/>
          <a:chExt cx="0" cy="0"/>
        </a:xfrm>
      </p:grpSpPr>
      <p:pic>
        <p:nvPicPr>
          <p:cNvPr id="254" name="Google Shape;254;p24" descr="image.png"/>
          <p:cNvPicPr preferRelativeResize="0"/>
          <p:nvPr/>
        </p:nvPicPr>
        <p:blipFill rotWithShape="1">
          <a:blip r:embed="rId3">
            <a:alphaModFix/>
          </a:blip>
          <a:srcRect/>
          <a:stretch/>
        </p:blipFill>
        <p:spPr>
          <a:xfrm>
            <a:off x="3680700" y="2181300"/>
            <a:ext cx="5286375" cy="533400"/>
          </a:xfrm>
          <a:prstGeom prst="rect">
            <a:avLst/>
          </a:prstGeom>
          <a:noFill/>
          <a:ln>
            <a:noFill/>
          </a:ln>
        </p:spPr>
      </p:pic>
      <p:pic>
        <p:nvPicPr>
          <p:cNvPr id="255" name="Google Shape;255;p24" descr="image.png"/>
          <p:cNvPicPr preferRelativeResize="0"/>
          <p:nvPr/>
        </p:nvPicPr>
        <p:blipFill rotWithShape="1">
          <a:blip r:embed="rId4">
            <a:alphaModFix/>
          </a:blip>
          <a:srcRect/>
          <a:stretch/>
        </p:blipFill>
        <p:spPr>
          <a:xfrm>
            <a:off x="3680700" y="3362400"/>
            <a:ext cx="5286375" cy="533400"/>
          </a:xfrm>
          <a:prstGeom prst="rect">
            <a:avLst/>
          </a:prstGeom>
          <a:noFill/>
          <a:ln>
            <a:noFill/>
          </a:ln>
        </p:spPr>
      </p:pic>
      <p:pic>
        <p:nvPicPr>
          <p:cNvPr id="256" name="Google Shape;256;p24" descr="image.png"/>
          <p:cNvPicPr preferRelativeResize="0"/>
          <p:nvPr/>
        </p:nvPicPr>
        <p:blipFill rotWithShape="1">
          <a:blip r:embed="rId5">
            <a:alphaModFix/>
          </a:blip>
          <a:srcRect/>
          <a:stretch/>
        </p:blipFill>
        <p:spPr>
          <a:xfrm>
            <a:off x="3680700" y="4133925"/>
            <a:ext cx="5286375" cy="1666875"/>
          </a:xfrm>
          <a:prstGeom prst="rect">
            <a:avLst/>
          </a:prstGeom>
          <a:noFill/>
          <a:ln>
            <a:noFill/>
          </a:ln>
        </p:spPr>
      </p:pic>
      <p:sp>
        <p:nvSpPr>
          <p:cNvPr id="257" name="Google Shape;257;p24"/>
          <p:cNvSpPr txBox="1"/>
          <p:nvPr/>
        </p:nvSpPr>
        <p:spPr>
          <a:xfrm>
            <a:off x="3680700" y="1724100"/>
            <a:ext cx="5286300" cy="2541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50" b="0" i="0" u="none" strike="noStrike" cap="none">
                <a:solidFill>
                  <a:srgbClr val="C9D1D9"/>
                </a:solidFill>
                <a:latin typeface="Urbanist"/>
                <a:ea typeface="Urbanist"/>
                <a:cs typeface="Urbanist"/>
                <a:sym typeface="Urbanist"/>
              </a:rPr>
              <a:t>Find the real roots of:</a:t>
            </a:r>
            <a:endParaRPr/>
          </a:p>
        </p:txBody>
      </p:sp>
      <p:sp>
        <p:nvSpPr>
          <p:cNvPr id="258" name="Google Shape;258;p24"/>
          <p:cNvSpPr txBox="1"/>
          <p:nvPr/>
        </p:nvSpPr>
        <p:spPr>
          <a:xfrm>
            <a:off x="3680700" y="2905200"/>
            <a:ext cx="5286300" cy="25410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50" b="0" i="0" u="none" strike="noStrike" cap="none">
                <a:solidFill>
                  <a:srgbClr val="C9D1D9"/>
                </a:solidFill>
                <a:latin typeface="Urbanist"/>
                <a:ea typeface="Urbanist"/>
                <a:cs typeface="Urbanist"/>
                <a:sym typeface="Urbanist"/>
              </a:rPr>
              <a:t>Calculate the Discriminant:</a:t>
            </a:r>
            <a:endParaRPr/>
          </a:p>
        </p:txBody>
      </p:sp>
      <p:pic>
        <p:nvPicPr>
          <p:cNvPr id="259" name="Google Shape;259;p24" descr="image.png"/>
          <p:cNvPicPr preferRelativeResize="0"/>
          <p:nvPr/>
        </p:nvPicPr>
        <p:blipFill rotWithShape="1">
          <a:blip r:embed="rId6">
            <a:alphaModFix/>
          </a:blip>
          <a:srcRect/>
          <a:stretch/>
        </p:blipFill>
        <p:spPr>
          <a:xfrm>
            <a:off x="5419905" y="2297088"/>
            <a:ext cx="1807815" cy="246161"/>
          </a:xfrm>
          <a:prstGeom prst="rect">
            <a:avLst/>
          </a:prstGeom>
          <a:noFill/>
          <a:ln>
            <a:noFill/>
          </a:ln>
        </p:spPr>
      </p:pic>
      <p:pic>
        <p:nvPicPr>
          <p:cNvPr id="260" name="Google Shape;260;p24" descr="image.png"/>
          <p:cNvPicPr preferRelativeResize="0"/>
          <p:nvPr/>
        </p:nvPicPr>
        <p:blipFill rotWithShape="1">
          <a:blip r:embed="rId7">
            <a:alphaModFix/>
          </a:blip>
          <a:srcRect/>
          <a:stretch/>
        </p:blipFill>
        <p:spPr>
          <a:xfrm>
            <a:off x="5647463" y="3478188"/>
            <a:ext cx="1352698" cy="246161"/>
          </a:xfrm>
          <a:prstGeom prst="rect">
            <a:avLst/>
          </a:prstGeom>
          <a:noFill/>
          <a:ln>
            <a:noFill/>
          </a:ln>
        </p:spPr>
      </p:pic>
      <p:sp>
        <p:nvSpPr>
          <p:cNvPr id="261" name="Google Shape;261;p24"/>
          <p:cNvSpPr txBox="1"/>
          <p:nvPr/>
        </p:nvSpPr>
        <p:spPr>
          <a:xfrm>
            <a:off x="3833100" y="4286325"/>
            <a:ext cx="5230800" cy="23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0" i="0" u="none" strike="noStrike" cap="none">
                <a:solidFill>
                  <a:srgbClr val="58A6FF"/>
                </a:solidFill>
                <a:latin typeface="Urbanist SemiBold"/>
                <a:ea typeface="Urbanist SemiBold"/>
                <a:cs typeface="Urbanist SemiBold"/>
                <a:sym typeface="Urbanist SemiBold"/>
              </a:rPr>
              <a:t>Logic Evaluation</a:t>
            </a:r>
            <a:endParaRPr/>
          </a:p>
        </p:txBody>
      </p:sp>
      <p:sp>
        <p:nvSpPr>
          <p:cNvPr id="262" name="Google Shape;262;p24"/>
          <p:cNvSpPr txBox="1"/>
          <p:nvPr/>
        </p:nvSpPr>
        <p:spPr>
          <a:xfrm>
            <a:off x="3985500" y="4610175"/>
            <a:ext cx="38100" cy="254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0" i="0" u="none" strike="noStrike" cap="none">
                <a:solidFill>
                  <a:srgbClr val="C9D1D9"/>
                </a:solidFill>
                <a:latin typeface="Urbanist"/>
                <a:ea typeface="Urbanist"/>
                <a:cs typeface="Urbanist"/>
                <a:sym typeface="Urbanist"/>
              </a:rPr>
              <a:t>•</a:t>
            </a:r>
            <a:endParaRPr/>
          </a:p>
        </p:txBody>
      </p:sp>
      <p:sp>
        <p:nvSpPr>
          <p:cNvPr id="263" name="Google Shape;263;p24"/>
          <p:cNvSpPr txBox="1"/>
          <p:nvPr/>
        </p:nvSpPr>
        <p:spPr>
          <a:xfrm>
            <a:off x="4023600" y="4610175"/>
            <a:ext cx="4791000" cy="254100"/>
          </a:xfrm>
          <a:prstGeom prst="rect">
            <a:avLst/>
          </a:prstGeom>
          <a:noFill/>
          <a:ln>
            <a:noFill/>
          </a:ln>
        </p:spPr>
        <p:txBody>
          <a:bodyPr spcFirstLastPara="1" wrap="square" lIns="38100" tIns="0" rIns="0" bIns="0" anchor="t" anchorCtr="0">
            <a:spAutoFit/>
          </a:bodyPr>
          <a:lstStyle/>
          <a:p>
            <a:pPr marL="0" marR="0" lvl="0" indent="0" algn="l" rtl="0">
              <a:lnSpc>
                <a:spcPct val="150000"/>
              </a:lnSpc>
              <a:spcBef>
                <a:spcPts val="0"/>
              </a:spcBef>
              <a:spcAft>
                <a:spcPts val="0"/>
              </a:spcAft>
              <a:buNone/>
            </a:pPr>
            <a:r>
              <a:rPr lang="en-US" sz="1650" b="0" i="0" u="none" strike="noStrike" cap="none">
                <a:solidFill>
                  <a:srgbClr val="C9D1D9"/>
                </a:solidFill>
                <a:latin typeface="Urbanist"/>
                <a:ea typeface="Urbanist"/>
                <a:cs typeface="Urbanist"/>
                <a:sym typeface="Urbanist"/>
              </a:rPr>
              <a:t>If Δ &gt; 0: Calculate and print both real roots.</a:t>
            </a:r>
            <a:endParaRPr/>
          </a:p>
        </p:txBody>
      </p:sp>
      <p:sp>
        <p:nvSpPr>
          <p:cNvPr id="264" name="Google Shape;264;p24"/>
          <p:cNvSpPr txBox="1"/>
          <p:nvPr/>
        </p:nvSpPr>
        <p:spPr>
          <a:xfrm>
            <a:off x="3985500" y="4972125"/>
            <a:ext cx="38100" cy="254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0" i="0" u="none" strike="noStrike" cap="none">
                <a:solidFill>
                  <a:srgbClr val="C9D1D9"/>
                </a:solidFill>
                <a:latin typeface="Urbanist"/>
                <a:ea typeface="Urbanist"/>
                <a:cs typeface="Urbanist"/>
                <a:sym typeface="Urbanist"/>
              </a:rPr>
              <a:t>•</a:t>
            </a:r>
            <a:endParaRPr/>
          </a:p>
        </p:txBody>
      </p:sp>
      <p:sp>
        <p:nvSpPr>
          <p:cNvPr id="265" name="Google Shape;265;p24"/>
          <p:cNvSpPr txBox="1"/>
          <p:nvPr/>
        </p:nvSpPr>
        <p:spPr>
          <a:xfrm>
            <a:off x="4023600" y="4972125"/>
            <a:ext cx="4791000" cy="254100"/>
          </a:xfrm>
          <a:prstGeom prst="rect">
            <a:avLst/>
          </a:prstGeom>
          <a:noFill/>
          <a:ln>
            <a:noFill/>
          </a:ln>
        </p:spPr>
        <p:txBody>
          <a:bodyPr spcFirstLastPara="1" wrap="square" lIns="38100" tIns="0" rIns="0" bIns="0" anchor="t" anchorCtr="0">
            <a:spAutoFit/>
          </a:bodyPr>
          <a:lstStyle/>
          <a:p>
            <a:pPr marL="0" marR="0" lvl="0" indent="0" algn="l" rtl="0">
              <a:lnSpc>
                <a:spcPct val="150000"/>
              </a:lnSpc>
              <a:spcBef>
                <a:spcPts val="0"/>
              </a:spcBef>
              <a:spcAft>
                <a:spcPts val="0"/>
              </a:spcAft>
              <a:buNone/>
            </a:pPr>
            <a:r>
              <a:rPr lang="en-US" sz="1650" b="0" i="0" u="none" strike="noStrike" cap="none">
                <a:solidFill>
                  <a:srgbClr val="C9D1D9"/>
                </a:solidFill>
                <a:latin typeface="Urbanist"/>
                <a:ea typeface="Urbanist"/>
                <a:cs typeface="Urbanist"/>
                <a:sym typeface="Urbanist"/>
              </a:rPr>
              <a:t>If Δ = 0: Calculate and print the single real root.</a:t>
            </a:r>
            <a:endParaRPr/>
          </a:p>
        </p:txBody>
      </p:sp>
      <p:sp>
        <p:nvSpPr>
          <p:cNvPr id="266" name="Google Shape;266;p24"/>
          <p:cNvSpPr txBox="1"/>
          <p:nvPr/>
        </p:nvSpPr>
        <p:spPr>
          <a:xfrm>
            <a:off x="3985500" y="5334075"/>
            <a:ext cx="38100" cy="254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0" i="0" u="none" strike="noStrike" cap="none">
                <a:solidFill>
                  <a:srgbClr val="C9D1D9"/>
                </a:solidFill>
                <a:latin typeface="Urbanist"/>
                <a:ea typeface="Urbanist"/>
                <a:cs typeface="Urbanist"/>
                <a:sym typeface="Urbanist"/>
              </a:rPr>
              <a:t>•</a:t>
            </a:r>
            <a:endParaRPr/>
          </a:p>
        </p:txBody>
      </p:sp>
      <p:sp>
        <p:nvSpPr>
          <p:cNvPr id="267" name="Google Shape;267;p24"/>
          <p:cNvSpPr txBox="1"/>
          <p:nvPr/>
        </p:nvSpPr>
        <p:spPr>
          <a:xfrm>
            <a:off x="4023600" y="5334075"/>
            <a:ext cx="4791000" cy="254100"/>
          </a:xfrm>
          <a:prstGeom prst="rect">
            <a:avLst/>
          </a:prstGeom>
          <a:noFill/>
          <a:ln>
            <a:noFill/>
          </a:ln>
        </p:spPr>
        <p:txBody>
          <a:bodyPr spcFirstLastPara="1" wrap="square" lIns="38100" tIns="0" rIns="0" bIns="0" anchor="t" anchorCtr="0">
            <a:spAutoFit/>
          </a:bodyPr>
          <a:lstStyle/>
          <a:p>
            <a:pPr marL="0" marR="0" lvl="0" indent="0" algn="l" rtl="0">
              <a:lnSpc>
                <a:spcPct val="150000"/>
              </a:lnSpc>
              <a:spcBef>
                <a:spcPts val="0"/>
              </a:spcBef>
              <a:spcAft>
                <a:spcPts val="0"/>
              </a:spcAft>
              <a:buNone/>
            </a:pPr>
            <a:r>
              <a:rPr lang="en-US" sz="1650" b="0" i="0" u="none" strike="noStrike" cap="none">
                <a:solidFill>
                  <a:srgbClr val="C9D1D9"/>
                </a:solidFill>
                <a:latin typeface="Urbanist"/>
                <a:ea typeface="Urbanist"/>
                <a:cs typeface="Urbanist"/>
                <a:sym typeface="Urbanist"/>
              </a:rPr>
              <a:t>If Δ &lt; 0: Print "No real roots exist."</a:t>
            </a:r>
            <a:endParaRPr/>
          </a:p>
        </p:txBody>
      </p:sp>
      <p:sp>
        <p:nvSpPr>
          <p:cNvPr id="268" name="Google Shape;268;p24"/>
          <p:cNvSpPr txBox="1"/>
          <p:nvPr/>
        </p:nvSpPr>
        <p:spPr>
          <a:xfrm>
            <a:off x="571500" y="476250"/>
            <a:ext cx="11601450" cy="523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0" i="0" u="none" strike="noStrike" cap="none">
                <a:solidFill>
                  <a:srgbClr val="E6EDF3"/>
                </a:solidFill>
                <a:latin typeface="Urbanist SemiBold"/>
                <a:ea typeface="Urbanist SemiBold"/>
                <a:cs typeface="Urbanist SemiBold"/>
                <a:sym typeface="Urbanist SemiBold"/>
              </a:rPr>
              <a:t>Exercise 9: </a:t>
            </a:r>
            <a:r>
              <a:rPr lang="en-US" sz="3300" b="0" i="0" u="none" strike="noStrike" cap="none">
                <a:solidFill>
                  <a:srgbClr val="3FB950"/>
                </a:solidFill>
                <a:latin typeface="Urbanist SemiBold"/>
                <a:ea typeface="Urbanist SemiBold"/>
                <a:cs typeface="Urbanist SemiBold"/>
                <a:sym typeface="Urbanist SemiBold"/>
              </a:rPr>
              <a:t>Quadratic Equation Solver</a:t>
            </a:r>
            <a:endParaRPr/>
          </a:p>
        </p:txBody>
      </p:sp>
      <p:sp>
        <p:nvSpPr>
          <p:cNvPr id="269" name="Google Shape;269;p24"/>
          <p:cNvSpPr/>
          <p:nvPr/>
        </p:nvSpPr>
        <p:spPr>
          <a:xfrm>
            <a:off x="571500" y="1123950"/>
            <a:ext cx="11049000" cy="19050"/>
          </a:xfrm>
          <a:prstGeom prst="rect">
            <a:avLst/>
          </a:prstGeom>
          <a:solidFill>
            <a:srgbClr val="30363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Shape 273"/>
        <p:cNvGrpSpPr/>
        <p:nvPr/>
      </p:nvGrpSpPr>
      <p:grpSpPr>
        <a:xfrm>
          <a:off x="0" y="0"/>
          <a:ext cx="0" cy="0"/>
          <a:chOff x="0" y="0"/>
          <a:chExt cx="0" cy="0"/>
        </a:xfrm>
      </p:grpSpPr>
      <p:pic>
        <p:nvPicPr>
          <p:cNvPr id="274" name="Google Shape;274;p25" descr="image.png"/>
          <p:cNvPicPr preferRelativeResize="0"/>
          <p:nvPr/>
        </p:nvPicPr>
        <p:blipFill rotWithShape="1">
          <a:blip r:embed="rId3">
            <a:alphaModFix/>
          </a:blip>
          <a:srcRect/>
          <a:stretch/>
        </p:blipFill>
        <p:spPr>
          <a:xfrm>
            <a:off x="571500" y="1809750"/>
            <a:ext cx="11049000" cy="2009775"/>
          </a:xfrm>
          <a:prstGeom prst="rect">
            <a:avLst/>
          </a:prstGeom>
          <a:noFill/>
          <a:ln>
            <a:noFill/>
          </a:ln>
        </p:spPr>
      </p:pic>
      <p:sp>
        <p:nvSpPr>
          <p:cNvPr id="275" name="Google Shape;275;p25"/>
          <p:cNvSpPr txBox="1"/>
          <p:nvPr/>
        </p:nvSpPr>
        <p:spPr>
          <a:xfrm>
            <a:off x="809625" y="4343400"/>
            <a:ext cx="10572900" cy="23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F0883E"/>
                </a:solidFill>
                <a:latin typeface="Urbanist"/>
                <a:ea typeface="Urbanist"/>
                <a:cs typeface="Urbanist"/>
                <a:sym typeface="Urbanist"/>
              </a:rPr>
              <a:t>Restriction:</a:t>
            </a:r>
            <a:r>
              <a:rPr lang="en-US" sz="1500" b="0" i="0" u="none" strike="noStrike" cap="none">
                <a:solidFill>
                  <a:srgbClr val="F0883E"/>
                </a:solidFill>
                <a:latin typeface="Urbanist"/>
                <a:ea typeface="Urbanist"/>
                <a:cs typeface="Urbanist"/>
                <a:sym typeface="Urbanist"/>
              </a:rPr>
              <a:t> You are NOT allowed to use Python's                     ,                 or                   functions. You must use pure if-elif-else logic!</a:t>
            </a:r>
            <a:endParaRPr/>
          </a:p>
        </p:txBody>
      </p:sp>
      <p:sp>
        <p:nvSpPr>
          <p:cNvPr id="276" name="Google Shape;276;p25"/>
          <p:cNvSpPr/>
          <p:nvPr/>
        </p:nvSpPr>
        <p:spPr>
          <a:xfrm>
            <a:off x="571500" y="4200525"/>
            <a:ext cx="38100" cy="838200"/>
          </a:xfrm>
          <a:prstGeom prst="rect">
            <a:avLst/>
          </a:prstGeom>
          <a:solidFill>
            <a:srgbClr val="F0883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77" name="Google Shape;277;p25"/>
          <p:cNvSpPr txBox="1"/>
          <p:nvPr/>
        </p:nvSpPr>
        <p:spPr>
          <a:xfrm>
            <a:off x="571500" y="5372100"/>
            <a:ext cx="11049000" cy="628650"/>
          </a:xfrm>
          <a:prstGeom prst="rect">
            <a:avLst/>
          </a:prstGeom>
          <a:noFill/>
          <a:ln>
            <a:noFill/>
          </a:ln>
        </p:spPr>
        <p:txBody>
          <a:bodyPr spcFirstLastPara="1" wrap="square" lIns="161925" tIns="0" rIns="0" bIns="0" anchor="t" anchorCtr="0">
            <a:spAutoFit/>
          </a:bodyPr>
          <a:lstStyle/>
          <a:p>
            <a:pPr marL="0" marR="0" lvl="0" indent="0" algn="l" rtl="0">
              <a:lnSpc>
                <a:spcPct val="150000"/>
              </a:lnSpc>
              <a:spcBef>
                <a:spcPts val="0"/>
              </a:spcBef>
              <a:spcAft>
                <a:spcPts val="0"/>
              </a:spcAft>
              <a:buNone/>
            </a:pPr>
            <a:r>
              <a:rPr lang="en-US" sz="1650" b="1" i="0" u="none" strike="noStrike" cap="none">
                <a:solidFill>
                  <a:srgbClr val="8B949E"/>
                </a:solidFill>
                <a:latin typeface="Urbanist"/>
                <a:ea typeface="Urbanist"/>
                <a:cs typeface="Urbanist"/>
                <a:sym typeface="Urbanist"/>
              </a:rPr>
              <a:t>Hint:</a:t>
            </a:r>
            <a:r>
              <a:rPr lang="en-US" sz="1650" b="0" i="0" u="none" strike="noStrike" cap="none">
                <a:solidFill>
                  <a:srgbClr val="8B949E"/>
                </a:solidFill>
                <a:latin typeface="Urbanist"/>
                <a:ea typeface="Urbanist"/>
                <a:cs typeface="Urbanist"/>
                <a:sym typeface="Urbanist"/>
              </a:rPr>
              <a:t> Start by checking if 'a' is the smallest. If it is, then you just need to compare 'b' and 'c' inside that block (Nested conditions!).</a:t>
            </a:r>
            <a:endParaRPr/>
          </a:p>
        </p:txBody>
      </p:sp>
      <p:sp>
        <p:nvSpPr>
          <p:cNvPr id="278" name="Google Shape;278;p25"/>
          <p:cNvSpPr txBox="1"/>
          <p:nvPr/>
        </p:nvSpPr>
        <p:spPr>
          <a:xfrm>
            <a:off x="914400" y="2152650"/>
            <a:ext cx="10881360" cy="3619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400" b="0" i="0" u="none" strike="noStrike" cap="none">
                <a:solidFill>
                  <a:srgbClr val="58A6FF"/>
                </a:solidFill>
                <a:latin typeface="Urbanist SemiBold"/>
                <a:ea typeface="Urbanist SemiBold"/>
                <a:cs typeface="Urbanist SemiBold"/>
                <a:sym typeface="Urbanist SemiBold"/>
              </a:rPr>
              <a:t>Task: Sorting 3 Numbers</a:t>
            </a:r>
            <a:endParaRPr/>
          </a:p>
        </p:txBody>
      </p:sp>
      <p:sp>
        <p:nvSpPr>
          <p:cNvPr id="279" name="Google Shape;279;p25"/>
          <p:cNvSpPr txBox="1"/>
          <p:nvPr/>
        </p:nvSpPr>
        <p:spPr>
          <a:xfrm>
            <a:off x="914400" y="2705100"/>
            <a:ext cx="10363200" cy="31432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50" b="0" i="0" u="none" strike="noStrike" cap="none">
                <a:solidFill>
                  <a:srgbClr val="C9D1D9"/>
                </a:solidFill>
                <a:latin typeface="Urbanist"/>
                <a:ea typeface="Urbanist"/>
                <a:cs typeface="Urbanist"/>
                <a:sym typeface="Urbanist"/>
              </a:rPr>
              <a:t>Ask the user for three different integers (a, b, c).</a:t>
            </a:r>
            <a:endParaRPr/>
          </a:p>
        </p:txBody>
      </p:sp>
      <p:sp>
        <p:nvSpPr>
          <p:cNvPr id="280" name="Google Shape;280;p25"/>
          <p:cNvSpPr txBox="1"/>
          <p:nvPr/>
        </p:nvSpPr>
        <p:spPr>
          <a:xfrm>
            <a:off x="914400" y="3162300"/>
            <a:ext cx="10363200" cy="31432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50" b="0" i="0" u="none" strike="noStrike" cap="none">
                <a:solidFill>
                  <a:srgbClr val="C9D1D9"/>
                </a:solidFill>
                <a:latin typeface="Urbanist"/>
                <a:ea typeface="Urbanist"/>
                <a:cs typeface="Urbanist"/>
                <a:sym typeface="Urbanist"/>
              </a:rPr>
              <a:t>Your goal is to print them in ascending order (from smallest to largest).</a:t>
            </a:r>
            <a:endParaRPr/>
          </a:p>
        </p:txBody>
      </p:sp>
      <p:pic>
        <p:nvPicPr>
          <p:cNvPr id="281" name="Google Shape;281;p25" descr="image.png"/>
          <p:cNvPicPr preferRelativeResize="0"/>
          <p:nvPr/>
        </p:nvPicPr>
        <p:blipFill rotWithShape="1">
          <a:blip r:embed="rId4">
            <a:alphaModFix/>
          </a:blip>
          <a:srcRect/>
          <a:stretch/>
        </p:blipFill>
        <p:spPr>
          <a:xfrm>
            <a:off x="623875" y="4343400"/>
            <a:ext cx="171450" cy="190500"/>
          </a:xfrm>
          <a:prstGeom prst="rect">
            <a:avLst/>
          </a:prstGeom>
          <a:noFill/>
          <a:ln>
            <a:noFill/>
          </a:ln>
        </p:spPr>
      </p:pic>
      <p:pic>
        <p:nvPicPr>
          <p:cNvPr id="282" name="Google Shape;282;p25" descr="image.png"/>
          <p:cNvPicPr preferRelativeResize="0"/>
          <p:nvPr/>
        </p:nvPicPr>
        <p:blipFill rotWithShape="1">
          <a:blip r:embed="rId5">
            <a:alphaModFix/>
          </a:blip>
          <a:srcRect/>
          <a:stretch/>
        </p:blipFill>
        <p:spPr>
          <a:xfrm>
            <a:off x="4879325" y="4296975"/>
            <a:ext cx="857250" cy="323850"/>
          </a:xfrm>
          <a:prstGeom prst="rect">
            <a:avLst/>
          </a:prstGeom>
          <a:noFill/>
          <a:ln>
            <a:noFill/>
          </a:ln>
        </p:spPr>
      </p:pic>
      <p:pic>
        <p:nvPicPr>
          <p:cNvPr id="283" name="Google Shape;283;p25" descr="image.png"/>
          <p:cNvPicPr preferRelativeResize="0"/>
          <p:nvPr/>
        </p:nvPicPr>
        <p:blipFill rotWithShape="1">
          <a:blip r:embed="rId6">
            <a:alphaModFix/>
          </a:blip>
          <a:srcRect/>
          <a:stretch/>
        </p:blipFill>
        <p:spPr>
          <a:xfrm>
            <a:off x="5830400" y="4296975"/>
            <a:ext cx="742950" cy="323850"/>
          </a:xfrm>
          <a:prstGeom prst="rect">
            <a:avLst/>
          </a:prstGeom>
          <a:noFill/>
          <a:ln>
            <a:noFill/>
          </a:ln>
        </p:spPr>
      </p:pic>
      <p:pic>
        <p:nvPicPr>
          <p:cNvPr id="284" name="Google Shape;284;p25" descr="image.png"/>
          <p:cNvPicPr preferRelativeResize="0"/>
          <p:nvPr/>
        </p:nvPicPr>
        <p:blipFill rotWithShape="1">
          <a:blip r:embed="rId7">
            <a:alphaModFix/>
          </a:blip>
          <a:srcRect/>
          <a:stretch/>
        </p:blipFill>
        <p:spPr>
          <a:xfrm>
            <a:off x="6833025" y="4296975"/>
            <a:ext cx="742950" cy="323850"/>
          </a:xfrm>
          <a:prstGeom prst="rect">
            <a:avLst/>
          </a:prstGeom>
          <a:noFill/>
          <a:ln>
            <a:noFill/>
          </a:ln>
        </p:spPr>
      </p:pic>
      <p:pic>
        <p:nvPicPr>
          <p:cNvPr id="285" name="Google Shape;285;p25" descr="image.png"/>
          <p:cNvPicPr preferRelativeResize="0"/>
          <p:nvPr/>
        </p:nvPicPr>
        <p:blipFill rotWithShape="1">
          <a:blip r:embed="rId8">
            <a:alphaModFix/>
          </a:blip>
          <a:srcRect/>
          <a:stretch/>
        </p:blipFill>
        <p:spPr>
          <a:xfrm>
            <a:off x="571500" y="5419725"/>
            <a:ext cx="161925" cy="209550"/>
          </a:xfrm>
          <a:prstGeom prst="rect">
            <a:avLst/>
          </a:prstGeom>
          <a:noFill/>
          <a:ln>
            <a:noFill/>
          </a:ln>
        </p:spPr>
      </p:pic>
      <p:sp>
        <p:nvSpPr>
          <p:cNvPr id="286" name="Google Shape;286;p25"/>
          <p:cNvSpPr txBox="1"/>
          <p:nvPr/>
        </p:nvSpPr>
        <p:spPr>
          <a:xfrm>
            <a:off x="571500" y="476250"/>
            <a:ext cx="11601450" cy="5238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b="0" i="0" u="none" strike="noStrike" cap="none">
                <a:solidFill>
                  <a:srgbClr val="E6EDF3"/>
                </a:solidFill>
                <a:latin typeface="Urbanist SemiBold"/>
                <a:ea typeface="Urbanist SemiBold"/>
                <a:cs typeface="Urbanist SemiBold"/>
                <a:sym typeface="Urbanist SemiBold"/>
              </a:rPr>
              <a:t>Exercise 10: </a:t>
            </a:r>
            <a:r>
              <a:rPr lang="en-US" sz="3300" b="0" i="0" u="none" strike="noStrike" cap="none">
                <a:solidFill>
                  <a:srgbClr val="3FB950"/>
                </a:solidFill>
                <a:latin typeface="Urbanist SemiBold"/>
                <a:ea typeface="Urbanist SemiBold"/>
                <a:cs typeface="Urbanist SemiBold"/>
                <a:sym typeface="Urbanist SemiBold"/>
              </a:rPr>
              <a:t>Pure Logic Challenge</a:t>
            </a:r>
            <a:endParaRPr/>
          </a:p>
        </p:txBody>
      </p:sp>
      <p:sp>
        <p:nvSpPr>
          <p:cNvPr id="287" name="Google Shape;287;p25"/>
          <p:cNvSpPr/>
          <p:nvPr/>
        </p:nvSpPr>
        <p:spPr>
          <a:xfrm>
            <a:off x="571500" y="1123950"/>
            <a:ext cx="11049000" cy="19050"/>
          </a:xfrm>
          <a:prstGeom prst="rect">
            <a:avLst/>
          </a:prstGeom>
          <a:solidFill>
            <a:srgbClr val="30363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D1117"/>
        </a:solidFill>
        <a:effectLst/>
      </p:bgPr>
    </p:bg>
    <p:spTree>
      <p:nvGrpSpPr>
        <p:cNvPr id="1" name="Shape 291"/>
        <p:cNvGrpSpPr/>
        <p:nvPr/>
      </p:nvGrpSpPr>
      <p:grpSpPr>
        <a:xfrm>
          <a:off x="0" y="0"/>
          <a:ext cx="0" cy="0"/>
          <a:chOff x="0" y="0"/>
          <a:chExt cx="0" cy="0"/>
        </a:xfrm>
      </p:grpSpPr>
      <p:pic>
        <p:nvPicPr>
          <p:cNvPr id="292" name="Google Shape;292;p26" descr="image.png"/>
          <p:cNvPicPr preferRelativeResize="0"/>
          <p:nvPr/>
        </p:nvPicPr>
        <p:blipFill rotWithShape="1">
          <a:blip r:embed="rId3">
            <a:alphaModFix/>
          </a:blip>
          <a:srcRect/>
          <a:stretch/>
        </p:blipFill>
        <p:spPr>
          <a:xfrm>
            <a:off x="571500" y="2286000"/>
            <a:ext cx="11049000" cy="2933700"/>
          </a:xfrm>
          <a:prstGeom prst="rect">
            <a:avLst/>
          </a:prstGeom>
          <a:noFill/>
          <a:ln>
            <a:noFill/>
          </a:ln>
        </p:spPr>
      </p:pic>
      <p:pic>
        <p:nvPicPr>
          <p:cNvPr id="293" name="Google Shape;293;p26" descr="image.png"/>
          <p:cNvPicPr preferRelativeResize="0"/>
          <p:nvPr/>
        </p:nvPicPr>
        <p:blipFill rotWithShape="1">
          <a:blip r:embed="rId4">
            <a:alphaModFix/>
          </a:blip>
          <a:srcRect/>
          <a:stretch/>
        </p:blipFill>
        <p:spPr>
          <a:xfrm>
            <a:off x="6129750" y="3367075"/>
            <a:ext cx="5286375" cy="838200"/>
          </a:xfrm>
          <a:prstGeom prst="rect">
            <a:avLst/>
          </a:prstGeom>
          <a:noFill/>
          <a:ln>
            <a:noFill/>
          </a:ln>
        </p:spPr>
      </p:pic>
      <p:sp>
        <p:nvSpPr>
          <p:cNvPr id="294" name="Google Shape;294;p26"/>
          <p:cNvSpPr txBox="1"/>
          <p:nvPr/>
        </p:nvSpPr>
        <p:spPr>
          <a:xfrm>
            <a:off x="571500" y="1466850"/>
            <a:ext cx="5286375" cy="6286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650" b="0" i="0" u="none" strike="noStrike" cap="none">
                <a:solidFill>
                  <a:srgbClr val="C9D1D9"/>
                </a:solidFill>
                <a:latin typeface="Urbanist"/>
                <a:ea typeface="Urbanist"/>
                <a:cs typeface="Urbanist"/>
                <a:sym typeface="Urbanist"/>
              </a:rPr>
              <a:t>Ask the user for a year (e.g., 2024). Determine if it is a Leap Year.</a:t>
            </a:r>
            <a:endParaRPr/>
          </a:p>
        </p:txBody>
      </p:sp>
      <p:sp>
        <p:nvSpPr>
          <p:cNvPr id="295" name="Google Shape;295;p26"/>
          <p:cNvSpPr txBox="1"/>
          <p:nvPr/>
        </p:nvSpPr>
        <p:spPr>
          <a:xfrm>
            <a:off x="819150" y="2486025"/>
            <a:ext cx="5030628" cy="2571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0" i="0" u="none" strike="noStrike" cap="none">
                <a:solidFill>
                  <a:srgbClr val="58A6FF"/>
                </a:solidFill>
                <a:latin typeface="Urbanist SemiBold"/>
                <a:ea typeface="Urbanist SemiBold"/>
                <a:cs typeface="Urbanist SemiBold"/>
                <a:sym typeface="Urbanist SemiBold"/>
              </a:rPr>
              <a:t>Mathematical Algorithm:</a:t>
            </a:r>
            <a:endParaRPr/>
          </a:p>
        </p:txBody>
      </p:sp>
      <p:pic>
        <p:nvPicPr>
          <p:cNvPr id="296" name="Google Shape;296;p26" descr="image.png"/>
          <p:cNvPicPr preferRelativeResize="0"/>
          <p:nvPr/>
        </p:nvPicPr>
        <p:blipFill rotWithShape="1">
          <a:blip r:embed="rId5">
            <a:alphaModFix/>
          </a:blip>
          <a:srcRect/>
          <a:stretch/>
        </p:blipFill>
        <p:spPr>
          <a:xfrm>
            <a:off x="7710900" y="3738550"/>
            <a:ext cx="514350" cy="323850"/>
          </a:xfrm>
          <a:prstGeom prst="rect">
            <a:avLst/>
          </a:prstGeom>
          <a:noFill/>
          <a:ln>
            <a:noFill/>
          </a:ln>
        </p:spPr>
      </p:pic>
      <p:pic>
        <p:nvPicPr>
          <p:cNvPr id="297" name="Google Shape;297;p26" descr="image.png"/>
          <p:cNvPicPr preferRelativeResize="0"/>
          <p:nvPr/>
        </p:nvPicPr>
        <p:blipFill rotWithShape="1">
          <a:blip r:embed="rId6">
            <a:alphaModFix/>
          </a:blip>
          <a:srcRect/>
          <a:stretch/>
        </p:blipFill>
        <p:spPr>
          <a:xfrm>
            <a:off x="8387175" y="3738550"/>
            <a:ext cx="400050" cy="323850"/>
          </a:xfrm>
          <a:prstGeom prst="rect">
            <a:avLst/>
          </a:prstGeom>
          <a:noFill/>
          <a:ln>
            <a:noFill/>
          </a:ln>
        </p:spPr>
      </p:pic>
      <p:sp>
        <p:nvSpPr>
          <p:cNvPr id="298" name="Google Shape;298;p26"/>
          <p:cNvSpPr txBox="1"/>
          <p:nvPr/>
        </p:nvSpPr>
        <p:spPr>
          <a:xfrm>
            <a:off x="914400" y="2886075"/>
            <a:ext cx="95250" cy="3143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0" i="0" u="none" strike="noStrike" cap="none">
                <a:solidFill>
                  <a:srgbClr val="C9D1D9"/>
                </a:solidFill>
                <a:latin typeface="Urbanist"/>
                <a:ea typeface="Urbanist"/>
                <a:cs typeface="Urbanist"/>
                <a:sym typeface="Urbanist"/>
              </a:rPr>
              <a:t>1.</a:t>
            </a:r>
            <a:endParaRPr/>
          </a:p>
        </p:txBody>
      </p:sp>
      <p:sp>
        <p:nvSpPr>
          <p:cNvPr id="299" name="Google Shape;299;p26"/>
          <p:cNvSpPr txBox="1"/>
          <p:nvPr/>
        </p:nvSpPr>
        <p:spPr>
          <a:xfrm>
            <a:off x="1009650" y="2886075"/>
            <a:ext cx="4600500" cy="634800"/>
          </a:xfrm>
          <a:prstGeom prst="rect">
            <a:avLst/>
          </a:prstGeom>
          <a:noFill/>
          <a:ln>
            <a:noFill/>
          </a:ln>
        </p:spPr>
        <p:txBody>
          <a:bodyPr spcFirstLastPara="1" wrap="square" lIns="95250" tIns="0" rIns="0" bIns="0" anchor="t" anchorCtr="0">
            <a:spAutoFit/>
          </a:bodyPr>
          <a:lstStyle/>
          <a:p>
            <a:pPr marL="0" marR="0" lvl="0" indent="0" algn="l" rtl="0">
              <a:lnSpc>
                <a:spcPct val="150000"/>
              </a:lnSpc>
              <a:spcBef>
                <a:spcPts val="0"/>
              </a:spcBef>
              <a:spcAft>
                <a:spcPts val="0"/>
              </a:spcAft>
              <a:buNone/>
            </a:pPr>
            <a:r>
              <a:rPr lang="en-US" sz="1650" b="0" i="0" u="none" strike="noStrike" cap="none">
                <a:solidFill>
                  <a:srgbClr val="C9D1D9"/>
                </a:solidFill>
                <a:latin typeface="Urbanist"/>
                <a:ea typeface="Urbanist"/>
                <a:cs typeface="Urbanist"/>
                <a:sym typeface="Urbanist"/>
              </a:rPr>
              <a:t>If year is </a:t>
            </a:r>
            <a:r>
              <a:rPr lang="en-US" sz="1650">
                <a:solidFill>
                  <a:srgbClr val="C9D1D9"/>
                </a:solidFill>
                <a:latin typeface="Urbanist"/>
                <a:ea typeface="Urbanist"/>
                <a:cs typeface="Urbanist"/>
                <a:sym typeface="Urbanist"/>
              </a:rPr>
              <a:t>divisible</a:t>
            </a:r>
            <a:r>
              <a:rPr lang="en-US" sz="1650" b="0" i="0" u="none" strike="noStrike" cap="none">
                <a:solidFill>
                  <a:srgbClr val="C9D1D9"/>
                </a:solidFill>
                <a:latin typeface="Urbanist"/>
                <a:ea typeface="Urbanist"/>
                <a:cs typeface="Urbanist"/>
                <a:sym typeface="Urbanist"/>
              </a:rPr>
              <a:t> by </a:t>
            </a:r>
            <a:r>
              <a:rPr lang="en-US" sz="1650">
                <a:solidFill>
                  <a:srgbClr val="C9D1D9"/>
                </a:solidFill>
                <a:latin typeface="Urbanist"/>
                <a:ea typeface="Urbanist"/>
                <a:cs typeface="Urbanist"/>
                <a:sym typeface="Urbanist"/>
              </a:rPr>
              <a:t>4</a:t>
            </a:r>
            <a:r>
              <a:rPr lang="en-US" sz="1650" b="0" i="0" u="none" strike="noStrike" cap="none">
                <a:solidFill>
                  <a:srgbClr val="C9D1D9"/>
                </a:solidFill>
                <a:latin typeface="Urbanist"/>
                <a:ea typeface="Urbanist"/>
                <a:cs typeface="Urbanist"/>
                <a:sym typeface="Urbanist"/>
              </a:rPr>
              <a:t>, go to step 2. Else, NOT a leap year.</a:t>
            </a:r>
            <a:endParaRPr/>
          </a:p>
        </p:txBody>
      </p:sp>
      <p:sp>
        <p:nvSpPr>
          <p:cNvPr id="300" name="Google Shape;300;p26"/>
          <p:cNvSpPr txBox="1"/>
          <p:nvPr/>
        </p:nvSpPr>
        <p:spPr>
          <a:xfrm>
            <a:off x="857250" y="3629025"/>
            <a:ext cx="152400" cy="3143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0" i="0" u="none" strike="noStrike" cap="none">
                <a:solidFill>
                  <a:srgbClr val="C9D1D9"/>
                </a:solidFill>
                <a:latin typeface="Urbanist"/>
                <a:ea typeface="Urbanist"/>
                <a:cs typeface="Urbanist"/>
                <a:sym typeface="Urbanist"/>
              </a:rPr>
              <a:t>2.</a:t>
            </a:r>
            <a:endParaRPr/>
          </a:p>
        </p:txBody>
      </p:sp>
      <p:sp>
        <p:nvSpPr>
          <p:cNvPr id="301" name="Google Shape;301;p26"/>
          <p:cNvSpPr txBox="1"/>
          <p:nvPr/>
        </p:nvSpPr>
        <p:spPr>
          <a:xfrm>
            <a:off x="1009650" y="3629025"/>
            <a:ext cx="4600500" cy="634800"/>
          </a:xfrm>
          <a:prstGeom prst="rect">
            <a:avLst/>
          </a:prstGeom>
          <a:noFill/>
          <a:ln>
            <a:noFill/>
          </a:ln>
        </p:spPr>
        <p:txBody>
          <a:bodyPr spcFirstLastPara="1" wrap="square" lIns="152400" tIns="0" rIns="0" bIns="0" anchor="t" anchorCtr="0">
            <a:spAutoFit/>
          </a:bodyPr>
          <a:lstStyle/>
          <a:p>
            <a:pPr marL="0" marR="0" lvl="0" indent="0" algn="l" rtl="0">
              <a:lnSpc>
                <a:spcPct val="150000"/>
              </a:lnSpc>
              <a:spcBef>
                <a:spcPts val="0"/>
              </a:spcBef>
              <a:spcAft>
                <a:spcPts val="0"/>
              </a:spcAft>
              <a:buNone/>
            </a:pPr>
            <a:r>
              <a:rPr lang="en-US" sz="1650" b="0" i="0" u="none" strike="noStrike" cap="none">
                <a:solidFill>
                  <a:srgbClr val="C9D1D9"/>
                </a:solidFill>
                <a:latin typeface="Urbanist"/>
                <a:ea typeface="Urbanist"/>
                <a:cs typeface="Urbanist"/>
                <a:sym typeface="Urbanist"/>
              </a:rPr>
              <a:t>If year is divis</a:t>
            </a:r>
            <a:r>
              <a:rPr lang="en-US" sz="1650">
                <a:solidFill>
                  <a:srgbClr val="C9D1D9"/>
                </a:solidFill>
                <a:latin typeface="Urbanist"/>
                <a:ea typeface="Urbanist"/>
                <a:cs typeface="Urbanist"/>
                <a:sym typeface="Urbanist"/>
              </a:rPr>
              <a:t>ible by 100</a:t>
            </a:r>
            <a:r>
              <a:rPr lang="en-US" sz="1650" b="0" i="0" u="none" strike="noStrike" cap="none">
                <a:solidFill>
                  <a:srgbClr val="C9D1D9"/>
                </a:solidFill>
                <a:latin typeface="Urbanist"/>
                <a:ea typeface="Urbanist"/>
                <a:cs typeface="Urbanist"/>
                <a:sym typeface="Urbanist"/>
              </a:rPr>
              <a:t>, go to step 3. Else, </a:t>
            </a:r>
            <a:r>
              <a:rPr lang="en-US" sz="1650">
                <a:solidFill>
                  <a:srgbClr val="C9D1D9"/>
                </a:solidFill>
                <a:latin typeface="Urbanist"/>
                <a:ea typeface="Urbanist"/>
                <a:cs typeface="Urbanist"/>
                <a:sym typeface="Urbanist"/>
              </a:rPr>
              <a:t>IS</a:t>
            </a:r>
            <a:r>
              <a:rPr lang="en-US" sz="1650" b="0" i="0" u="none" strike="noStrike" cap="none">
                <a:solidFill>
                  <a:srgbClr val="C9D1D9"/>
                </a:solidFill>
                <a:latin typeface="Urbanist"/>
                <a:ea typeface="Urbanist"/>
                <a:cs typeface="Urbanist"/>
                <a:sym typeface="Urbanist"/>
              </a:rPr>
              <a:t> a leap year.</a:t>
            </a:r>
            <a:endParaRPr/>
          </a:p>
        </p:txBody>
      </p:sp>
      <p:sp>
        <p:nvSpPr>
          <p:cNvPr id="302" name="Google Shape;302;p26"/>
          <p:cNvSpPr txBox="1"/>
          <p:nvPr/>
        </p:nvSpPr>
        <p:spPr>
          <a:xfrm>
            <a:off x="866775" y="4371975"/>
            <a:ext cx="142875" cy="3143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0" i="0" u="none" strike="noStrike" cap="none">
                <a:solidFill>
                  <a:srgbClr val="C9D1D9"/>
                </a:solidFill>
                <a:latin typeface="Urbanist"/>
                <a:ea typeface="Urbanist"/>
                <a:cs typeface="Urbanist"/>
                <a:sym typeface="Urbanist"/>
              </a:rPr>
              <a:t>3.</a:t>
            </a:r>
            <a:endParaRPr/>
          </a:p>
        </p:txBody>
      </p:sp>
      <p:sp>
        <p:nvSpPr>
          <p:cNvPr id="303" name="Google Shape;303;p26"/>
          <p:cNvSpPr txBox="1"/>
          <p:nvPr/>
        </p:nvSpPr>
        <p:spPr>
          <a:xfrm>
            <a:off x="1009650" y="4371975"/>
            <a:ext cx="4600500" cy="634800"/>
          </a:xfrm>
          <a:prstGeom prst="rect">
            <a:avLst/>
          </a:prstGeom>
          <a:noFill/>
          <a:ln>
            <a:noFill/>
          </a:ln>
        </p:spPr>
        <p:txBody>
          <a:bodyPr spcFirstLastPara="1" wrap="square" lIns="142875" tIns="0" rIns="0" bIns="0" anchor="t" anchorCtr="0">
            <a:spAutoFit/>
          </a:bodyPr>
          <a:lstStyle/>
          <a:p>
            <a:pPr marL="0" marR="0" lvl="0" indent="0" algn="l" rtl="0">
              <a:lnSpc>
                <a:spcPct val="150000"/>
              </a:lnSpc>
              <a:spcBef>
                <a:spcPts val="0"/>
              </a:spcBef>
              <a:spcAft>
                <a:spcPts val="0"/>
              </a:spcAft>
              <a:buNone/>
            </a:pPr>
            <a:r>
              <a:rPr lang="en-US" sz="1650" b="0" i="0" u="none" strike="noStrike" cap="none">
                <a:solidFill>
                  <a:srgbClr val="C9D1D9"/>
                </a:solidFill>
                <a:latin typeface="Urbanist"/>
                <a:ea typeface="Urbanist"/>
                <a:cs typeface="Urbanist"/>
                <a:sym typeface="Urbanist"/>
              </a:rPr>
              <a:t>If  </a:t>
            </a:r>
            <a:r>
              <a:rPr lang="en-US" sz="1650">
                <a:solidFill>
                  <a:srgbClr val="C9D1D9"/>
                </a:solidFill>
                <a:latin typeface="Urbanist"/>
                <a:ea typeface="Urbanist"/>
                <a:cs typeface="Urbanist"/>
                <a:sym typeface="Urbanist"/>
              </a:rPr>
              <a:t>year is divisible by 400</a:t>
            </a:r>
            <a:r>
              <a:rPr lang="en-US" sz="1650" b="0" i="0" u="none" strike="noStrike" cap="none">
                <a:solidFill>
                  <a:srgbClr val="C9D1D9"/>
                </a:solidFill>
                <a:latin typeface="Urbanist"/>
                <a:ea typeface="Urbanist"/>
                <a:cs typeface="Urbanist"/>
                <a:sym typeface="Urbanist"/>
              </a:rPr>
              <a:t>, IS a leap year. Else, NOT a leap year.</a:t>
            </a:r>
            <a:endParaRPr/>
          </a:p>
        </p:txBody>
      </p:sp>
      <p:sp>
        <p:nvSpPr>
          <p:cNvPr id="304" name="Google Shape;304;p26"/>
          <p:cNvSpPr txBox="1"/>
          <p:nvPr/>
        </p:nvSpPr>
        <p:spPr>
          <a:xfrm>
            <a:off x="571500" y="476250"/>
            <a:ext cx="11601600" cy="5079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300">
                <a:solidFill>
                  <a:srgbClr val="E6EDF3"/>
                </a:solidFill>
                <a:latin typeface="Urbanist SemiBold"/>
                <a:ea typeface="Urbanist SemiBold"/>
                <a:cs typeface="Urbanist SemiBold"/>
                <a:sym typeface="Urbanist SemiBold"/>
              </a:rPr>
              <a:t>Exercise 11</a:t>
            </a:r>
            <a:r>
              <a:rPr lang="en-US" sz="3300" b="0" i="0" u="none" strike="noStrike" cap="none">
                <a:solidFill>
                  <a:srgbClr val="E6EDF3"/>
                </a:solidFill>
                <a:latin typeface="Urbanist SemiBold"/>
                <a:ea typeface="Urbanist SemiBold"/>
                <a:cs typeface="Urbanist SemiBold"/>
                <a:sym typeface="Urbanist SemiBold"/>
              </a:rPr>
              <a:t>: </a:t>
            </a:r>
            <a:r>
              <a:rPr lang="en-US" sz="3300" b="0" i="0" u="none" strike="noStrike" cap="none">
                <a:solidFill>
                  <a:srgbClr val="3FB950"/>
                </a:solidFill>
                <a:latin typeface="Urbanist SemiBold"/>
                <a:ea typeface="Urbanist SemiBold"/>
                <a:cs typeface="Urbanist SemiBold"/>
                <a:sym typeface="Urbanist SemiBold"/>
              </a:rPr>
              <a:t>The Leap Year </a:t>
            </a:r>
            <a:endParaRPr/>
          </a:p>
        </p:txBody>
      </p:sp>
      <p:sp>
        <p:nvSpPr>
          <p:cNvPr id="305" name="Google Shape;305;p26"/>
          <p:cNvSpPr/>
          <p:nvPr/>
        </p:nvSpPr>
        <p:spPr>
          <a:xfrm>
            <a:off x="571500" y="1123950"/>
            <a:ext cx="11049000" cy="19050"/>
          </a:xfrm>
          <a:prstGeom prst="rect">
            <a:avLst/>
          </a:prstGeom>
          <a:solidFill>
            <a:srgbClr val="30363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Belge" ma:contentTypeID="0x010100A1E18385FE39D941AA199D3D339AA629" ma:contentTypeVersion="3" ma:contentTypeDescription="Yeni belge oluşturun." ma:contentTypeScope="" ma:versionID="19aa0f239003ff5cb8729c287f217ad6">
  <xsd:schema xmlns:xsd="http://www.w3.org/2001/XMLSchema" xmlns:xs="http://www.w3.org/2001/XMLSchema" xmlns:p="http://schemas.microsoft.com/office/2006/metadata/properties" xmlns:ns2="a80aa6ed-64eb-4536-b734-1570525c18fd" targetNamespace="http://schemas.microsoft.com/office/2006/metadata/properties" ma:root="true" ma:fieldsID="bc5b12e7dacf0f92481a936137e04f52" ns2:_="">
    <xsd:import namespace="a80aa6ed-64eb-4536-b734-1570525c18fd"/>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80aa6ed-64eb-4536-b734-1570525c18f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çerik Türü"/>
        <xsd:element ref="dc:title" minOccurs="0" maxOccurs="1" ma:index="4" ma:displayName="Başlık"/>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54E643DB-BA99-4911-9E0C-2318BE3E6A52}">
  <ds:schemaRefs>
    <ds:schemaRef ds:uri="http://schemas.microsoft.com/sharepoint/v3/contenttype/forms"/>
  </ds:schemaRefs>
</ds:datastoreItem>
</file>

<file path=customXml/itemProps2.xml><?xml version="1.0" encoding="utf-8"?>
<ds:datastoreItem xmlns:ds="http://schemas.openxmlformats.org/officeDocument/2006/customXml" ds:itemID="{B4872ECF-1842-49DE-A3A7-1525E57667EA}"/>
</file>

<file path=customXml/itemProps3.xml><?xml version="1.0" encoding="utf-8"?>
<ds:datastoreItem xmlns:ds="http://schemas.openxmlformats.org/officeDocument/2006/customXml" ds:itemID="{FC37B681-334D-4C64-A13E-B9F2EAC0ED31}">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14</Slides>
  <Notes>14</Notes>
  <HiddenSlides>0</HiddenSlide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2</cp:revision>
  <dcterms:modified xsi:type="dcterms:W3CDTF">2026-04-02T23:08:41Z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0x010100A1E18385FE39D941AA199D3D339AA629</vt:lpwstr>
  </property>
</Properties>
</file>