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70" r:id="rId6"/>
    <p:sldId id="260" r:id="rId7"/>
    <p:sldId id="271" r:id="rId8"/>
    <p:sldId id="261" r:id="rId9"/>
    <p:sldId id="272" r:id="rId10"/>
    <p:sldId id="262" r:id="rId11"/>
    <p:sldId id="273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23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Merhaba arkadaşlar, bugün Python'da class konusunu pratiğe dökeceğiz. Teorisini geçen hafta işledik, bugün elimizi kirletiyoruz. Toplamda beş egzersiz var, her biri bir öncekinin üstüne kuruluyor, o yüzden sırayla gidelim. Hazırsak başlayalım.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Egzersizlere geçmeden önce birkaç soru soracağım, cevapları sağ tarafta zaten var ama önce siz düşünün.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Birinci soru: class nedir? Düşünün... Tamam, class bir şablondur. Mesela Dog class'ı yazdığınızda, "köpek nasıl bir şeydir" diye tanımlamış oluyorsunuz. Rex ve Bella bu şablondan üretilmiş somut örnekler, yani objeler.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İkinci soru: obje nedir? Class'tan üretilen somut bir örnektir. Class tarif, obje ise o tariften yapılmış gerçek şey.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Üçüncü soru: attribute ne işe yarar? Objenin taşıdığı verilerdir. Bir köpeğin adı ve cinsi olabilir — bunlar 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Dördüncü soru: __init__ ne yapar? Obje oluşturulduğu anda otomatik çalışır. Dog("Rex", "Labrador") yazdığınızda Python hemen __init__'i çağırır ve name ile breed'i set eder. Siz çağırmazsınız, Python çağırır.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Beşinci soru: self nedir? Metodun hangi obje üzerinde çalıştığını söyler. dog1.bark() yazdığınızda self dog1 olur, dog2.bark() yazdığınızda self dog2 olur. Yani self "ben bu objeyim" demek.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Tamam, sorular bitti. Şimdi kodlamaya geçiyoruz.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Starter kodu verdik, class ve __init__ hazır. Sizden tek istenen bark() metodunu yazmak.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Methodun içinde ne olacak? self.name'e erişip f-string ile mesajı yazdırmanız gerekiyor.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Yazarken dikkat edin: def bark(self): diye başlıyorsunuz, self parametresini unutmayın. İçeride print yazıyorsunuz, return değil.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Beş dakikanız var, başlayın.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Çözümü birlikte bakalım.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__init__ içinde self.name ve self.breed'i set ediyoruz. bark metodunda f-string kullanıyoruz: süslü parantez içinde self.name yazınca Python objenin name attribute'una bakıyor ve değeri oraya koyuyor.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dog1 ve dog2 aynı class'tan üretildi ama tamamen bağımsız objeler, birinin name'ini değiştirseniz diğeri etkilenmiyor.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Sorunuz var mı?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Starter kodu verdik, class ve __init__ hazır. İki metod yazmanız gerekiyor.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Birincisi greet(): self.name ve self.age kullanarak bir karşılama mesajı yazdıracak.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İkincisi is_passing(): self.grade 50 veya üstünde ise True, değilse False döndürecek. return self.grade &gt;= 50 yazmanız yeterli.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On dakikanız var, başlayın.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greet() metodunda self.name ve self.age'i f-string içinde kullanıyoruz.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is_passing() için return self.grade &gt;= 50 yazıyoruz. Karşılaştırma zaten True veya False üretiyor, ayrıca if-else yazmaya gerek yok.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Sorunuz var mı?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Üçüncü egzersiz, BankAccount. Burada mantık önemli: withdraw metodunda önce kontrol yapacaksınız, sonra işlem.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Yani şöyle: eğer çekilmek istenen miktar bakiyeden büyükse "Insufficient funds" yazdırıyorsunuz ve hiçbir şey değişmiyor. Değilse bakiyeyi düşürüyorsunuz. Sırayı karıştırmayın, önce if, sonra işlem.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deposit zaten basit: self.balance artı eşittir amount.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__str__ için: f-string ile owner ve balance'ı formatlayın, tam olarak slayttaki gibi görünmesi gerekiyor.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On iki dakikanız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withdraw metodunda koşul sırası çok önemli. Önce if amount &gt; self.balance kontrolünü yapıyoruz. Eğer doğruysa "Insufficient funds" yazdırıyoruz ve metoddan çıkıyoruz, bakiye değişmiyor. Değilse self.balance'ı düşürüyoruz.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Bazılarınız önce self.balance -= amount yazmış olabilir, sonra if koymuş olabilirsiniz. Bu durumda bakiye zaten değişmiş oluyor, dikkat edin.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Sorunuz var mı?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Dördüncü egzersiz. İki class birden: ikinci egzersizdeki Student class'ınızı kullanacaksınız, üstüne bir de Classroom class'ı yazacaksınız.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Classroom'un __init__'inde boş bir liste başlatın: self.students = []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class_average için tüm notları toplayıp öğrenci sayısına bölün.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top_student için max fonksiyonunu kullanabilirsiniz. max(self.students, key=lambda s: s.grade) yazarsanız en yüksek notlu öğrenciyi bulur, sonuna .name eklerseniz adını alırsınız. Ya da döngüyle de yazabilirsiniz, ikisi de tamam.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Bu biraz daha uzun, on beş dakikanız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Student class'ını ikinci egzersizden birebir aldık, hiçbir şeyi değiştirmedik. Gerçek projlerde de böyle yaparsınız, çalışan kodu tekrar yazmak zorunda değilsiniz.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class_average için: sum(s.grade for s in self.students) tüm notları topluyor, bunu len(self.students)'a bölüyoruz.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top_student için: max fonksiyonuna key parametresi veriyoruz. lambda s: s.grade yazınca "her öğrencinin grade'ini kullanarak karşılaştır" demiş oluyoruz. En sona .name ekliyoruz çünkü sadece ismi istiyoruz, objenin tamamını değil.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Sorunuz var mı?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400" dirty="0">
                <a:latin typeface="Calibri"/>
              </a:rPr>
              <a:t>Şimdi inheritance konusuna bakıyoruz. Egzersiz yok, kısa bir açıklama yapıyorum.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Sol tarafta Animal class'ı var: name attribute'u ve speak() metodu var, normal bir class.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Sağ tarafta Dog class'ı var. class Dog(Animal) yazıyoruz, parantez içine Animal koyuyoruz, bu kadar. Artık Dog, Animal'ın her şeyine sahip.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Dikkat edin: Dog'un __init__'i yok. Ama d = Dog('Rex') yazabiliyoruz. Neden? Çünkü Animal'ın __init__'ini miras aldı. d.name yazabiliyoruz çünkü name Animal'dan geliyor.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speak() metodunu Dog içinde yeniden yazdık, bu override demek. Dog artık kendi speak'ini kullanıyor, Animal'ınkini değil.</a:t>
            </a:r>
          </a:p>
          <a:p>
            <a:r>
              <a:rPr lang="tr-TR" sz="1400" dirty="0">
                <a:latin typeface="Calibri"/>
              </a:rPr>
              <a:t> </a:t>
            </a:r>
          </a:p>
          <a:p>
            <a:r>
              <a:rPr lang="tr-TR" sz="1400" dirty="0">
                <a:latin typeface="Calibri"/>
              </a:rPr>
              <a:t>Kısaca: miras alınan her şeyi tekrar yazmak zorunda değilsiniz, sadece değiştirmek istediklerinizi yazıyorsunuz.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90525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84048" y="9875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PROGRAMMING  ·  PYTHON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135331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Classes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84048" y="19202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r>
              <a:rPr lang="tr-TR" sz="6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384048" y="3035808"/>
            <a:ext cx="841248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9560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question, think about it, then check the answer on the right.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52144"/>
            <a:ext cx="3977640" cy="804672"/>
          </a:xfrm>
          <a:prstGeom prst="rect">
            <a:avLst/>
          </a:prstGeom>
          <a:solidFill>
            <a:srgbClr val="F1F4F8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74320" y="1152144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" y="1207008"/>
            <a:ext cx="34381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class?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89120" y="1152144"/>
            <a:ext cx="4480560" cy="804672"/>
          </a:xfrm>
          <a:prstGeom prst="rect">
            <a:avLst/>
          </a:prstGeom>
          <a:solidFill>
            <a:srgbClr val="F8F9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462272" y="1152144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91456" y="1207008"/>
            <a:ext cx="3950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or template that describes what an object looks like and what it can 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12264"/>
            <a:ext cx="3977640" cy="804672"/>
          </a:xfrm>
          <a:prstGeom prst="rect">
            <a:avLst/>
          </a:prstGeom>
          <a:solidFill>
            <a:srgbClr val="F1F4F8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74320" y="2112264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" y="2167128"/>
            <a:ext cx="34381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object?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389120" y="2112264"/>
            <a:ext cx="4480560" cy="804672"/>
          </a:xfrm>
          <a:prstGeom prst="rect">
            <a:avLst/>
          </a:prstGeom>
          <a:solidFill>
            <a:srgbClr val="F8F9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462272" y="2112264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91456" y="2167128"/>
            <a:ext cx="3950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thing built from a class. One class can produce many different objects.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072384"/>
            <a:ext cx="3977640" cy="804672"/>
          </a:xfrm>
          <a:prstGeom prst="rect">
            <a:avLst/>
          </a:prstGeom>
          <a:solidFill>
            <a:srgbClr val="F1F4F8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74320" y="3072384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" y="3127248"/>
            <a:ext cx="34381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real-life example of a class and two objects made from it.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89120" y="3072384"/>
            <a:ext cx="4480560" cy="804672"/>
          </a:xfrm>
          <a:prstGeom prst="rect">
            <a:avLst/>
          </a:prstGeom>
          <a:solidFill>
            <a:srgbClr val="F8F9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462272" y="3072384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91456" y="3127248"/>
            <a:ext cx="3950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Car   →   Objects: my red Toyota,  your blue Honda.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49560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Q4–Q5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3977640" cy="786384"/>
          </a:xfrm>
          <a:prstGeom prst="rect">
            <a:avLst/>
          </a:prstGeom>
          <a:solidFill>
            <a:srgbClr val="F1F4F8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859536"/>
            <a:ext cx="34381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 __init__  do?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804672"/>
            <a:ext cx="4480560" cy="786384"/>
          </a:xfrm>
          <a:prstGeom prst="rect">
            <a:avLst/>
          </a:prstGeom>
          <a:solidFill>
            <a:srgbClr val="F8F9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462272" y="804672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91456" y="859536"/>
            <a:ext cx="3950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runs automatically when an object is created. It sets the object's starting attributes.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3977640" cy="786384"/>
          </a:xfrm>
          <a:prstGeom prst="rect">
            <a:avLst/>
          </a:prstGeom>
          <a:solidFill>
            <a:srgbClr val="F1F4F8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74320" y="173736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1792224"/>
            <a:ext cx="34381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 self 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1737360"/>
            <a:ext cx="4480560" cy="786384"/>
          </a:xfrm>
          <a:prstGeom prst="rect">
            <a:avLst/>
          </a:prstGeom>
          <a:solidFill>
            <a:srgbClr val="F8F9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462272" y="1737360"/>
            <a:ext cx="347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91456" y="1792224"/>
            <a:ext cx="3950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 refers to the object itself. It lets the method read and change that object's own attributes.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279806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  vs  Instance attribute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2834640" cy="402336"/>
          </a:xfrm>
          <a:prstGeom prst="rect">
            <a:avLst/>
          </a:prstGeom>
          <a:solidFill>
            <a:srgbClr val="1B2A4A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02336" y="31272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3127248"/>
            <a:ext cx="2834640" cy="402336"/>
          </a:xfrm>
          <a:prstGeom prst="rect">
            <a:avLst/>
          </a:prstGeom>
          <a:solidFill>
            <a:srgbClr val="1B2A4A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282696" y="31272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127248"/>
            <a:ext cx="2834640" cy="402336"/>
          </a:xfrm>
          <a:prstGeom prst="rect">
            <a:avLst/>
          </a:prstGeom>
          <a:solidFill>
            <a:srgbClr val="1B2A4A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163056" y="31272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529584"/>
            <a:ext cx="28346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02336" y="352958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defined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154680" y="3529584"/>
            <a:ext cx="28346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282696" y="352958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inside the class body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35040" y="3529584"/>
            <a:ext cx="28346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163056" y="352958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 __init__  using  self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2834640" cy="402336"/>
          </a:xfrm>
          <a:prstGeom prst="rect">
            <a:avLst/>
          </a:prstGeom>
          <a:solidFill>
            <a:srgbClr val="F1F4F8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02336" y="39319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Shared?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154680" y="3931920"/>
            <a:ext cx="2834640" cy="402336"/>
          </a:xfrm>
          <a:prstGeom prst="rect">
            <a:avLst/>
          </a:prstGeom>
          <a:solidFill>
            <a:srgbClr val="F1F4F8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282696" y="39319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same for every object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035040" y="3931920"/>
            <a:ext cx="2834640" cy="402336"/>
          </a:xfrm>
          <a:prstGeom prst="rect">
            <a:avLst/>
          </a:prstGeom>
          <a:solidFill>
            <a:srgbClr val="F1F4F8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163056" y="39319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— each object has its own value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74320" y="4334256"/>
            <a:ext cx="28346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02336" y="433425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154680" y="4334256"/>
            <a:ext cx="28346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3282696" y="433425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Dog.species = 'Canis lupus'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035040" y="4334256"/>
            <a:ext cx="28346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163056" y="433425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self.name = 'Rex'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class below is already written for you. Add a method called bark() that prints a message using the dog's name, like: Woof! My name is Rex. Then call bark() on both dogs.</a:t>
            </a:r>
            <a:endParaRPr lang="en-US" sz="1450" dirty="0"/>
          </a:p>
        </p:txBody>
      </p:sp>
      <p:sp>
        <p:nvSpPr>
          <p:cNvPr id="9" name="StarterBg"/>
          <p:cNvSpPr/>
          <p:nvPr/>
        </p:nvSpPr>
        <p:spPr>
          <a:xfrm>
            <a:off x="274320" y="1900000"/>
            <a:ext cx="5200000" cy="290000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tarterLabel"/>
          <p:cNvSpPr/>
          <p:nvPr/>
        </p:nvSpPr>
        <p:spPr>
          <a:xfrm>
            <a:off x="320000" y="1948000"/>
            <a:ext cx="1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</a:rPr>
              <a:t>Starter code</a:t>
            </a:r>
          </a:p>
        </p:txBody>
      </p:sp>
      <p:sp>
        <p:nvSpPr>
          <p:cNvPr id="11" name="StarterCode"/>
          <p:cNvSpPr/>
          <p:nvPr/>
        </p:nvSpPr>
        <p:spPr>
          <a:xfrm>
            <a:off x="320000" y="2170000"/>
            <a:ext cx="5100000" cy="25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class Dog: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    def __init__(self, name):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        self.name = name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B8EAB"/>
                </a:solidFill>
                <a:latin typeface="Courier New" pitchFamily="34" charset="0"/>
              </a:rPr>
              <a:t>    # write bark() here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dog1 = Dog("Rex")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dog2 = Dog("Bella")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dog1.bark()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</a:rPr>
              <a:t>dog2.bark()</a:t>
            </a:r>
          </a:p>
        </p:txBody>
      </p:sp>
      <p:sp>
        <p:nvSpPr>
          <p:cNvPr id="12" name="OutputBg"/>
          <p:cNvSpPr/>
          <p:nvPr/>
        </p:nvSpPr>
        <p:spPr>
          <a:xfrm>
            <a:off x="5700000" y="1900000"/>
            <a:ext cx="3169680" cy="2900000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OutputLabel"/>
          <p:cNvSpPr/>
          <p:nvPr/>
        </p:nvSpPr>
        <p:spPr>
          <a:xfrm>
            <a:off x="5750000" y="1948000"/>
            <a:ext cx="8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</a:rPr>
              <a:t>Output</a:t>
            </a:r>
          </a:p>
        </p:txBody>
      </p:sp>
      <p:sp>
        <p:nvSpPr>
          <p:cNvPr id="14" name="OutputText"/>
          <p:cNvSpPr/>
          <p:nvPr/>
        </p:nvSpPr>
        <p:spPr>
          <a:xfrm>
            <a:off x="5750000" y="2180000"/>
            <a:ext cx="306968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5803D"/>
                </a:solidFill>
                <a:latin typeface="Courier New" pitchFamily="34" charset="0"/>
              </a:rPr>
              <a:t>Woof! My name is Rex.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5803D"/>
                </a:solidFill>
                <a:latin typeface="Courier New" pitchFamily="34" charset="0"/>
              </a:rPr>
              <a:t>Woof! My name is Bella.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itle"/>
          <p:cNvSpPr/>
          <p:nvPr/>
        </p:nvSpPr>
        <p:spPr>
          <a:xfrm>
            <a:off x="201168" y="0"/>
            <a:ext cx="89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</a:rPr>
              <a:t>Dog — Solution</a:t>
            </a:r>
          </a:p>
        </p:txBody>
      </p:sp>
      <p:sp>
        <p:nvSpPr>
          <p:cNvPr id="6" name="CodeBg"/>
          <p:cNvSpPr/>
          <p:nvPr/>
        </p:nvSpPr>
        <p:spPr>
          <a:xfrm>
            <a:off x="274320" y="730000"/>
            <a:ext cx="8595360" cy="4330000"/>
          </a:xfrm>
          <a:prstGeom prst="rect">
            <a:avLst/>
          </a:prstGeom>
          <a:solidFill>
            <a:srgbClr val="F0F4FF"/>
          </a:solidFill>
          <a:ln w="1524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CodeText"/>
          <p:cNvSpPr/>
          <p:nvPr/>
        </p:nvSpPr>
        <p:spPr>
          <a:xfrm>
            <a:off x="340000" y="770000"/>
            <a:ext cx="8460000" cy="4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class Dog: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    def __init__(self, name):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        self.name = name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    def bark(self):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        print(f'Woof! My name is {self.name}.')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dog1 = Dog('Rex')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dog2 = Dog('Bella')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dog1.bark()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</a:rPr>
              <a:t>dog2.bark()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class below is already written for you. Add two methods: greet() that prints an introduction using the student's name and age, and is_passing() that returns True if the grade is 50 or above, False otherwise. Then call both methods on each student.</a:t>
            </a:r>
            <a:endParaRPr lang="en-US" sz="1450" dirty="0"/>
          </a:p>
        </p:txBody>
      </p:sp>
      <p:sp>
        <p:nvSpPr>
          <p:cNvPr id="9" name="StarterBg"/>
          <p:cNvSpPr/>
          <p:nvPr/>
        </p:nvSpPr>
        <p:spPr>
          <a:xfrm>
            <a:off x="274320" y="1900000"/>
            <a:ext cx="5200000" cy="290000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tarterLabel"/>
          <p:cNvSpPr/>
          <p:nvPr/>
        </p:nvSpPr>
        <p:spPr>
          <a:xfrm>
            <a:off x="320000" y="1899999"/>
            <a:ext cx="1200000" cy="15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</a:rPr>
              <a:t>Starter code</a:t>
            </a:r>
          </a:p>
        </p:txBody>
      </p:sp>
      <p:sp>
        <p:nvSpPr>
          <p:cNvPr id="11" name="StarterCode"/>
          <p:cNvSpPr/>
          <p:nvPr/>
        </p:nvSpPr>
        <p:spPr>
          <a:xfrm>
            <a:off x="324320" y="2058609"/>
            <a:ext cx="5028437" cy="251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class Student: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    def __init__(self, name, age, grade):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        self.name  = name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        self.age   = age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        self.grade = grade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7B8EAB"/>
                </a:solidFill>
                <a:latin typeface="Courier New" pitchFamily="34" charset="0"/>
              </a:rPr>
              <a:t>    # write greet() here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7B8EAB"/>
                </a:solidFill>
                <a:latin typeface="Courier New" pitchFamily="34" charset="0"/>
              </a:rPr>
              <a:t>    # write is_passing() here</a:t>
            </a:r>
            <a:endParaRPr lang="en-US" sz="1100" dirty="0">
              <a:solidFill>
                <a:srgbClr val="1E3A5F"/>
              </a:solidFill>
              <a:latin typeface="Courier New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student1 = Student("Alice", 20, 85)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student2 = Student("Bob",   19, 42)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student1.greet()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student2.greet()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print(student1.is_passing())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</a:rPr>
              <a:t>print(student2.is_passing())</a:t>
            </a:r>
          </a:p>
        </p:txBody>
      </p:sp>
      <p:sp>
        <p:nvSpPr>
          <p:cNvPr id="12" name="OutputBg"/>
          <p:cNvSpPr/>
          <p:nvPr/>
        </p:nvSpPr>
        <p:spPr>
          <a:xfrm>
            <a:off x="5700000" y="1900000"/>
            <a:ext cx="3169680" cy="2900000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OutputLabel"/>
          <p:cNvSpPr/>
          <p:nvPr/>
        </p:nvSpPr>
        <p:spPr>
          <a:xfrm>
            <a:off x="5750000" y="1948000"/>
            <a:ext cx="8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</a:rPr>
              <a:t>Output</a:t>
            </a:r>
          </a:p>
        </p:txBody>
      </p:sp>
      <p:sp>
        <p:nvSpPr>
          <p:cNvPr id="14" name="OutputText"/>
          <p:cNvSpPr/>
          <p:nvPr/>
        </p:nvSpPr>
        <p:spPr>
          <a:xfrm>
            <a:off x="5750000" y="2180000"/>
            <a:ext cx="306968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803D"/>
                </a:solidFill>
                <a:latin typeface="Courier New" pitchFamily="34" charset="0"/>
              </a:rPr>
              <a:t>Hi, I am Alice and I am 20 years old.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5803D"/>
                </a:solidFill>
                <a:latin typeface="Courier New" pitchFamily="34" charset="0"/>
              </a:rPr>
              <a:t>Hi, I am Bob and I am 19 years old.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5803D"/>
                </a:solidFill>
                <a:latin typeface="Courier New" pitchFamily="34" charset="0"/>
              </a:rPr>
              <a:t>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5803D"/>
                </a:solidFill>
                <a:latin typeface="Courier New" pitchFamily="34" charset="0"/>
              </a:rPr>
              <a:t>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itle"/>
          <p:cNvSpPr/>
          <p:nvPr/>
        </p:nvSpPr>
        <p:spPr>
          <a:xfrm>
            <a:off x="201168" y="0"/>
            <a:ext cx="89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</a:rPr>
              <a:t>Student — Solution</a:t>
            </a:r>
          </a:p>
        </p:txBody>
      </p:sp>
      <p:sp>
        <p:nvSpPr>
          <p:cNvPr id="6" name="CodeBg"/>
          <p:cNvSpPr/>
          <p:nvPr/>
        </p:nvSpPr>
        <p:spPr>
          <a:xfrm>
            <a:off x="274320" y="730000"/>
            <a:ext cx="8595360" cy="4330000"/>
          </a:xfrm>
          <a:prstGeom prst="rect">
            <a:avLst/>
          </a:prstGeom>
          <a:solidFill>
            <a:srgbClr val="F0F4FF"/>
          </a:solidFill>
          <a:ln w="1524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CodeText"/>
          <p:cNvSpPr/>
          <p:nvPr/>
        </p:nvSpPr>
        <p:spPr>
          <a:xfrm>
            <a:off x="340000" y="770000"/>
            <a:ext cx="8460000" cy="4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class Student: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   def __init__(self, name, age, grade):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       self.name  = name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       self.age   = age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       self.grade = grade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   def greet(self):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       print(f'Hi, I am {self.name} and I am {self.age} years old.')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   def is_passing(self):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       return self.grade &gt;= 50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student1 = Student("Alice", 20, 85)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student2 = Student("Bob",   19, 42)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student1.greet()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student2.greet()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print(student1.is_passing())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</a:rPr>
              <a:t>print(student2.is_passing())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class called BankAccount. Each account should have an owner and a balance. Add a deposit(amount) method that adds money to the balance, and a withdraw(amount) method that subtracts money. If the withdrawal amount is greater than the balance, print 'Insufficient funds' instead of changing anything. Add __str__ so that printing the account shows: Ali – Balance: 1300. Test it by depositing, withdrawing, and trying a withdrawal that is too large.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215658" y="2340864"/>
            <a:ext cx="4206240" cy="1271016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398538" y="24323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98538" y="26517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 – Balance: 1500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 – Balance: 1300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Insufficient funds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itle"/>
          <p:cNvSpPr/>
          <p:nvPr/>
        </p:nvSpPr>
        <p:spPr>
          <a:xfrm>
            <a:off x="201168" y="0"/>
            <a:ext cx="89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</a:rPr>
              <a:t>BankAccount — Solution</a:t>
            </a:r>
          </a:p>
        </p:txBody>
      </p:sp>
      <p:sp>
        <p:nvSpPr>
          <p:cNvPr id="6" name="CodeBg"/>
          <p:cNvSpPr/>
          <p:nvPr/>
        </p:nvSpPr>
        <p:spPr>
          <a:xfrm>
            <a:off x="274320" y="730000"/>
            <a:ext cx="8595360" cy="4330000"/>
          </a:xfrm>
          <a:prstGeom prst="rect">
            <a:avLst/>
          </a:prstGeom>
          <a:solidFill>
            <a:srgbClr val="F0F4FF"/>
          </a:solidFill>
          <a:ln w="1524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CodeText"/>
          <p:cNvSpPr/>
          <p:nvPr/>
        </p:nvSpPr>
        <p:spPr>
          <a:xfrm>
            <a:off x="340000" y="770000"/>
            <a:ext cx="8460000" cy="4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class BankAccount: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def __init__(self, owner, balance):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    self.owner = owner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    self.balance = balance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def deposit(self, amount):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    self.balance += amount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def withdraw(self, amount):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    if amount &gt; self.balance: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        print('Insufficient funds')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    else: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        self.balance -= amount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def __str__(self):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       return f'{self.owner} – Balance: {self.balance}'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account = BankAccount('Ali', 1000)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account.deposit(500)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print(account)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account.withdraw(200)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print(account)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</a:rPr>
              <a:t>account.withdraw(2000)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Classroom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0" y="49560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8595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Student class from Exercise 2. Now write a second class called Classroom. Each classroom has a subject and an empty list of students. Add a method add_student(student) to add a student to the list. Add class_average() that returns the average grade of all students, and top_student() that returns the name of the student with the highest grade. Create four students, add them to a classroom, then print the average and the top student.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096084" y="2395728"/>
            <a:ext cx="4206240" cy="987552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278964" y="24871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78964" y="270662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74.25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Deniz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itle"/>
          <p:cNvSpPr/>
          <p:nvPr/>
        </p:nvSpPr>
        <p:spPr>
          <a:xfrm>
            <a:off x="201168" y="0"/>
            <a:ext cx="89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</a:rPr>
              <a:t>Student + Classroom — Solution</a:t>
            </a:r>
          </a:p>
        </p:txBody>
      </p:sp>
      <p:sp>
        <p:nvSpPr>
          <p:cNvPr id="6" name="CodeBg"/>
          <p:cNvSpPr/>
          <p:nvPr/>
        </p:nvSpPr>
        <p:spPr>
          <a:xfrm>
            <a:off x="274320" y="730000"/>
            <a:ext cx="8595360" cy="4330000"/>
          </a:xfrm>
          <a:prstGeom prst="rect">
            <a:avLst/>
          </a:prstGeom>
          <a:solidFill>
            <a:srgbClr val="F0F4FF"/>
          </a:solidFill>
          <a:ln w="1524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CodeText"/>
          <p:cNvSpPr/>
          <p:nvPr/>
        </p:nvSpPr>
        <p:spPr>
          <a:xfrm>
            <a:off x="340000" y="770000"/>
            <a:ext cx="8460000" cy="4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class Student:  # same as Exercise 2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def __init__(self, name, age, grade):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    self.name = name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    self.age = age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    self.grade = grade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class Classroom: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def __init__(self, subject):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    self.subject = subject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    self.students = []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def add_student(self, student):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    self.students.append(student)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def class_average(self):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    return sum(s.grade for s in self.students) / len(self.students)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def top_student(self):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       return max(self.students, key=lambda s: s.grade).name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c = Classroom('Math')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c.add_student(Student('Alice', 20, 85))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c.add_student(Student('Bob', 19, 42))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c.add_student(Student('Deniz', 21, 95))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c.add_student(Student('Can', 20, 75))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print(c.class_average())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</a:rPr>
              <a:t>print(c.top_student())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01168" y="0"/>
            <a:ext cx="89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</a:rPr>
              <a:t>Inheritance</a:t>
            </a:r>
          </a:p>
        </p:txBody>
      </p:sp>
      <p:sp>
        <p:nvSpPr>
          <p:cNvPr id="20" name="Text subtitle"/>
          <p:cNvSpPr/>
          <p:nvPr/>
        </p:nvSpPr>
        <p:spPr>
          <a:xfrm>
            <a:off x="274320" y="700000"/>
            <a:ext cx="8595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E7A"/>
                </a:solidFill>
                <a:latin typeface="Calibri" pitchFamily="34" charset="0"/>
              </a:rPr>
              <a:t>A child class reuses everything from the parent — and can add or change behaviour.</a:t>
            </a:r>
          </a:p>
        </p:txBody>
      </p:sp>
      <p:sp>
        <p:nvSpPr>
          <p:cNvPr id="30" name="Shape parent bg"/>
          <p:cNvSpPr/>
          <p:nvPr/>
        </p:nvSpPr>
        <p:spPr>
          <a:xfrm>
            <a:off x="274320" y="1080000"/>
            <a:ext cx="3962400" cy="370000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Label parent"/>
          <p:cNvSpPr/>
          <p:nvPr/>
        </p:nvSpPr>
        <p:spPr>
          <a:xfrm>
            <a:off x="274320" y="1080000"/>
            <a:ext cx="3962400" cy="240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91440" tIns="4572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Parent class — Animal</a:t>
            </a:r>
          </a:p>
        </p:txBody>
      </p:sp>
      <p:sp>
        <p:nvSpPr>
          <p:cNvPr id="32" name="Code parent"/>
          <p:cNvSpPr/>
          <p:nvPr/>
        </p:nvSpPr>
        <p:spPr>
          <a:xfrm>
            <a:off x="320000" y="1360000"/>
            <a:ext cx="3870000" cy="3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ourier New" pitchFamily="34" charset="0"/>
              </a:rPr>
              <a:t>class Animal: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ourier New" pitchFamily="34" charset="0"/>
              </a:rPr>
              <a:t>  def __init__(self, name):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ourier New" pitchFamily="34" charset="0"/>
              </a:rPr>
              <a:t>    self.name = name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ourier New" pitchFamily="34" charset="0"/>
              </a:rPr>
              <a:t>  def speak(self):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ourier New" pitchFamily="34" charset="0"/>
              </a:rPr>
              <a:t>    return 'Some sound'</a:t>
            </a:r>
          </a:p>
        </p:txBody>
      </p:sp>
      <p:sp>
        <p:nvSpPr>
          <p:cNvPr id="40" name="Shape child bg"/>
          <p:cNvSpPr/>
          <p:nvPr/>
        </p:nvSpPr>
        <p:spPr>
          <a:xfrm>
            <a:off x="4572000" y="1080000"/>
            <a:ext cx="4297920" cy="3700000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Label child"/>
          <p:cNvSpPr/>
          <p:nvPr/>
        </p:nvSpPr>
        <p:spPr>
          <a:xfrm>
            <a:off x="4572000" y="1080000"/>
            <a:ext cx="4297920" cy="240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 wrap="square" lIns="91440" tIns="4572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Child class — Dog</a:t>
            </a:r>
          </a:p>
        </p:txBody>
      </p:sp>
      <p:sp>
        <p:nvSpPr>
          <p:cNvPr id="42" name="Code child"/>
          <p:cNvSpPr/>
          <p:nvPr/>
        </p:nvSpPr>
        <p:spPr>
          <a:xfrm>
            <a:off x="4620000" y="1360000"/>
            <a:ext cx="4200000" cy="3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ourier New" pitchFamily="34" charset="0"/>
              </a:rPr>
              <a:t>class Dog(Animal):   # inherits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ourier New" pitchFamily="34" charset="0"/>
              </a:rPr>
              <a:t>  def speak(self):   # override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ourier New" pitchFamily="34" charset="0"/>
              </a:rPr>
              <a:t>    return 'Woof!'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ourier New" pitchFamily="34" charset="0"/>
              </a:rPr>
              <a:t>d = Dog('Rex')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ourier New" pitchFamily="34" charset="0"/>
              </a:rPr>
              <a:t>print(d.name)    # Rex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ourier New" pitchFamily="34" charset="0"/>
              </a:rPr>
              <a:t>print(d.speak())  # Woof!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4532D"/>
                </a:solidFill>
                <a:latin typeface="Courier New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4B5E7A"/>
                </a:solidFill>
                <a:latin typeface="Calibri" pitchFamily="34" charset="0"/>
              </a:rPr>
              <a:t>Dog gets name from Animal for free.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4B5E7A"/>
                </a:solidFill>
                <a:latin typeface="Calibri" pitchFamily="34" charset="0"/>
              </a:rPr>
              <a:t>It only redefines speak().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1E18385FE39D941AA199D3D339AA629" ma:contentTypeVersion="3" ma:contentTypeDescription="Yeni belge oluşturun." ma:contentTypeScope="" ma:versionID="19aa0f239003ff5cb8729c287f217ad6">
  <xsd:schema xmlns:xsd="http://www.w3.org/2001/XMLSchema" xmlns:xs="http://www.w3.org/2001/XMLSchema" xmlns:p="http://schemas.microsoft.com/office/2006/metadata/properties" xmlns:ns2="a80aa6ed-64eb-4536-b734-1570525c18fd" targetNamespace="http://schemas.microsoft.com/office/2006/metadata/properties" ma:root="true" ma:fieldsID="bc5b12e7dacf0f92481a936137e04f52" ns2:_="">
    <xsd:import namespace="a80aa6ed-64eb-4536-b734-1570525c1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aa6ed-64eb-4536-b734-1570525c18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734C6A-E470-4BC8-8523-9D52CE965633}"/>
</file>

<file path=customXml/itemProps2.xml><?xml version="1.0" encoding="utf-8"?>
<ds:datastoreItem xmlns:ds="http://schemas.openxmlformats.org/officeDocument/2006/customXml" ds:itemID="{E81A7836-0631-415E-A2B5-1063C2E018B7}"/>
</file>

<file path=customXml/itemProps3.xml><?xml version="1.0" encoding="utf-8"?>
<ds:datastoreItem xmlns:ds="http://schemas.openxmlformats.org/officeDocument/2006/customXml" ds:itemID="{7E4E5303-836F-4F94-90CF-669EC2E1AF1E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2399</Words>
  <Application>Microsoft Office PowerPoint</Application>
  <PresentationFormat>Ekran Gösterisi (16:9)</PresentationFormat>
  <Paragraphs>294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Classes – Lab</dc:title>
  <dc:subject>PptxGenJS Presentation</dc:subject>
  <dc:creator>PptxGenJS</dc:creator>
  <cp:lastModifiedBy>Bengisu Şahin</cp:lastModifiedBy>
  <cp:revision>6</cp:revision>
  <dcterms:created xsi:type="dcterms:W3CDTF">2026-06-01T09:12:49Z</dcterms:created>
  <dcterms:modified xsi:type="dcterms:W3CDTF">2026-06-08T09:37:33Z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0x010100A1E18385FE39D941AA199D3D339AA629</vt:lpwstr>
  </property>
</Properties>
</file>