
<file path=[Content_Types].xml><?xml version="1.0" encoding="utf-8"?>
<Types xmlns="http://schemas.openxmlformats.org/package/2006/content-types">
  <Default Extension="fntdata" ContentType="application/x-fontdata"/>
  <Default Extension="odttf" ContentType="application/vnd.openxmlformats-officedocument.obfuscatedFont"/>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embeddedFontLst>
    <p:embeddedFont>
      <p:font typeface="Inter SemiBold"/>
      <p:regular r:id="rId23"/>
      <p:bold r:id="rId24"/>
      <p:italic r:id="rId25"/>
      <p:boldItalic r:id="rId26"/>
    </p:embeddedFont>
    <p:embeddedFont>
      <p:font typeface="Inter"/>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font" Target="fonts/InterSemiBold-boldItalic.fntdata"/><Relationship Id="rId13" Type="http://schemas.openxmlformats.org/officeDocument/2006/relationships/slide" Target="slides/slide8.xml"/><Relationship Id="rId18" Type="http://schemas.openxmlformats.org/officeDocument/2006/relationships/slide" Target="slides/slide13.xml"/><Relationship Id="rId21" Type="http://schemas.openxmlformats.org/officeDocument/2006/relationships/slide" Target="slides/slide16.xml"/><Relationship Id="rId3" Type="http://schemas.openxmlformats.org/officeDocument/2006/relationships/presProps" Target="presProps.xml"/><Relationship Id="rId25" Type="http://schemas.openxmlformats.org/officeDocument/2006/relationships/font" Target="fonts/InterSemiBold-italic.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customXml" Target="../customXml/item3.xml"/><Relationship Id="rId20" Type="http://schemas.openxmlformats.org/officeDocument/2006/relationships/slide" Target="slides/slide15.xml"/><Relationship Id="rId2" Type="http://schemas.openxmlformats.org/officeDocument/2006/relationships/viewProps" Target="viewProps.xml"/><Relationship Id="rId29" Type="http://schemas.openxmlformats.org/officeDocument/2006/relationships/font" Target="fonts/Inter-italic.fntdata"/><Relationship Id="rId16" Type="http://schemas.openxmlformats.org/officeDocument/2006/relationships/slide" Target="slides/slide11.xml"/><Relationship Id="rId24" Type="http://schemas.openxmlformats.org/officeDocument/2006/relationships/font" Target="fonts/InterSemiBold-bold.fntdata"/><Relationship Id="rId1" Type="http://schemas.openxmlformats.org/officeDocument/2006/relationships/theme" Target="theme/theme2.xml"/><Relationship Id="rId6" Type="http://schemas.openxmlformats.org/officeDocument/2006/relationships/slide" Target="slides/slide1.xml"/><Relationship Id="rId11" Type="http://schemas.openxmlformats.org/officeDocument/2006/relationships/slide" Target="slides/slide6.xml"/><Relationship Id="rId32" Type="http://schemas.openxmlformats.org/officeDocument/2006/relationships/customXml" Target="../customXml/item2.xml"/><Relationship Id="rId23" Type="http://schemas.openxmlformats.org/officeDocument/2006/relationships/font" Target="fonts/InterSemiBold-regular.fntdata"/><Relationship Id="rId28" Type="http://schemas.openxmlformats.org/officeDocument/2006/relationships/font" Target="fonts/Inter-bold.fntdata"/><Relationship Id="rId5" Type="http://schemas.openxmlformats.org/officeDocument/2006/relationships/notesMaster" Target="notesMasters/notesMaster1.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customXml" Target="../customXml/item1.xml"/><Relationship Id="rId22" Type="http://schemas.openxmlformats.org/officeDocument/2006/relationships/slide" Target="slides/slide17.xml"/><Relationship Id="rId4" Type="http://schemas.openxmlformats.org/officeDocument/2006/relationships/slideMaster" Target="slideMasters/slideMaster1.xml"/><Relationship Id="rId9" Type="http://schemas.openxmlformats.org/officeDocument/2006/relationships/slide" Target="slides/slide4.xml"/><Relationship Id="rId27" Type="http://schemas.openxmlformats.org/officeDocument/2006/relationships/font" Target="fonts/Inter-regular.fntdata"/><Relationship Id="rId30" Type="http://schemas.openxmlformats.org/officeDocument/2006/relationships/font" Target="fonts/Inter-boldItalic.fntdata"/><Relationship Id="rId14" Type="http://schemas.openxmlformats.org/officeDocument/2006/relationships/slide" Target="slides/slide9.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6.png"/><Relationship Id="rId7" Type="http://schemas.openxmlformats.org/officeDocument/2006/relationships/image" Target="../media/image16.png"/><Relationship Id="rId8"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6.png"/><Relationship Id="rId7" Type="http://schemas.openxmlformats.org/officeDocument/2006/relationships/image" Target="../media/image18.png"/><Relationship Id="rId8"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6.png"/><Relationship Id="rId7" Type="http://schemas.openxmlformats.org/officeDocument/2006/relationships/image" Target="../media/image21.png"/><Relationship Id="rId8"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24.png"/><Relationship Id="rId9" Type="http://schemas.openxmlformats.org/officeDocument/2006/relationships/image" Target="../media/image56.png"/><Relationship Id="rId5" Type="http://schemas.openxmlformats.org/officeDocument/2006/relationships/image" Target="../media/image29.png"/><Relationship Id="rId6" Type="http://schemas.openxmlformats.org/officeDocument/2006/relationships/image" Target="../media/image6.png"/><Relationship Id="rId7" Type="http://schemas.openxmlformats.org/officeDocument/2006/relationships/image" Target="../media/image31.png"/><Relationship Id="rId8" Type="http://schemas.openxmlformats.org/officeDocument/2006/relationships/image" Target="../media/image3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37.png"/><Relationship Id="rId6" Type="http://schemas.openxmlformats.org/officeDocument/2006/relationships/image" Target="../media/image6.png"/><Relationship Id="rId7" Type="http://schemas.openxmlformats.org/officeDocument/2006/relationships/image" Target="../media/image25.png"/><Relationship Id="rId8" Type="http://schemas.openxmlformats.org/officeDocument/2006/relationships/image" Target="../media/image4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38.png"/><Relationship Id="rId9" Type="http://schemas.openxmlformats.org/officeDocument/2006/relationships/image" Target="../media/image26.png"/><Relationship Id="rId5" Type="http://schemas.openxmlformats.org/officeDocument/2006/relationships/image" Target="../media/image32.png"/><Relationship Id="rId6" Type="http://schemas.openxmlformats.org/officeDocument/2006/relationships/image" Target="../media/image6.png"/><Relationship Id="rId7" Type="http://schemas.openxmlformats.org/officeDocument/2006/relationships/image" Target="../media/image42.png"/><Relationship Id="rId8"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38.png"/><Relationship Id="rId9" Type="http://schemas.openxmlformats.org/officeDocument/2006/relationships/image" Target="../media/image27.png"/><Relationship Id="rId5" Type="http://schemas.openxmlformats.org/officeDocument/2006/relationships/image" Target="../media/image32.png"/><Relationship Id="rId6" Type="http://schemas.openxmlformats.org/officeDocument/2006/relationships/image" Target="../media/image6.png"/><Relationship Id="rId7" Type="http://schemas.openxmlformats.org/officeDocument/2006/relationships/image" Target="../media/image41.png"/><Relationship Id="rId8"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24.png"/><Relationship Id="rId9" Type="http://schemas.openxmlformats.org/officeDocument/2006/relationships/image" Target="../media/image49.png"/><Relationship Id="rId5" Type="http://schemas.openxmlformats.org/officeDocument/2006/relationships/image" Target="../media/image46.png"/><Relationship Id="rId6" Type="http://schemas.openxmlformats.org/officeDocument/2006/relationships/image" Target="../media/image57.png"/><Relationship Id="rId7" Type="http://schemas.openxmlformats.org/officeDocument/2006/relationships/image" Target="../media/image48.png"/><Relationship Id="rId8" Type="http://schemas.openxmlformats.org/officeDocument/2006/relationships/image" Target="../media/image5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24.png"/><Relationship Id="rId9" Type="http://schemas.openxmlformats.org/officeDocument/2006/relationships/image" Target="../media/image51.png"/><Relationship Id="rId5" Type="http://schemas.openxmlformats.org/officeDocument/2006/relationships/image" Target="../media/image29.png"/><Relationship Id="rId6" Type="http://schemas.openxmlformats.org/officeDocument/2006/relationships/image" Target="../media/image6.png"/><Relationship Id="rId7" Type="http://schemas.openxmlformats.org/officeDocument/2006/relationships/image" Target="../media/image47.png"/><Relationship Id="rId8" Type="http://schemas.openxmlformats.org/officeDocument/2006/relationships/image" Target="../media/image4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24.png"/><Relationship Id="rId10" Type="http://schemas.openxmlformats.org/officeDocument/2006/relationships/image" Target="../media/image50.png"/><Relationship Id="rId9" Type="http://schemas.openxmlformats.org/officeDocument/2006/relationships/image" Target="../media/image45.png"/><Relationship Id="rId5" Type="http://schemas.openxmlformats.org/officeDocument/2006/relationships/image" Target="../media/image29.png"/><Relationship Id="rId6" Type="http://schemas.openxmlformats.org/officeDocument/2006/relationships/image" Target="../media/image6.png"/><Relationship Id="rId7" Type="http://schemas.openxmlformats.org/officeDocument/2006/relationships/image" Target="../media/image55.png"/><Relationship Id="rId8" Type="http://schemas.openxmlformats.org/officeDocument/2006/relationships/image" Target="../media/image5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53.png"/><Relationship Id="rId6" Type="http://schemas.openxmlformats.org/officeDocument/2006/relationships/image" Target="../media/image52.png"/><Relationship Id="rId7" Type="http://schemas.openxmlformats.org/officeDocument/2006/relationships/image" Target="../media/image43.png"/><Relationship Id="rId8"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31700" y="0"/>
            <a:ext cx="12192000" cy="6858000"/>
          </a:xfrm>
          <a:prstGeom prst="rect">
            <a:avLst/>
          </a:prstGeom>
          <a:noFill/>
          <a:ln>
            <a:noFill/>
          </a:ln>
        </p:spPr>
      </p:pic>
      <p:sp>
        <p:nvSpPr>
          <p:cNvPr id="85" name="Google Shape;85;p13"/>
          <p:cNvSpPr txBox="1"/>
          <p:nvPr/>
        </p:nvSpPr>
        <p:spPr>
          <a:xfrm>
            <a:off x="3315652" y="2509837"/>
            <a:ext cx="5560800" cy="738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38BDF8"/>
                </a:solidFill>
                <a:latin typeface="Inter"/>
                <a:ea typeface="Inter"/>
                <a:cs typeface="Inter"/>
                <a:sym typeface="Inter"/>
              </a:rPr>
              <a:t>CENG113M</a:t>
            </a:r>
            <a:r>
              <a:rPr b="1" i="0" lang="en-US" sz="4800" u="none" cap="none" strike="noStrike">
                <a:solidFill>
                  <a:srgbClr val="F8FAFC"/>
                </a:solidFill>
                <a:latin typeface="Inter"/>
                <a:ea typeface="Inter"/>
                <a:cs typeface="Inter"/>
                <a:sym typeface="Inter"/>
              </a:rPr>
              <a:t> – Lab </a:t>
            </a:r>
            <a:r>
              <a:rPr b="1" lang="en-US" sz="4800">
                <a:solidFill>
                  <a:srgbClr val="F8FAFC"/>
                </a:solidFill>
                <a:latin typeface="Inter"/>
                <a:ea typeface="Inter"/>
                <a:cs typeface="Inter"/>
                <a:sym typeface="Inter"/>
              </a:rPr>
              <a:t>5</a:t>
            </a:r>
            <a:endParaRPr/>
          </a:p>
        </p:txBody>
      </p:sp>
      <p:sp>
        <p:nvSpPr>
          <p:cNvPr id="86" name="Google Shape;86;p13"/>
          <p:cNvSpPr txBox="1"/>
          <p:nvPr/>
        </p:nvSpPr>
        <p:spPr>
          <a:xfrm>
            <a:off x="3348037" y="3433762"/>
            <a:ext cx="5496000" cy="3693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2400" u="none" cap="none" strike="noStrike">
                <a:solidFill>
                  <a:srgbClr val="94A3B8"/>
                </a:solidFill>
                <a:latin typeface="Inter"/>
                <a:ea typeface="Inter"/>
                <a:cs typeface="Inter"/>
                <a:sym typeface="Inter"/>
              </a:rPr>
              <a:t>Sequences: Strings and Lists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2" name="Google Shape;92;p14"/>
          <p:cNvPicPr preferRelativeResize="0"/>
          <p:nvPr/>
        </p:nvPicPr>
        <p:blipFill rotWithShape="1">
          <a:blip r:embed="rId4">
            <a:alphaModFix/>
          </a:blip>
          <a:srcRect b="0" l="0" r="0" t="0"/>
          <a:stretch/>
        </p:blipFill>
        <p:spPr>
          <a:xfrm>
            <a:off x="581025" y="1133475"/>
            <a:ext cx="11029950" cy="1042987"/>
          </a:xfrm>
          <a:prstGeom prst="rect">
            <a:avLst/>
          </a:prstGeom>
          <a:noFill/>
          <a:ln>
            <a:noFill/>
          </a:ln>
        </p:spPr>
      </p:pic>
      <p:pic>
        <p:nvPicPr>
          <p:cNvPr descr="image.png" id="93" name="Google Shape;93;p14"/>
          <p:cNvPicPr preferRelativeResize="0"/>
          <p:nvPr/>
        </p:nvPicPr>
        <p:blipFill rotWithShape="1">
          <a:blip r:embed="rId5">
            <a:alphaModFix/>
          </a:blip>
          <a:srcRect b="0" l="0" r="0" t="0"/>
          <a:stretch/>
        </p:blipFill>
        <p:spPr>
          <a:xfrm>
            <a:off x="581025" y="2328862"/>
            <a:ext cx="11029950" cy="4138612"/>
          </a:xfrm>
          <a:prstGeom prst="rect">
            <a:avLst/>
          </a:prstGeom>
          <a:noFill/>
          <a:ln>
            <a:noFill/>
          </a:ln>
        </p:spPr>
      </p:pic>
      <p:sp>
        <p:nvSpPr>
          <p:cNvPr id="94" name="Google Shape;94;p14"/>
          <p:cNvSpPr txBox="1"/>
          <p:nvPr/>
        </p:nvSpPr>
        <p:spPr>
          <a:xfrm>
            <a:off x="581025" y="390525"/>
            <a:ext cx="1158144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38BDF8"/>
                </a:solidFill>
                <a:latin typeface="Inter"/>
                <a:ea typeface="Inter"/>
                <a:cs typeface="Inter"/>
                <a:sym typeface="Inter"/>
              </a:rPr>
              <a:t>Goal &amp; Focus</a:t>
            </a:r>
            <a:endParaRPr/>
          </a:p>
        </p:txBody>
      </p:sp>
      <p:sp>
        <p:nvSpPr>
          <p:cNvPr id="95" name="Google Shape;95;p14"/>
          <p:cNvSpPr/>
          <p:nvPr/>
        </p:nvSpPr>
        <p:spPr>
          <a:xfrm>
            <a:off x="581025" y="923925"/>
            <a:ext cx="1102995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14"/>
          <p:cNvSpPr txBox="1"/>
          <p:nvPr/>
        </p:nvSpPr>
        <p:spPr>
          <a:xfrm>
            <a:off x="914400" y="133350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Goal</a:t>
            </a:r>
            <a:endParaRPr/>
          </a:p>
        </p:txBody>
      </p:sp>
      <p:sp>
        <p:nvSpPr>
          <p:cNvPr id="97" name="Google Shape;97;p14"/>
          <p:cNvSpPr txBox="1"/>
          <p:nvPr/>
        </p:nvSpPr>
        <p:spPr>
          <a:xfrm>
            <a:off x="914400" y="1704975"/>
            <a:ext cx="10401300" cy="271462"/>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Using strings and lists to solve data analysis, cryptography, and logic problems.</a:t>
            </a:r>
            <a:endParaRPr/>
          </a:p>
        </p:txBody>
      </p:sp>
      <p:sp>
        <p:nvSpPr>
          <p:cNvPr id="98" name="Google Shape;98;p14"/>
          <p:cNvSpPr txBox="1"/>
          <p:nvPr/>
        </p:nvSpPr>
        <p:spPr>
          <a:xfrm>
            <a:off x="914400" y="2528887"/>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Today’s focus</a:t>
            </a:r>
            <a:endParaRPr/>
          </a:p>
        </p:txBody>
      </p:sp>
      <p:sp>
        <p:nvSpPr>
          <p:cNvPr id="99" name="Google Shape;99;p14"/>
          <p:cNvSpPr txBox="1"/>
          <p:nvPr/>
        </p:nvSpPr>
        <p:spPr>
          <a:xfrm>
            <a:off x="1047750" y="2897981"/>
            <a:ext cx="10477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CBD5E1"/>
                </a:solidFill>
                <a:latin typeface="Inter"/>
                <a:ea typeface="Inter"/>
                <a:cs typeface="Inter"/>
                <a:sym typeface="Inter"/>
              </a:rPr>
              <a:t>•</a:t>
            </a:r>
            <a:endParaRPr/>
          </a:p>
        </p:txBody>
      </p:sp>
      <p:sp>
        <p:nvSpPr>
          <p:cNvPr id="100" name="Google Shape;100;p14"/>
          <p:cNvSpPr txBox="1"/>
          <p:nvPr/>
        </p:nvSpPr>
        <p:spPr>
          <a:xfrm>
            <a:off x="1152525" y="2900362"/>
            <a:ext cx="10163175" cy="271462"/>
          </a:xfrm>
          <a:prstGeom prst="rect">
            <a:avLst/>
          </a:prstGeom>
          <a:noFill/>
          <a:ln>
            <a:noFill/>
          </a:ln>
        </p:spPr>
        <p:txBody>
          <a:bodyPr anchorCtr="0" anchor="t" bIns="0" lIns="104775"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String methods</a:t>
            </a:r>
            <a:endParaRPr/>
          </a:p>
        </p:txBody>
      </p:sp>
      <p:sp>
        <p:nvSpPr>
          <p:cNvPr id="101" name="Google Shape;101;p14"/>
          <p:cNvSpPr txBox="1"/>
          <p:nvPr/>
        </p:nvSpPr>
        <p:spPr>
          <a:xfrm>
            <a:off x="1047750" y="3245643"/>
            <a:ext cx="10477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CBD5E1"/>
                </a:solidFill>
                <a:latin typeface="Inter"/>
                <a:ea typeface="Inter"/>
                <a:cs typeface="Inter"/>
                <a:sym typeface="Inter"/>
              </a:rPr>
              <a:t>•</a:t>
            </a:r>
            <a:endParaRPr/>
          </a:p>
        </p:txBody>
      </p:sp>
      <p:sp>
        <p:nvSpPr>
          <p:cNvPr id="102" name="Google Shape;102;p14"/>
          <p:cNvSpPr txBox="1"/>
          <p:nvPr/>
        </p:nvSpPr>
        <p:spPr>
          <a:xfrm>
            <a:off x="1152525" y="3248025"/>
            <a:ext cx="10163175" cy="271462"/>
          </a:xfrm>
          <a:prstGeom prst="rect">
            <a:avLst/>
          </a:prstGeom>
          <a:noFill/>
          <a:ln>
            <a:noFill/>
          </a:ln>
        </p:spPr>
        <p:txBody>
          <a:bodyPr anchorCtr="0" anchor="t" bIns="0" lIns="104775"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List methods (All 11 built-in methods!)</a:t>
            </a:r>
            <a:endParaRPr/>
          </a:p>
        </p:txBody>
      </p:sp>
      <p:sp>
        <p:nvSpPr>
          <p:cNvPr id="103" name="Google Shape;103;p14"/>
          <p:cNvSpPr txBox="1"/>
          <p:nvPr/>
        </p:nvSpPr>
        <p:spPr>
          <a:xfrm>
            <a:off x="1047750" y="3593306"/>
            <a:ext cx="10477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CBD5E1"/>
                </a:solidFill>
                <a:latin typeface="Inter"/>
                <a:ea typeface="Inter"/>
                <a:cs typeface="Inter"/>
                <a:sym typeface="Inter"/>
              </a:rPr>
              <a:t>•</a:t>
            </a:r>
            <a:endParaRPr/>
          </a:p>
        </p:txBody>
      </p:sp>
      <p:sp>
        <p:nvSpPr>
          <p:cNvPr id="104" name="Google Shape;104;p14"/>
          <p:cNvSpPr txBox="1"/>
          <p:nvPr/>
        </p:nvSpPr>
        <p:spPr>
          <a:xfrm>
            <a:off x="1152525" y="3595687"/>
            <a:ext cx="10163175" cy="271462"/>
          </a:xfrm>
          <a:prstGeom prst="rect">
            <a:avLst/>
          </a:prstGeom>
          <a:noFill/>
          <a:ln>
            <a:noFill/>
          </a:ln>
        </p:spPr>
        <p:txBody>
          <a:bodyPr anchorCtr="0" anchor="t" bIns="0" lIns="104775"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String immutability</a:t>
            </a:r>
            <a:endParaRPr/>
          </a:p>
        </p:txBody>
      </p:sp>
      <p:sp>
        <p:nvSpPr>
          <p:cNvPr id="105" name="Google Shape;105;p14"/>
          <p:cNvSpPr txBox="1"/>
          <p:nvPr/>
        </p:nvSpPr>
        <p:spPr>
          <a:xfrm>
            <a:off x="1047750" y="3940968"/>
            <a:ext cx="10477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CBD5E1"/>
                </a:solidFill>
                <a:latin typeface="Inter"/>
                <a:ea typeface="Inter"/>
                <a:cs typeface="Inter"/>
                <a:sym typeface="Inter"/>
              </a:rPr>
              <a:t>•</a:t>
            </a:r>
            <a:endParaRPr/>
          </a:p>
        </p:txBody>
      </p:sp>
      <p:sp>
        <p:nvSpPr>
          <p:cNvPr id="106" name="Google Shape;106;p14"/>
          <p:cNvSpPr txBox="1"/>
          <p:nvPr/>
        </p:nvSpPr>
        <p:spPr>
          <a:xfrm>
            <a:off x="1152525" y="3943350"/>
            <a:ext cx="10163175" cy="271462"/>
          </a:xfrm>
          <a:prstGeom prst="rect">
            <a:avLst/>
          </a:prstGeom>
          <a:noFill/>
          <a:ln>
            <a:noFill/>
          </a:ln>
        </p:spPr>
        <p:txBody>
          <a:bodyPr anchorCtr="0" anchor="t" bIns="0" lIns="104775"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Indexing and negative indexing</a:t>
            </a:r>
            <a:endParaRPr/>
          </a:p>
        </p:txBody>
      </p:sp>
      <p:sp>
        <p:nvSpPr>
          <p:cNvPr id="107" name="Google Shape;107;p14"/>
          <p:cNvSpPr txBox="1"/>
          <p:nvPr/>
        </p:nvSpPr>
        <p:spPr>
          <a:xfrm>
            <a:off x="1047750" y="4288631"/>
            <a:ext cx="10477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CBD5E1"/>
                </a:solidFill>
                <a:latin typeface="Inter"/>
                <a:ea typeface="Inter"/>
                <a:cs typeface="Inter"/>
                <a:sym typeface="Inter"/>
              </a:rPr>
              <a:t>•</a:t>
            </a:r>
            <a:endParaRPr/>
          </a:p>
        </p:txBody>
      </p:sp>
      <p:sp>
        <p:nvSpPr>
          <p:cNvPr id="108" name="Google Shape;108;p14"/>
          <p:cNvSpPr txBox="1"/>
          <p:nvPr/>
        </p:nvSpPr>
        <p:spPr>
          <a:xfrm>
            <a:off x="1152525" y="4291012"/>
            <a:ext cx="10163175" cy="271462"/>
          </a:xfrm>
          <a:prstGeom prst="rect">
            <a:avLst/>
          </a:prstGeom>
          <a:noFill/>
          <a:ln>
            <a:noFill/>
          </a:ln>
        </p:spPr>
        <p:txBody>
          <a:bodyPr anchorCtr="0" anchor="t" bIns="0" lIns="104775"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 in, * operators</a:t>
            </a:r>
            <a:endParaRPr/>
          </a:p>
        </p:txBody>
      </p:sp>
      <p:sp>
        <p:nvSpPr>
          <p:cNvPr id="109" name="Google Shape;109;p14"/>
          <p:cNvSpPr txBox="1"/>
          <p:nvPr/>
        </p:nvSpPr>
        <p:spPr>
          <a:xfrm>
            <a:off x="1047750" y="4636293"/>
            <a:ext cx="10477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CBD5E1"/>
                </a:solidFill>
                <a:latin typeface="Inter"/>
                <a:ea typeface="Inter"/>
                <a:cs typeface="Inter"/>
                <a:sym typeface="Inter"/>
              </a:rPr>
              <a:t>•</a:t>
            </a:r>
            <a:endParaRPr/>
          </a:p>
        </p:txBody>
      </p:sp>
      <p:sp>
        <p:nvSpPr>
          <p:cNvPr id="110" name="Google Shape;110;p14"/>
          <p:cNvSpPr txBox="1"/>
          <p:nvPr/>
        </p:nvSpPr>
        <p:spPr>
          <a:xfrm>
            <a:off x="1152525" y="4638675"/>
            <a:ext cx="10163175" cy="271462"/>
          </a:xfrm>
          <a:prstGeom prst="rect">
            <a:avLst/>
          </a:prstGeom>
          <a:noFill/>
          <a:ln>
            <a:noFill/>
          </a:ln>
        </p:spPr>
        <p:txBody>
          <a:bodyPr anchorCtr="0" anchor="t" bIns="0" lIns="104775"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Traversing a list with</a:t>
            </a:r>
            <a:endParaRPr/>
          </a:p>
        </p:txBody>
      </p:sp>
      <p:pic>
        <p:nvPicPr>
          <p:cNvPr descr="image.png" id="111" name="Google Shape;111;p14"/>
          <p:cNvPicPr preferRelativeResize="0"/>
          <p:nvPr/>
        </p:nvPicPr>
        <p:blipFill rotWithShape="1">
          <a:blip r:embed="rId6">
            <a:alphaModFix/>
          </a:blip>
          <a:srcRect b="0" l="0" r="0" t="0"/>
          <a:stretch/>
        </p:blipFill>
        <p:spPr>
          <a:xfrm>
            <a:off x="2971800" y="4648200"/>
            <a:ext cx="1638300" cy="247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descr="image.png" id="116" name="Google Shape;116;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7" name="Google Shape;117;p15"/>
          <p:cNvPicPr preferRelativeResize="0"/>
          <p:nvPr/>
        </p:nvPicPr>
        <p:blipFill rotWithShape="1">
          <a:blip r:embed="rId4">
            <a:alphaModFix/>
          </a:blip>
          <a:srcRect b="0" l="0" r="0" t="0"/>
          <a:stretch/>
        </p:blipFill>
        <p:spPr>
          <a:xfrm>
            <a:off x="581025" y="1133475"/>
            <a:ext cx="11029950" cy="5334000"/>
          </a:xfrm>
          <a:prstGeom prst="rect">
            <a:avLst/>
          </a:prstGeom>
          <a:noFill/>
          <a:ln>
            <a:noFill/>
          </a:ln>
        </p:spPr>
      </p:pic>
      <p:pic>
        <p:nvPicPr>
          <p:cNvPr descr="image.png" id="118" name="Google Shape;118;p15"/>
          <p:cNvPicPr preferRelativeResize="0"/>
          <p:nvPr/>
        </p:nvPicPr>
        <p:blipFill rotWithShape="1">
          <a:blip r:embed="rId5">
            <a:alphaModFix/>
          </a:blip>
          <a:srcRect b="0" l="0" r="0" t="0"/>
          <a:stretch/>
        </p:blipFill>
        <p:spPr>
          <a:xfrm>
            <a:off x="914400" y="5124450"/>
            <a:ext cx="10401300" cy="504825"/>
          </a:xfrm>
          <a:prstGeom prst="rect">
            <a:avLst/>
          </a:prstGeom>
          <a:noFill/>
          <a:ln>
            <a:noFill/>
          </a:ln>
        </p:spPr>
      </p:pic>
      <p:sp>
        <p:nvSpPr>
          <p:cNvPr id="119" name="Google Shape;119;p15"/>
          <p:cNvSpPr txBox="1"/>
          <p:nvPr/>
        </p:nvSpPr>
        <p:spPr>
          <a:xfrm>
            <a:off x="581025" y="390525"/>
            <a:ext cx="1158144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38BDF8"/>
                </a:solidFill>
                <a:latin typeface="Inter"/>
                <a:ea typeface="Inter"/>
                <a:cs typeface="Inter"/>
                <a:sym typeface="Inter"/>
              </a:rPr>
              <a:t>String Methods Summary</a:t>
            </a:r>
            <a:endParaRPr/>
          </a:p>
        </p:txBody>
      </p:sp>
      <p:sp>
        <p:nvSpPr>
          <p:cNvPr id="120" name="Google Shape;120;p15"/>
          <p:cNvSpPr/>
          <p:nvPr/>
        </p:nvSpPr>
        <p:spPr>
          <a:xfrm>
            <a:off x="581025" y="923925"/>
            <a:ext cx="1102995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 name="Google Shape;121;p15"/>
          <p:cNvSpPr txBox="1"/>
          <p:nvPr/>
        </p:nvSpPr>
        <p:spPr>
          <a:xfrm>
            <a:off x="914400" y="133350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Python</a:t>
            </a:r>
            <a:endParaRPr/>
          </a:p>
        </p:txBody>
      </p:sp>
      <p:sp>
        <p:nvSpPr>
          <p:cNvPr id="122" name="Google Shape;122;p15"/>
          <p:cNvSpPr txBox="1"/>
          <p:nvPr/>
        </p:nvSpPr>
        <p:spPr>
          <a:xfrm>
            <a:off x="1066800" y="5248275"/>
            <a:ext cx="10096500"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FDA4AF"/>
                </a:solidFill>
                <a:latin typeface="Inter SemiBold"/>
                <a:ea typeface="Inter SemiBold"/>
                <a:cs typeface="Inter SemiBold"/>
                <a:sym typeface="Inter SemiBold"/>
              </a:rPr>
              <a:t>Important: Strings are immutable. Methods like upper() or replace() return a new string.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descr="image.png" id="127" name="Google Shape;127;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8" name="Google Shape;128;p16"/>
          <p:cNvPicPr preferRelativeResize="0"/>
          <p:nvPr/>
        </p:nvPicPr>
        <p:blipFill rotWithShape="1">
          <a:blip r:embed="rId4">
            <a:alphaModFix/>
          </a:blip>
          <a:srcRect b="0" l="0" r="0" t="0"/>
          <a:stretch/>
        </p:blipFill>
        <p:spPr>
          <a:xfrm>
            <a:off x="581025" y="1133475"/>
            <a:ext cx="11029950" cy="5334000"/>
          </a:xfrm>
          <a:prstGeom prst="rect">
            <a:avLst/>
          </a:prstGeom>
          <a:noFill/>
          <a:ln>
            <a:noFill/>
          </a:ln>
        </p:spPr>
      </p:pic>
      <p:sp>
        <p:nvSpPr>
          <p:cNvPr id="129" name="Google Shape;129;p16"/>
          <p:cNvSpPr txBox="1"/>
          <p:nvPr/>
        </p:nvSpPr>
        <p:spPr>
          <a:xfrm>
            <a:off x="581025" y="390525"/>
            <a:ext cx="1158144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38BDF8"/>
                </a:solidFill>
                <a:latin typeface="Inter"/>
                <a:ea typeface="Inter"/>
                <a:cs typeface="Inter"/>
                <a:sym typeface="Inter"/>
              </a:rPr>
              <a:t>List Tools Summary</a:t>
            </a:r>
            <a:endParaRPr/>
          </a:p>
        </p:txBody>
      </p:sp>
      <p:sp>
        <p:nvSpPr>
          <p:cNvPr id="130" name="Google Shape;130;p16"/>
          <p:cNvSpPr/>
          <p:nvPr/>
        </p:nvSpPr>
        <p:spPr>
          <a:xfrm>
            <a:off x="581025" y="923925"/>
            <a:ext cx="1102995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6"/>
          <p:cNvSpPr txBox="1"/>
          <p:nvPr/>
        </p:nvSpPr>
        <p:spPr>
          <a:xfrm>
            <a:off x="914400" y="133350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Python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descr="image.png" id="136" name="Google Shape;136;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7" name="Google Shape;137;p17"/>
          <p:cNvPicPr preferRelativeResize="0"/>
          <p:nvPr/>
        </p:nvPicPr>
        <p:blipFill rotWithShape="1">
          <a:blip r:embed="rId4">
            <a:alphaModFix/>
          </a:blip>
          <a:srcRect b="0" l="0" r="0" t="0"/>
          <a:stretch/>
        </p:blipFill>
        <p:spPr>
          <a:xfrm>
            <a:off x="581025" y="1133475"/>
            <a:ext cx="11029950" cy="5334000"/>
          </a:xfrm>
          <a:prstGeom prst="rect">
            <a:avLst/>
          </a:prstGeom>
          <a:noFill/>
          <a:ln>
            <a:noFill/>
          </a:ln>
        </p:spPr>
      </p:pic>
      <p:sp>
        <p:nvSpPr>
          <p:cNvPr id="138" name="Google Shape;138;p17"/>
          <p:cNvSpPr txBox="1"/>
          <p:nvPr/>
        </p:nvSpPr>
        <p:spPr>
          <a:xfrm>
            <a:off x="581025" y="390525"/>
            <a:ext cx="1158144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38BDF8"/>
                </a:solidFill>
                <a:latin typeface="Inter"/>
                <a:ea typeface="Inter"/>
                <a:cs typeface="Inter"/>
                <a:sym typeface="Inter"/>
              </a:rPr>
              <a:t>List Methods I: Adding &amp; Removing</a:t>
            </a:r>
            <a:endParaRPr/>
          </a:p>
        </p:txBody>
      </p:sp>
      <p:sp>
        <p:nvSpPr>
          <p:cNvPr id="139" name="Google Shape;139;p17"/>
          <p:cNvSpPr/>
          <p:nvPr/>
        </p:nvSpPr>
        <p:spPr>
          <a:xfrm>
            <a:off x="581025" y="923925"/>
            <a:ext cx="1102995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17"/>
          <p:cNvSpPr txBox="1"/>
          <p:nvPr/>
        </p:nvSpPr>
        <p:spPr>
          <a:xfrm>
            <a:off x="914400" y="133350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Python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descr="image.png" id="145" name="Google Shape;145;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6" name="Google Shape;146;p18"/>
          <p:cNvPicPr preferRelativeResize="0"/>
          <p:nvPr/>
        </p:nvPicPr>
        <p:blipFill rotWithShape="1">
          <a:blip r:embed="rId4">
            <a:alphaModFix/>
          </a:blip>
          <a:srcRect b="0" l="0" r="0" t="0"/>
          <a:stretch/>
        </p:blipFill>
        <p:spPr>
          <a:xfrm>
            <a:off x="581025" y="1133475"/>
            <a:ext cx="11029950" cy="5334000"/>
          </a:xfrm>
          <a:prstGeom prst="rect">
            <a:avLst/>
          </a:prstGeom>
          <a:noFill/>
          <a:ln>
            <a:noFill/>
          </a:ln>
        </p:spPr>
      </p:pic>
      <p:sp>
        <p:nvSpPr>
          <p:cNvPr id="147" name="Google Shape;147;p18"/>
          <p:cNvSpPr txBox="1"/>
          <p:nvPr/>
        </p:nvSpPr>
        <p:spPr>
          <a:xfrm>
            <a:off x="581025" y="390525"/>
            <a:ext cx="1158144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38BDF8"/>
                </a:solidFill>
                <a:latin typeface="Inter"/>
                <a:ea typeface="Inter"/>
                <a:cs typeface="Inter"/>
                <a:sym typeface="Inter"/>
              </a:rPr>
              <a:t>List Methods II: Searching, Sorting &amp; Copying</a:t>
            </a:r>
            <a:endParaRPr/>
          </a:p>
        </p:txBody>
      </p:sp>
      <p:sp>
        <p:nvSpPr>
          <p:cNvPr id="148" name="Google Shape;148;p18"/>
          <p:cNvSpPr/>
          <p:nvPr/>
        </p:nvSpPr>
        <p:spPr>
          <a:xfrm>
            <a:off x="581025" y="923925"/>
            <a:ext cx="1102995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18"/>
          <p:cNvSpPr txBox="1"/>
          <p:nvPr/>
        </p:nvSpPr>
        <p:spPr>
          <a:xfrm>
            <a:off x="914400" y="133350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Python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descr="image.png" id="154" name="Google Shape;154;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5" name="Google Shape;155;p19"/>
          <p:cNvPicPr preferRelativeResize="0"/>
          <p:nvPr/>
        </p:nvPicPr>
        <p:blipFill rotWithShape="1">
          <a:blip r:embed="rId4">
            <a:alphaModFix/>
          </a:blip>
          <a:srcRect b="0" l="0" r="0" t="0"/>
          <a:stretch/>
        </p:blipFill>
        <p:spPr>
          <a:xfrm>
            <a:off x="581025" y="1133475"/>
            <a:ext cx="11029950" cy="1314450"/>
          </a:xfrm>
          <a:prstGeom prst="rect">
            <a:avLst/>
          </a:prstGeom>
          <a:noFill/>
          <a:ln>
            <a:noFill/>
          </a:ln>
        </p:spPr>
      </p:pic>
      <p:pic>
        <p:nvPicPr>
          <p:cNvPr descr="image.png" id="156" name="Google Shape;156;p19"/>
          <p:cNvPicPr preferRelativeResize="0"/>
          <p:nvPr/>
        </p:nvPicPr>
        <p:blipFill rotWithShape="1">
          <a:blip r:embed="rId5">
            <a:alphaModFix/>
          </a:blip>
          <a:srcRect b="0" l="0" r="0" t="0"/>
          <a:stretch/>
        </p:blipFill>
        <p:spPr>
          <a:xfrm>
            <a:off x="581025" y="2600325"/>
            <a:ext cx="11029950" cy="2428875"/>
          </a:xfrm>
          <a:prstGeom prst="rect">
            <a:avLst/>
          </a:prstGeom>
          <a:noFill/>
          <a:ln>
            <a:noFill/>
          </a:ln>
        </p:spPr>
      </p:pic>
      <p:pic>
        <p:nvPicPr>
          <p:cNvPr descr="image.png" id="157" name="Google Shape;157;p19"/>
          <p:cNvPicPr preferRelativeResize="0"/>
          <p:nvPr/>
        </p:nvPicPr>
        <p:blipFill rotWithShape="1">
          <a:blip r:embed="rId6">
            <a:alphaModFix/>
          </a:blip>
          <a:srcRect b="0" l="0" r="0" t="0"/>
          <a:stretch/>
        </p:blipFill>
        <p:spPr>
          <a:xfrm>
            <a:off x="581025" y="5181600"/>
            <a:ext cx="11029950" cy="1285875"/>
          </a:xfrm>
          <a:prstGeom prst="rect">
            <a:avLst/>
          </a:prstGeom>
          <a:noFill/>
          <a:ln>
            <a:noFill/>
          </a:ln>
        </p:spPr>
      </p:pic>
      <p:pic>
        <p:nvPicPr>
          <p:cNvPr descr="image.png" id="158" name="Google Shape;158;p19"/>
          <p:cNvPicPr preferRelativeResize="0"/>
          <p:nvPr/>
        </p:nvPicPr>
        <p:blipFill rotWithShape="1">
          <a:blip r:embed="rId7">
            <a:alphaModFix/>
          </a:blip>
          <a:srcRect b="0" l="0" r="0" t="0"/>
          <a:stretch/>
        </p:blipFill>
        <p:spPr>
          <a:xfrm>
            <a:off x="914400" y="4129087"/>
            <a:ext cx="3848100" cy="452437"/>
          </a:xfrm>
          <a:prstGeom prst="rect">
            <a:avLst/>
          </a:prstGeom>
          <a:noFill/>
          <a:ln>
            <a:noFill/>
          </a:ln>
        </p:spPr>
      </p:pic>
      <p:pic>
        <p:nvPicPr>
          <p:cNvPr descr="image.png" id="159" name="Google Shape;159;p19"/>
          <p:cNvPicPr preferRelativeResize="0"/>
          <p:nvPr/>
        </p:nvPicPr>
        <p:blipFill rotWithShape="1">
          <a:blip r:embed="rId8">
            <a:alphaModFix/>
          </a:blip>
          <a:srcRect b="0" l="0" r="0" t="0"/>
          <a:stretch/>
        </p:blipFill>
        <p:spPr>
          <a:xfrm>
            <a:off x="914400" y="5753100"/>
            <a:ext cx="10401300" cy="514350"/>
          </a:xfrm>
          <a:prstGeom prst="rect">
            <a:avLst/>
          </a:prstGeom>
          <a:noFill/>
          <a:ln>
            <a:noFill/>
          </a:ln>
        </p:spPr>
      </p:pic>
      <p:sp>
        <p:nvSpPr>
          <p:cNvPr id="160" name="Google Shape;160;p19"/>
          <p:cNvSpPr txBox="1"/>
          <p:nvPr/>
        </p:nvSpPr>
        <p:spPr>
          <a:xfrm>
            <a:off x="581025" y="390525"/>
            <a:ext cx="1158144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38BDF8"/>
                </a:solidFill>
                <a:latin typeface="Inter"/>
                <a:ea typeface="Inter"/>
                <a:cs typeface="Inter"/>
                <a:sym typeface="Inter"/>
              </a:rPr>
              <a:t>Exercise 1: Protocol Decryption</a:t>
            </a:r>
            <a:endParaRPr/>
          </a:p>
        </p:txBody>
      </p:sp>
      <p:sp>
        <p:nvSpPr>
          <p:cNvPr id="161" name="Google Shape;161;p19"/>
          <p:cNvSpPr/>
          <p:nvPr/>
        </p:nvSpPr>
        <p:spPr>
          <a:xfrm>
            <a:off x="581025" y="923925"/>
            <a:ext cx="1102995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9"/>
          <p:cNvSpPr txBox="1"/>
          <p:nvPr/>
        </p:nvSpPr>
        <p:spPr>
          <a:xfrm>
            <a:off x="914400" y="133350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Scenario</a:t>
            </a:r>
            <a:endParaRPr/>
          </a:p>
        </p:txBody>
      </p:sp>
      <p:sp>
        <p:nvSpPr>
          <p:cNvPr id="163" name="Google Shape;163;p19"/>
          <p:cNvSpPr txBox="1"/>
          <p:nvPr/>
        </p:nvSpPr>
        <p:spPr>
          <a:xfrm>
            <a:off x="914400" y="1704975"/>
            <a:ext cx="10401300" cy="542925"/>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In secure communications, messages have a specific prefix. We need to verify the prefix, strip the noise, and normalize the text.</a:t>
            </a:r>
            <a:endParaRPr/>
          </a:p>
        </p:txBody>
      </p:sp>
      <p:sp>
        <p:nvSpPr>
          <p:cNvPr id="164" name="Google Shape;164;p19"/>
          <p:cNvSpPr txBox="1"/>
          <p:nvPr/>
        </p:nvSpPr>
        <p:spPr>
          <a:xfrm>
            <a:off x="914400" y="280035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Mission</a:t>
            </a:r>
            <a:endParaRPr/>
          </a:p>
        </p:txBody>
      </p:sp>
      <p:sp>
        <p:nvSpPr>
          <p:cNvPr id="165" name="Google Shape;165;p19"/>
          <p:cNvSpPr txBox="1"/>
          <p:nvPr/>
        </p:nvSpPr>
        <p:spPr>
          <a:xfrm>
            <a:off x="914400" y="3171825"/>
            <a:ext cx="10401300" cy="814387"/>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Retrieve a message from the user. Secure messages always start with the "ENC-" prefix, but they might have accidental spaces at the beginning or end. Verify if the message is authentic. If it is, extract the hidden secret by removing the prefix and converting the remaining text to lowercase. Otherwise, warn the user about the invalid protocol.</a:t>
            </a:r>
            <a:endParaRPr/>
          </a:p>
        </p:txBody>
      </p:sp>
      <p:sp>
        <p:nvSpPr>
          <p:cNvPr id="166" name="Google Shape;166;p19"/>
          <p:cNvSpPr txBox="1"/>
          <p:nvPr/>
        </p:nvSpPr>
        <p:spPr>
          <a:xfrm>
            <a:off x="914400" y="5381625"/>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Expected Output</a:t>
            </a:r>
            <a:endParaRPr/>
          </a:p>
        </p:txBody>
      </p:sp>
      <p:sp>
        <p:nvSpPr>
          <p:cNvPr id="167" name="Google Shape;167;p19"/>
          <p:cNvSpPr txBox="1"/>
          <p:nvPr/>
        </p:nvSpPr>
        <p:spPr>
          <a:xfrm>
            <a:off x="1066800" y="4233850"/>
            <a:ext cx="4305300" cy="1962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1" lang="en-US" sz="1275" u="none" cap="none" strike="noStrike">
                <a:solidFill>
                  <a:srgbClr val="FBBF24"/>
                </a:solidFill>
                <a:latin typeface="Inter"/>
                <a:ea typeface="Inter"/>
                <a:cs typeface="Inter"/>
                <a:sym typeface="Inter"/>
              </a:rPr>
              <a:t>(Hint: .strip(), .startswith(), .replace(), .lower())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descr="image.png" id="172" name="Google Shape;172;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3" name="Google Shape;173;p20"/>
          <p:cNvPicPr preferRelativeResize="0"/>
          <p:nvPr/>
        </p:nvPicPr>
        <p:blipFill rotWithShape="1">
          <a:blip r:embed="rId4">
            <a:alphaModFix/>
          </a:blip>
          <a:srcRect b="0" l="0" r="0" t="0"/>
          <a:stretch/>
        </p:blipFill>
        <p:spPr>
          <a:xfrm>
            <a:off x="581025" y="1133475"/>
            <a:ext cx="11029950" cy="1314450"/>
          </a:xfrm>
          <a:prstGeom prst="rect">
            <a:avLst/>
          </a:prstGeom>
          <a:noFill/>
          <a:ln>
            <a:noFill/>
          </a:ln>
        </p:spPr>
      </p:pic>
      <p:pic>
        <p:nvPicPr>
          <p:cNvPr descr="image.png" id="174" name="Google Shape;174;p20"/>
          <p:cNvPicPr preferRelativeResize="0"/>
          <p:nvPr/>
        </p:nvPicPr>
        <p:blipFill rotWithShape="1">
          <a:blip r:embed="rId5">
            <a:alphaModFix/>
          </a:blip>
          <a:srcRect b="0" l="0" r="0" t="0"/>
          <a:stretch/>
        </p:blipFill>
        <p:spPr>
          <a:xfrm>
            <a:off x="581025" y="2600325"/>
            <a:ext cx="11029950" cy="2428875"/>
          </a:xfrm>
          <a:prstGeom prst="rect">
            <a:avLst/>
          </a:prstGeom>
          <a:noFill/>
          <a:ln>
            <a:noFill/>
          </a:ln>
        </p:spPr>
      </p:pic>
      <p:pic>
        <p:nvPicPr>
          <p:cNvPr descr="image.png" id="175" name="Google Shape;175;p20"/>
          <p:cNvPicPr preferRelativeResize="0"/>
          <p:nvPr/>
        </p:nvPicPr>
        <p:blipFill rotWithShape="1">
          <a:blip r:embed="rId6">
            <a:alphaModFix/>
          </a:blip>
          <a:srcRect b="0" l="0" r="0" t="0"/>
          <a:stretch/>
        </p:blipFill>
        <p:spPr>
          <a:xfrm>
            <a:off x="581025" y="5181600"/>
            <a:ext cx="11029950" cy="1285875"/>
          </a:xfrm>
          <a:prstGeom prst="rect">
            <a:avLst/>
          </a:prstGeom>
          <a:noFill/>
          <a:ln>
            <a:noFill/>
          </a:ln>
        </p:spPr>
      </p:pic>
      <p:pic>
        <p:nvPicPr>
          <p:cNvPr descr="image.png" id="176" name="Google Shape;176;p20"/>
          <p:cNvPicPr preferRelativeResize="0"/>
          <p:nvPr/>
        </p:nvPicPr>
        <p:blipFill rotWithShape="1">
          <a:blip r:embed="rId7">
            <a:alphaModFix/>
          </a:blip>
          <a:srcRect b="0" l="0" r="0" t="0"/>
          <a:stretch/>
        </p:blipFill>
        <p:spPr>
          <a:xfrm>
            <a:off x="914400" y="4129087"/>
            <a:ext cx="3257550" cy="452437"/>
          </a:xfrm>
          <a:prstGeom prst="rect">
            <a:avLst/>
          </a:prstGeom>
          <a:noFill/>
          <a:ln>
            <a:noFill/>
          </a:ln>
        </p:spPr>
      </p:pic>
      <p:pic>
        <p:nvPicPr>
          <p:cNvPr descr="image.png" id="177" name="Google Shape;177;p20"/>
          <p:cNvPicPr preferRelativeResize="0"/>
          <p:nvPr/>
        </p:nvPicPr>
        <p:blipFill rotWithShape="1">
          <a:blip r:embed="rId8">
            <a:alphaModFix/>
          </a:blip>
          <a:srcRect b="0" l="0" r="0" t="0"/>
          <a:stretch/>
        </p:blipFill>
        <p:spPr>
          <a:xfrm>
            <a:off x="914400" y="5753100"/>
            <a:ext cx="10401300" cy="514350"/>
          </a:xfrm>
          <a:prstGeom prst="rect">
            <a:avLst/>
          </a:prstGeom>
          <a:noFill/>
          <a:ln>
            <a:noFill/>
          </a:ln>
        </p:spPr>
      </p:pic>
      <p:sp>
        <p:nvSpPr>
          <p:cNvPr id="178" name="Google Shape;178;p20"/>
          <p:cNvSpPr txBox="1"/>
          <p:nvPr/>
        </p:nvSpPr>
        <p:spPr>
          <a:xfrm>
            <a:off x="581025" y="390525"/>
            <a:ext cx="1158144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38BDF8"/>
                </a:solidFill>
                <a:latin typeface="Inter"/>
                <a:ea typeface="Inter"/>
                <a:cs typeface="Inter"/>
                <a:sym typeface="Inter"/>
              </a:rPr>
              <a:t>Exercise 2: Dataset File Formatter</a:t>
            </a:r>
            <a:endParaRPr/>
          </a:p>
        </p:txBody>
      </p:sp>
      <p:sp>
        <p:nvSpPr>
          <p:cNvPr id="179" name="Google Shape;179;p20"/>
          <p:cNvSpPr/>
          <p:nvPr/>
        </p:nvSpPr>
        <p:spPr>
          <a:xfrm>
            <a:off x="581025" y="923925"/>
            <a:ext cx="1102995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p20"/>
          <p:cNvSpPr txBox="1"/>
          <p:nvPr/>
        </p:nvSpPr>
        <p:spPr>
          <a:xfrm>
            <a:off x="914400" y="133350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Scenario</a:t>
            </a:r>
            <a:endParaRPr/>
          </a:p>
        </p:txBody>
      </p:sp>
      <p:sp>
        <p:nvSpPr>
          <p:cNvPr id="181" name="Google Shape;181;p20"/>
          <p:cNvSpPr txBox="1"/>
          <p:nvPr/>
        </p:nvSpPr>
        <p:spPr>
          <a:xfrm>
            <a:off x="914400" y="1704975"/>
            <a:ext cx="10401300" cy="542925"/>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A data analysis tool only accepts .csv files and cannot process filenames with spaces. We need to clean the user's file input.</a:t>
            </a:r>
            <a:endParaRPr/>
          </a:p>
        </p:txBody>
      </p:sp>
      <p:sp>
        <p:nvSpPr>
          <p:cNvPr id="182" name="Google Shape;182;p20"/>
          <p:cNvSpPr txBox="1"/>
          <p:nvPr/>
        </p:nvSpPr>
        <p:spPr>
          <a:xfrm>
            <a:off x="914400" y="280035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Mission</a:t>
            </a:r>
            <a:endParaRPr/>
          </a:p>
        </p:txBody>
      </p:sp>
      <p:sp>
        <p:nvSpPr>
          <p:cNvPr id="183" name="Google Shape;183;p20"/>
          <p:cNvSpPr txBox="1"/>
          <p:nvPr/>
        </p:nvSpPr>
        <p:spPr>
          <a:xfrm>
            <a:off x="914400" y="3171825"/>
            <a:ext cx="10401300" cy="814387"/>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Get a filename from the user. Server systems crash if filenames contain spaces, so safely replace any spaces with underscores. Locate the exact position of the file extension dot to see where the name ends. Finally, ensure the file is in CSV format; if it's missing the ".csv" extension, automatically append it to the filename.</a:t>
            </a:r>
            <a:endParaRPr/>
          </a:p>
        </p:txBody>
      </p:sp>
      <p:sp>
        <p:nvSpPr>
          <p:cNvPr id="184" name="Google Shape;184;p20"/>
          <p:cNvSpPr txBox="1"/>
          <p:nvPr/>
        </p:nvSpPr>
        <p:spPr>
          <a:xfrm>
            <a:off x="914400" y="5381625"/>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Expected Output</a:t>
            </a:r>
            <a:endParaRPr/>
          </a:p>
        </p:txBody>
      </p:sp>
      <p:sp>
        <p:nvSpPr>
          <p:cNvPr id="185" name="Google Shape;185;p20"/>
          <p:cNvSpPr txBox="1"/>
          <p:nvPr/>
        </p:nvSpPr>
        <p:spPr>
          <a:xfrm>
            <a:off x="1066800" y="4233850"/>
            <a:ext cx="3211500" cy="1962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1" lang="en-US" sz="1275" u="none" cap="none" strike="noStrike">
                <a:solidFill>
                  <a:srgbClr val="FBBF24"/>
                </a:solidFill>
                <a:latin typeface="Inter"/>
                <a:ea typeface="Inter"/>
                <a:cs typeface="Inter"/>
                <a:sym typeface="Inter"/>
              </a:rPr>
              <a:t>(Hint: .replace(), .find(), .endswith(),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descr="image.png" id="190" name="Google Shape;190;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1" name="Google Shape;191;p21"/>
          <p:cNvPicPr preferRelativeResize="0"/>
          <p:nvPr/>
        </p:nvPicPr>
        <p:blipFill rotWithShape="1">
          <a:blip r:embed="rId4">
            <a:alphaModFix/>
          </a:blip>
          <a:srcRect b="0" l="0" r="0" t="0"/>
          <a:stretch/>
        </p:blipFill>
        <p:spPr>
          <a:xfrm>
            <a:off x="581025" y="1133475"/>
            <a:ext cx="11029950" cy="1314450"/>
          </a:xfrm>
          <a:prstGeom prst="rect">
            <a:avLst/>
          </a:prstGeom>
          <a:noFill/>
          <a:ln>
            <a:noFill/>
          </a:ln>
        </p:spPr>
      </p:pic>
      <p:pic>
        <p:nvPicPr>
          <p:cNvPr descr="image.png" id="192" name="Google Shape;192;p21"/>
          <p:cNvPicPr preferRelativeResize="0"/>
          <p:nvPr/>
        </p:nvPicPr>
        <p:blipFill rotWithShape="1">
          <a:blip r:embed="rId5">
            <a:alphaModFix/>
          </a:blip>
          <a:srcRect b="0" l="0" r="0" t="0"/>
          <a:stretch/>
        </p:blipFill>
        <p:spPr>
          <a:xfrm>
            <a:off x="581025" y="2600325"/>
            <a:ext cx="11029950" cy="2428875"/>
          </a:xfrm>
          <a:prstGeom prst="rect">
            <a:avLst/>
          </a:prstGeom>
          <a:noFill/>
          <a:ln>
            <a:noFill/>
          </a:ln>
        </p:spPr>
      </p:pic>
      <p:pic>
        <p:nvPicPr>
          <p:cNvPr descr="image.png" id="193" name="Google Shape;193;p21"/>
          <p:cNvPicPr preferRelativeResize="0"/>
          <p:nvPr/>
        </p:nvPicPr>
        <p:blipFill rotWithShape="1">
          <a:blip r:embed="rId6">
            <a:alphaModFix/>
          </a:blip>
          <a:srcRect b="0" l="0" r="0" t="0"/>
          <a:stretch/>
        </p:blipFill>
        <p:spPr>
          <a:xfrm>
            <a:off x="581025" y="5181600"/>
            <a:ext cx="11029950" cy="1285875"/>
          </a:xfrm>
          <a:prstGeom prst="rect">
            <a:avLst/>
          </a:prstGeom>
          <a:noFill/>
          <a:ln>
            <a:noFill/>
          </a:ln>
        </p:spPr>
      </p:pic>
      <p:pic>
        <p:nvPicPr>
          <p:cNvPr descr="image.png" id="194" name="Google Shape;194;p21"/>
          <p:cNvPicPr preferRelativeResize="0"/>
          <p:nvPr/>
        </p:nvPicPr>
        <p:blipFill rotWithShape="1">
          <a:blip r:embed="rId7">
            <a:alphaModFix/>
          </a:blip>
          <a:srcRect b="0" l="0" r="0" t="0"/>
          <a:stretch/>
        </p:blipFill>
        <p:spPr>
          <a:xfrm>
            <a:off x="914400" y="4129087"/>
            <a:ext cx="3781425" cy="452437"/>
          </a:xfrm>
          <a:prstGeom prst="rect">
            <a:avLst/>
          </a:prstGeom>
          <a:noFill/>
          <a:ln>
            <a:noFill/>
          </a:ln>
        </p:spPr>
      </p:pic>
      <p:pic>
        <p:nvPicPr>
          <p:cNvPr descr="image.png" id="195" name="Google Shape;195;p21"/>
          <p:cNvPicPr preferRelativeResize="0"/>
          <p:nvPr/>
        </p:nvPicPr>
        <p:blipFill rotWithShape="1">
          <a:blip r:embed="rId8">
            <a:alphaModFix/>
          </a:blip>
          <a:srcRect b="0" l="0" r="0" t="0"/>
          <a:stretch/>
        </p:blipFill>
        <p:spPr>
          <a:xfrm>
            <a:off x="914400" y="5753100"/>
            <a:ext cx="10401300" cy="514350"/>
          </a:xfrm>
          <a:prstGeom prst="rect">
            <a:avLst/>
          </a:prstGeom>
          <a:noFill/>
          <a:ln>
            <a:noFill/>
          </a:ln>
        </p:spPr>
      </p:pic>
      <p:sp>
        <p:nvSpPr>
          <p:cNvPr id="196" name="Google Shape;196;p21"/>
          <p:cNvSpPr txBox="1"/>
          <p:nvPr/>
        </p:nvSpPr>
        <p:spPr>
          <a:xfrm>
            <a:off x="581025" y="390525"/>
            <a:ext cx="1158144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38BDF8"/>
                </a:solidFill>
                <a:latin typeface="Inter"/>
                <a:ea typeface="Inter"/>
                <a:cs typeface="Inter"/>
                <a:sym typeface="Inter"/>
              </a:rPr>
              <a:t>Exercise 3: Equation Parser</a:t>
            </a:r>
            <a:endParaRPr/>
          </a:p>
        </p:txBody>
      </p:sp>
      <p:sp>
        <p:nvSpPr>
          <p:cNvPr id="197" name="Google Shape;197;p21"/>
          <p:cNvSpPr/>
          <p:nvPr/>
        </p:nvSpPr>
        <p:spPr>
          <a:xfrm>
            <a:off x="581025" y="923925"/>
            <a:ext cx="1102995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8" name="Google Shape;198;p21"/>
          <p:cNvSpPr txBox="1"/>
          <p:nvPr/>
        </p:nvSpPr>
        <p:spPr>
          <a:xfrm>
            <a:off x="914400" y="133350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Scenario</a:t>
            </a:r>
            <a:endParaRPr/>
          </a:p>
        </p:txBody>
      </p:sp>
      <p:sp>
        <p:nvSpPr>
          <p:cNvPr id="199" name="Google Shape;199;p21"/>
          <p:cNvSpPr txBox="1"/>
          <p:nvPr/>
        </p:nvSpPr>
        <p:spPr>
          <a:xfrm>
            <a:off x="914400" y="1704975"/>
            <a:ext cx="10401300" cy="542925"/>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A Computer Algebra System needs to break down a user's equation string to separate the Left-Hand Side (LHS) and Right-Hand Side (RHS), and count the variables.</a:t>
            </a:r>
            <a:endParaRPr/>
          </a:p>
        </p:txBody>
      </p:sp>
      <p:sp>
        <p:nvSpPr>
          <p:cNvPr id="200" name="Google Shape;200;p21"/>
          <p:cNvSpPr txBox="1"/>
          <p:nvPr/>
        </p:nvSpPr>
        <p:spPr>
          <a:xfrm>
            <a:off x="914400" y="280035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Mission</a:t>
            </a:r>
            <a:endParaRPr/>
          </a:p>
        </p:txBody>
      </p:sp>
      <p:sp>
        <p:nvSpPr>
          <p:cNvPr id="201" name="Google Shape;201;p21"/>
          <p:cNvSpPr txBox="1"/>
          <p:nvPr/>
        </p:nvSpPr>
        <p:spPr>
          <a:xfrm>
            <a:off x="914400" y="3171825"/>
            <a:ext cx="10401300" cy="814387"/>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Ask the user for an algebraic equation. Standardize the input by removing all spaces and converting it to uppercase. Count how many times the variable "X" is used. Then, mathematically separate the Left-Hand Side (LHS) from the Right-Hand Side (RHS) of the equation and display them individually.</a:t>
            </a:r>
            <a:endParaRPr/>
          </a:p>
        </p:txBody>
      </p:sp>
      <p:sp>
        <p:nvSpPr>
          <p:cNvPr id="202" name="Google Shape;202;p21"/>
          <p:cNvSpPr txBox="1"/>
          <p:nvPr/>
        </p:nvSpPr>
        <p:spPr>
          <a:xfrm>
            <a:off x="914400" y="5381625"/>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Expected Output</a:t>
            </a:r>
            <a:endParaRPr/>
          </a:p>
        </p:txBody>
      </p:sp>
      <p:sp>
        <p:nvSpPr>
          <p:cNvPr id="203" name="Google Shape;203;p21"/>
          <p:cNvSpPr txBox="1"/>
          <p:nvPr/>
        </p:nvSpPr>
        <p:spPr>
          <a:xfrm>
            <a:off x="1066800" y="4233850"/>
            <a:ext cx="3824400" cy="1962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1" lang="en-US" sz="1275" u="none" cap="none" strike="noStrike">
                <a:solidFill>
                  <a:srgbClr val="FBBF24"/>
                </a:solidFill>
                <a:latin typeface="Inter"/>
                <a:ea typeface="Inter"/>
                <a:cs typeface="Inter"/>
                <a:sym typeface="Inter"/>
              </a:rPr>
              <a:t>(Hint: .replace(), .upper(), .count(), .split("="))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descr="image.png" id="208" name="Google Shape;208;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9" name="Google Shape;209;p22"/>
          <p:cNvPicPr preferRelativeResize="0"/>
          <p:nvPr/>
        </p:nvPicPr>
        <p:blipFill rotWithShape="1">
          <a:blip r:embed="rId4">
            <a:alphaModFix/>
          </a:blip>
          <a:srcRect b="0" l="0" r="0" t="0"/>
          <a:stretch/>
        </p:blipFill>
        <p:spPr>
          <a:xfrm>
            <a:off x="581025" y="1133475"/>
            <a:ext cx="11029950" cy="1633537"/>
          </a:xfrm>
          <a:prstGeom prst="rect">
            <a:avLst/>
          </a:prstGeom>
          <a:noFill/>
          <a:ln>
            <a:noFill/>
          </a:ln>
        </p:spPr>
      </p:pic>
      <p:pic>
        <p:nvPicPr>
          <p:cNvPr descr="image.png" id="210" name="Google Shape;210;p22"/>
          <p:cNvPicPr preferRelativeResize="0"/>
          <p:nvPr/>
        </p:nvPicPr>
        <p:blipFill rotWithShape="1">
          <a:blip r:embed="rId5">
            <a:alphaModFix/>
          </a:blip>
          <a:srcRect b="0" l="0" r="0" t="0"/>
          <a:stretch/>
        </p:blipFill>
        <p:spPr>
          <a:xfrm>
            <a:off x="581025" y="2919412"/>
            <a:ext cx="11029950" cy="2181225"/>
          </a:xfrm>
          <a:prstGeom prst="rect">
            <a:avLst/>
          </a:prstGeom>
          <a:noFill/>
          <a:ln>
            <a:noFill/>
          </a:ln>
        </p:spPr>
      </p:pic>
      <p:pic>
        <p:nvPicPr>
          <p:cNvPr descr="image.png" id="211" name="Google Shape;211;p22"/>
          <p:cNvPicPr preferRelativeResize="0"/>
          <p:nvPr/>
        </p:nvPicPr>
        <p:blipFill rotWithShape="1">
          <a:blip r:embed="rId6">
            <a:alphaModFix/>
          </a:blip>
          <a:srcRect b="0" l="0" r="0" t="0"/>
          <a:stretch/>
        </p:blipFill>
        <p:spPr>
          <a:xfrm>
            <a:off x="581025" y="5253037"/>
            <a:ext cx="11029950" cy="1285875"/>
          </a:xfrm>
          <a:prstGeom prst="rect">
            <a:avLst/>
          </a:prstGeom>
          <a:noFill/>
          <a:ln>
            <a:noFill/>
          </a:ln>
        </p:spPr>
      </p:pic>
      <p:pic>
        <p:nvPicPr>
          <p:cNvPr descr="image.png" id="212" name="Google Shape;212;p22"/>
          <p:cNvPicPr preferRelativeResize="0"/>
          <p:nvPr/>
        </p:nvPicPr>
        <p:blipFill rotWithShape="1">
          <a:blip r:embed="rId7">
            <a:alphaModFix/>
          </a:blip>
          <a:srcRect b="0" l="0" r="0" t="0"/>
          <a:stretch/>
        </p:blipFill>
        <p:spPr>
          <a:xfrm>
            <a:off x="914400" y="4448175"/>
            <a:ext cx="1419225" cy="452437"/>
          </a:xfrm>
          <a:prstGeom prst="rect">
            <a:avLst/>
          </a:prstGeom>
          <a:noFill/>
          <a:ln>
            <a:noFill/>
          </a:ln>
        </p:spPr>
      </p:pic>
      <p:pic>
        <p:nvPicPr>
          <p:cNvPr descr="image.png" id="213" name="Google Shape;213;p22"/>
          <p:cNvPicPr preferRelativeResize="0"/>
          <p:nvPr/>
        </p:nvPicPr>
        <p:blipFill rotWithShape="1">
          <a:blip r:embed="rId8">
            <a:alphaModFix/>
          </a:blip>
          <a:srcRect b="0" l="0" r="0" t="0"/>
          <a:stretch/>
        </p:blipFill>
        <p:spPr>
          <a:xfrm>
            <a:off x="914400" y="5824537"/>
            <a:ext cx="10401300" cy="514350"/>
          </a:xfrm>
          <a:prstGeom prst="rect">
            <a:avLst/>
          </a:prstGeom>
          <a:noFill/>
          <a:ln>
            <a:noFill/>
          </a:ln>
        </p:spPr>
      </p:pic>
      <p:sp>
        <p:nvSpPr>
          <p:cNvPr id="214" name="Google Shape;214;p22"/>
          <p:cNvSpPr txBox="1"/>
          <p:nvPr/>
        </p:nvSpPr>
        <p:spPr>
          <a:xfrm>
            <a:off x="581025" y="390525"/>
            <a:ext cx="1158144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38BDF8"/>
                </a:solidFill>
                <a:latin typeface="Inter"/>
                <a:ea typeface="Inter"/>
                <a:cs typeface="Inter"/>
                <a:sym typeface="Inter"/>
              </a:rPr>
              <a:t>Exercise 4: Cryptographic Key Generator</a:t>
            </a:r>
            <a:endParaRPr/>
          </a:p>
        </p:txBody>
      </p:sp>
      <p:sp>
        <p:nvSpPr>
          <p:cNvPr id="215" name="Google Shape;215;p22"/>
          <p:cNvSpPr/>
          <p:nvPr/>
        </p:nvSpPr>
        <p:spPr>
          <a:xfrm>
            <a:off x="581025" y="923925"/>
            <a:ext cx="1102995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22"/>
          <p:cNvSpPr txBox="1"/>
          <p:nvPr/>
        </p:nvSpPr>
        <p:spPr>
          <a:xfrm>
            <a:off x="914400" y="133350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Scenario</a:t>
            </a:r>
            <a:endParaRPr/>
          </a:p>
        </p:txBody>
      </p:sp>
      <p:sp>
        <p:nvSpPr>
          <p:cNvPr id="217" name="Google Shape;217;p22"/>
          <p:cNvSpPr txBox="1"/>
          <p:nvPr/>
        </p:nvSpPr>
        <p:spPr>
          <a:xfrm>
            <a:off x="914400" y="1704975"/>
            <a:ext cx="10401300" cy="542925"/>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In cryptography, a short base key is often repeated to match the length of a message, and then combined into a single string.</a:t>
            </a:r>
            <a:endParaRPr/>
          </a:p>
        </p:txBody>
      </p:sp>
      <p:sp>
        <p:nvSpPr>
          <p:cNvPr id="218" name="Google Shape;218;p22"/>
          <p:cNvSpPr txBox="1"/>
          <p:nvPr/>
        </p:nvSpPr>
        <p:spPr>
          <a:xfrm>
            <a:off x="914400" y="2295525"/>
            <a:ext cx="10401300" cy="2193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(Given:                                                       )</a:t>
            </a:r>
            <a:endParaRPr/>
          </a:p>
        </p:txBody>
      </p:sp>
      <p:sp>
        <p:nvSpPr>
          <p:cNvPr id="219" name="Google Shape;219;p22"/>
          <p:cNvSpPr txBox="1"/>
          <p:nvPr/>
        </p:nvSpPr>
        <p:spPr>
          <a:xfrm>
            <a:off x="914400" y="3119437"/>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Mission</a:t>
            </a:r>
            <a:endParaRPr/>
          </a:p>
        </p:txBody>
      </p:sp>
      <p:sp>
        <p:nvSpPr>
          <p:cNvPr id="220" name="Google Shape;220;p22"/>
          <p:cNvSpPr txBox="1"/>
          <p:nvPr/>
        </p:nvSpPr>
        <p:spPr>
          <a:xfrm>
            <a:off x="914400" y="3490912"/>
            <a:ext cx="10401300" cy="814387"/>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Ask the user for a multiplier N. Expand the given base_key sequence by repeating it N times to create a much longer array. Once you have the full array, fuse it into a single readable text string where each character is separated by a hyphen ("-").</a:t>
            </a:r>
            <a:endParaRPr/>
          </a:p>
        </p:txBody>
      </p:sp>
      <p:sp>
        <p:nvSpPr>
          <p:cNvPr id="221" name="Google Shape;221;p22"/>
          <p:cNvSpPr txBox="1"/>
          <p:nvPr/>
        </p:nvSpPr>
        <p:spPr>
          <a:xfrm>
            <a:off x="914400" y="5453062"/>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Expected Output</a:t>
            </a:r>
            <a:endParaRPr/>
          </a:p>
        </p:txBody>
      </p:sp>
      <p:pic>
        <p:nvPicPr>
          <p:cNvPr descr="image.png" id="222" name="Google Shape;222;p22"/>
          <p:cNvPicPr preferRelativeResize="0"/>
          <p:nvPr/>
        </p:nvPicPr>
        <p:blipFill rotWithShape="1">
          <a:blip r:embed="rId9">
            <a:alphaModFix/>
          </a:blip>
          <a:srcRect b="0" l="0" r="0" t="0"/>
          <a:stretch/>
        </p:blipFill>
        <p:spPr>
          <a:xfrm>
            <a:off x="1571625" y="2305050"/>
            <a:ext cx="2590800" cy="247650"/>
          </a:xfrm>
          <a:prstGeom prst="rect">
            <a:avLst/>
          </a:prstGeom>
          <a:noFill/>
          <a:ln>
            <a:noFill/>
          </a:ln>
        </p:spPr>
      </p:pic>
      <p:sp>
        <p:nvSpPr>
          <p:cNvPr id="223" name="Google Shape;223;p22"/>
          <p:cNvSpPr txBox="1"/>
          <p:nvPr/>
        </p:nvSpPr>
        <p:spPr>
          <a:xfrm>
            <a:off x="1066800" y="4552950"/>
            <a:ext cx="1114425" cy="242887"/>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1" lang="en-US" sz="1275" u="none" cap="none" strike="noStrike">
                <a:solidFill>
                  <a:srgbClr val="FBBF24"/>
                </a:solidFill>
                <a:latin typeface="Inter"/>
                <a:ea typeface="Inter"/>
                <a:cs typeface="Inter"/>
                <a:sym typeface="Inter"/>
              </a:rPr>
              <a:t>(Hint: *, .join())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image.png" id="228" name="Google Shape;228;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9" name="Google Shape;229;p23"/>
          <p:cNvPicPr preferRelativeResize="0"/>
          <p:nvPr/>
        </p:nvPicPr>
        <p:blipFill rotWithShape="1">
          <a:blip r:embed="rId4">
            <a:alphaModFix/>
          </a:blip>
          <a:srcRect b="0" l="0" r="0" t="0"/>
          <a:stretch/>
        </p:blipFill>
        <p:spPr>
          <a:xfrm>
            <a:off x="581025" y="1133475"/>
            <a:ext cx="11029950" cy="1042987"/>
          </a:xfrm>
          <a:prstGeom prst="rect">
            <a:avLst/>
          </a:prstGeom>
          <a:noFill/>
          <a:ln>
            <a:noFill/>
          </a:ln>
        </p:spPr>
      </p:pic>
      <p:pic>
        <p:nvPicPr>
          <p:cNvPr descr="image.png" id="230" name="Google Shape;230;p23"/>
          <p:cNvPicPr preferRelativeResize="0"/>
          <p:nvPr/>
        </p:nvPicPr>
        <p:blipFill rotWithShape="1">
          <a:blip r:embed="rId5">
            <a:alphaModFix/>
          </a:blip>
          <a:srcRect b="0" l="0" r="0" t="0"/>
          <a:stretch/>
        </p:blipFill>
        <p:spPr>
          <a:xfrm>
            <a:off x="581025" y="2328862"/>
            <a:ext cx="11029950" cy="2700337"/>
          </a:xfrm>
          <a:prstGeom prst="rect">
            <a:avLst/>
          </a:prstGeom>
          <a:noFill/>
          <a:ln>
            <a:noFill/>
          </a:ln>
        </p:spPr>
      </p:pic>
      <p:pic>
        <p:nvPicPr>
          <p:cNvPr descr="image.png" id="231" name="Google Shape;231;p23"/>
          <p:cNvPicPr preferRelativeResize="0"/>
          <p:nvPr/>
        </p:nvPicPr>
        <p:blipFill rotWithShape="1">
          <a:blip r:embed="rId6">
            <a:alphaModFix/>
          </a:blip>
          <a:srcRect b="0" l="0" r="0" t="0"/>
          <a:stretch/>
        </p:blipFill>
        <p:spPr>
          <a:xfrm>
            <a:off x="581025" y="5181600"/>
            <a:ext cx="11029950" cy="1285875"/>
          </a:xfrm>
          <a:prstGeom prst="rect">
            <a:avLst/>
          </a:prstGeom>
          <a:noFill/>
          <a:ln>
            <a:noFill/>
          </a:ln>
        </p:spPr>
      </p:pic>
      <p:pic>
        <p:nvPicPr>
          <p:cNvPr descr="image.png" id="232" name="Google Shape;232;p23"/>
          <p:cNvPicPr preferRelativeResize="0"/>
          <p:nvPr/>
        </p:nvPicPr>
        <p:blipFill rotWithShape="1">
          <a:blip r:embed="rId7">
            <a:alphaModFix/>
          </a:blip>
          <a:srcRect b="0" l="0" r="0" t="0"/>
          <a:stretch/>
        </p:blipFill>
        <p:spPr>
          <a:xfrm>
            <a:off x="914400" y="3586162"/>
            <a:ext cx="2533650" cy="452437"/>
          </a:xfrm>
          <a:prstGeom prst="rect">
            <a:avLst/>
          </a:prstGeom>
          <a:noFill/>
          <a:ln>
            <a:noFill/>
          </a:ln>
        </p:spPr>
      </p:pic>
      <p:pic>
        <p:nvPicPr>
          <p:cNvPr descr="image.png" id="233" name="Google Shape;233;p23"/>
          <p:cNvPicPr preferRelativeResize="0"/>
          <p:nvPr/>
        </p:nvPicPr>
        <p:blipFill rotWithShape="1">
          <a:blip r:embed="rId8">
            <a:alphaModFix/>
          </a:blip>
          <a:srcRect b="0" l="0" r="0" t="0"/>
          <a:stretch/>
        </p:blipFill>
        <p:spPr>
          <a:xfrm>
            <a:off x="914400" y="5753100"/>
            <a:ext cx="10401300" cy="514350"/>
          </a:xfrm>
          <a:prstGeom prst="rect">
            <a:avLst/>
          </a:prstGeom>
          <a:noFill/>
          <a:ln>
            <a:noFill/>
          </a:ln>
        </p:spPr>
      </p:pic>
      <p:sp>
        <p:nvSpPr>
          <p:cNvPr id="234" name="Google Shape;234;p23"/>
          <p:cNvSpPr txBox="1"/>
          <p:nvPr/>
        </p:nvSpPr>
        <p:spPr>
          <a:xfrm>
            <a:off x="581025" y="390525"/>
            <a:ext cx="1158144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38BDF8"/>
                </a:solidFill>
                <a:latin typeface="Inter"/>
                <a:ea typeface="Inter"/>
                <a:cs typeface="Inter"/>
                <a:sym typeface="Inter"/>
              </a:rPr>
              <a:t>Exercise 5: Statistical Mean</a:t>
            </a:r>
            <a:endParaRPr/>
          </a:p>
        </p:txBody>
      </p:sp>
      <p:sp>
        <p:nvSpPr>
          <p:cNvPr id="235" name="Google Shape;235;p23"/>
          <p:cNvSpPr/>
          <p:nvPr/>
        </p:nvSpPr>
        <p:spPr>
          <a:xfrm>
            <a:off x="581025" y="923925"/>
            <a:ext cx="1102995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23"/>
          <p:cNvSpPr txBox="1"/>
          <p:nvPr/>
        </p:nvSpPr>
        <p:spPr>
          <a:xfrm>
            <a:off x="914400" y="133350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Scenario</a:t>
            </a:r>
            <a:endParaRPr/>
          </a:p>
        </p:txBody>
      </p:sp>
      <p:sp>
        <p:nvSpPr>
          <p:cNvPr id="237" name="Google Shape;237;p23"/>
          <p:cNvSpPr txBox="1"/>
          <p:nvPr/>
        </p:nvSpPr>
        <p:spPr>
          <a:xfrm>
            <a:off x="914400" y="1704975"/>
            <a:ext cx="10401300" cy="271462"/>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A statistician needs to collect exactly 5 experimental data points from the user and calculate the arithmetic Mean.</a:t>
            </a:r>
            <a:endParaRPr/>
          </a:p>
        </p:txBody>
      </p:sp>
      <p:sp>
        <p:nvSpPr>
          <p:cNvPr id="238" name="Google Shape;238;p23"/>
          <p:cNvSpPr txBox="1"/>
          <p:nvPr/>
        </p:nvSpPr>
        <p:spPr>
          <a:xfrm>
            <a:off x="914400" y="2528887"/>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Mission</a:t>
            </a:r>
            <a:endParaRPr/>
          </a:p>
        </p:txBody>
      </p:sp>
      <p:sp>
        <p:nvSpPr>
          <p:cNvPr id="239" name="Google Shape;239;p23"/>
          <p:cNvSpPr txBox="1"/>
          <p:nvPr/>
        </p:nvSpPr>
        <p:spPr>
          <a:xfrm>
            <a:off x="914400" y="2900362"/>
            <a:ext cx="10401300" cy="542925"/>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Collect exactly 5 experimental numerical samples from the user. Store all these points in a dataset sequence. Calculate the arithmetic mean of these collected samples and print both the full dataset and the calculated mean.</a:t>
            </a:r>
            <a:endParaRPr/>
          </a:p>
        </p:txBody>
      </p:sp>
      <p:sp>
        <p:nvSpPr>
          <p:cNvPr id="240" name="Google Shape;240;p23"/>
          <p:cNvSpPr txBox="1"/>
          <p:nvPr/>
        </p:nvSpPr>
        <p:spPr>
          <a:xfrm>
            <a:off x="914400" y="5381625"/>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Expected Output</a:t>
            </a:r>
            <a:endParaRPr/>
          </a:p>
        </p:txBody>
      </p:sp>
      <p:sp>
        <p:nvSpPr>
          <p:cNvPr id="241" name="Google Shape;241;p23"/>
          <p:cNvSpPr txBox="1"/>
          <p:nvPr/>
        </p:nvSpPr>
        <p:spPr>
          <a:xfrm>
            <a:off x="1066800" y="3690925"/>
            <a:ext cx="2381400" cy="1962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1" lang="en-US" sz="1275" u="none" cap="none" strike="noStrike">
                <a:solidFill>
                  <a:srgbClr val="FBBF24"/>
                </a:solidFill>
                <a:latin typeface="Inter"/>
                <a:ea typeface="Inter"/>
                <a:cs typeface="Inter"/>
                <a:sym typeface="Inter"/>
              </a:rPr>
              <a:t>(Hint: for loop, .append(), / 5)</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descr="image.png" id="246" name="Google Shape;246;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7" name="Google Shape;247;p24"/>
          <p:cNvPicPr preferRelativeResize="0"/>
          <p:nvPr/>
        </p:nvPicPr>
        <p:blipFill rotWithShape="1">
          <a:blip r:embed="rId4">
            <a:alphaModFix/>
          </a:blip>
          <a:srcRect b="0" l="0" r="0" t="0"/>
          <a:stretch/>
        </p:blipFill>
        <p:spPr>
          <a:xfrm>
            <a:off x="581025" y="1133475"/>
            <a:ext cx="11029950" cy="1362075"/>
          </a:xfrm>
          <a:prstGeom prst="rect">
            <a:avLst/>
          </a:prstGeom>
          <a:noFill/>
          <a:ln>
            <a:noFill/>
          </a:ln>
        </p:spPr>
      </p:pic>
      <p:pic>
        <p:nvPicPr>
          <p:cNvPr descr="image.png" id="248" name="Google Shape;248;p24"/>
          <p:cNvPicPr preferRelativeResize="0"/>
          <p:nvPr/>
        </p:nvPicPr>
        <p:blipFill rotWithShape="1">
          <a:blip r:embed="rId5">
            <a:alphaModFix/>
          </a:blip>
          <a:srcRect b="0" l="0" r="0" t="0"/>
          <a:stretch/>
        </p:blipFill>
        <p:spPr>
          <a:xfrm>
            <a:off x="581025" y="2647950"/>
            <a:ext cx="11029950" cy="2381250"/>
          </a:xfrm>
          <a:prstGeom prst="rect">
            <a:avLst/>
          </a:prstGeom>
          <a:noFill/>
          <a:ln>
            <a:noFill/>
          </a:ln>
        </p:spPr>
      </p:pic>
      <p:pic>
        <p:nvPicPr>
          <p:cNvPr descr="image.png" id="249" name="Google Shape;249;p24"/>
          <p:cNvPicPr preferRelativeResize="0"/>
          <p:nvPr/>
        </p:nvPicPr>
        <p:blipFill rotWithShape="1">
          <a:blip r:embed="rId6">
            <a:alphaModFix/>
          </a:blip>
          <a:srcRect b="0" l="0" r="0" t="0"/>
          <a:stretch/>
        </p:blipFill>
        <p:spPr>
          <a:xfrm>
            <a:off x="581025" y="5181600"/>
            <a:ext cx="11029950" cy="1285875"/>
          </a:xfrm>
          <a:prstGeom prst="rect">
            <a:avLst/>
          </a:prstGeom>
          <a:noFill/>
          <a:ln>
            <a:noFill/>
          </a:ln>
        </p:spPr>
      </p:pic>
      <p:pic>
        <p:nvPicPr>
          <p:cNvPr descr="image.png" id="250" name="Google Shape;250;p24"/>
          <p:cNvPicPr preferRelativeResize="0"/>
          <p:nvPr/>
        </p:nvPicPr>
        <p:blipFill rotWithShape="1">
          <a:blip r:embed="rId7">
            <a:alphaModFix/>
          </a:blip>
          <a:srcRect b="0" l="0" r="0" t="0"/>
          <a:stretch/>
        </p:blipFill>
        <p:spPr>
          <a:xfrm>
            <a:off x="914400" y="3905250"/>
            <a:ext cx="2790825" cy="452437"/>
          </a:xfrm>
          <a:prstGeom prst="rect">
            <a:avLst/>
          </a:prstGeom>
          <a:noFill/>
          <a:ln>
            <a:noFill/>
          </a:ln>
        </p:spPr>
      </p:pic>
      <p:pic>
        <p:nvPicPr>
          <p:cNvPr descr="image.png" id="251" name="Google Shape;251;p24"/>
          <p:cNvPicPr preferRelativeResize="0"/>
          <p:nvPr/>
        </p:nvPicPr>
        <p:blipFill rotWithShape="1">
          <a:blip r:embed="rId8">
            <a:alphaModFix/>
          </a:blip>
          <a:srcRect b="0" l="0" r="0" t="0"/>
          <a:stretch/>
        </p:blipFill>
        <p:spPr>
          <a:xfrm>
            <a:off x="914400" y="5753100"/>
            <a:ext cx="10401300" cy="514350"/>
          </a:xfrm>
          <a:prstGeom prst="rect">
            <a:avLst/>
          </a:prstGeom>
          <a:noFill/>
          <a:ln>
            <a:noFill/>
          </a:ln>
        </p:spPr>
      </p:pic>
      <p:sp>
        <p:nvSpPr>
          <p:cNvPr id="252" name="Google Shape;252;p24"/>
          <p:cNvSpPr txBox="1"/>
          <p:nvPr/>
        </p:nvSpPr>
        <p:spPr>
          <a:xfrm>
            <a:off x="581025" y="390525"/>
            <a:ext cx="1158144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38BDF8"/>
                </a:solidFill>
                <a:latin typeface="Inter"/>
                <a:ea typeface="Inter"/>
                <a:cs typeface="Inter"/>
                <a:sym typeface="Inter"/>
              </a:rPr>
              <a:t>Exercise 6: Binary Dominance</a:t>
            </a:r>
            <a:endParaRPr/>
          </a:p>
        </p:txBody>
      </p:sp>
      <p:sp>
        <p:nvSpPr>
          <p:cNvPr id="253" name="Google Shape;253;p24"/>
          <p:cNvSpPr/>
          <p:nvPr/>
        </p:nvSpPr>
        <p:spPr>
          <a:xfrm>
            <a:off x="581025" y="923925"/>
            <a:ext cx="1102995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4"/>
          <p:cNvSpPr txBox="1"/>
          <p:nvPr/>
        </p:nvSpPr>
        <p:spPr>
          <a:xfrm>
            <a:off x="914400" y="133350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Scenario</a:t>
            </a:r>
            <a:endParaRPr/>
          </a:p>
        </p:txBody>
      </p:sp>
      <p:sp>
        <p:nvSpPr>
          <p:cNvPr id="255" name="Google Shape;255;p24"/>
          <p:cNvSpPr txBox="1"/>
          <p:nvPr/>
        </p:nvSpPr>
        <p:spPr>
          <a:xfrm>
            <a:off x="914400" y="1704975"/>
            <a:ext cx="10401300" cy="271462"/>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A digital signal is processed as a list of bits. We need to determine if the signal is biased towards High (1) or Low (0).</a:t>
            </a:r>
            <a:endParaRPr/>
          </a:p>
        </p:txBody>
      </p:sp>
      <p:sp>
        <p:nvSpPr>
          <p:cNvPr id="256" name="Google Shape;256;p24"/>
          <p:cNvSpPr txBox="1"/>
          <p:nvPr/>
        </p:nvSpPr>
        <p:spPr>
          <a:xfrm>
            <a:off x="914400" y="2024062"/>
            <a:ext cx="10401300" cy="2193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(Given:                                                                                        )</a:t>
            </a:r>
            <a:endParaRPr/>
          </a:p>
        </p:txBody>
      </p:sp>
      <p:sp>
        <p:nvSpPr>
          <p:cNvPr id="257" name="Google Shape;257;p24"/>
          <p:cNvSpPr txBox="1"/>
          <p:nvPr/>
        </p:nvSpPr>
        <p:spPr>
          <a:xfrm>
            <a:off x="914400" y="2847975"/>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Mission</a:t>
            </a:r>
            <a:endParaRPr/>
          </a:p>
        </p:txBody>
      </p:sp>
      <p:sp>
        <p:nvSpPr>
          <p:cNvPr id="258" name="Google Shape;258;p24"/>
          <p:cNvSpPr txBox="1"/>
          <p:nvPr/>
        </p:nvSpPr>
        <p:spPr>
          <a:xfrm>
            <a:off x="914400" y="3219450"/>
            <a:ext cx="10401300" cy="542925"/>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Analyze the given binary signal. Determine the frequency of High (1) and Low (0) states. Conclude and print whether the signal is "High dominant", "Low dominant", or "Balanced" based on which state appears more often.</a:t>
            </a:r>
            <a:endParaRPr/>
          </a:p>
        </p:txBody>
      </p:sp>
      <p:sp>
        <p:nvSpPr>
          <p:cNvPr id="259" name="Google Shape;259;p24"/>
          <p:cNvSpPr txBox="1"/>
          <p:nvPr/>
        </p:nvSpPr>
        <p:spPr>
          <a:xfrm>
            <a:off x="914400" y="5381625"/>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Expected Output</a:t>
            </a:r>
            <a:endParaRPr/>
          </a:p>
        </p:txBody>
      </p:sp>
      <p:pic>
        <p:nvPicPr>
          <p:cNvPr descr="image.png" id="260" name="Google Shape;260;p24"/>
          <p:cNvPicPr preferRelativeResize="0"/>
          <p:nvPr/>
        </p:nvPicPr>
        <p:blipFill rotWithShape="1">
          <a:blip r:embed="rId9">
            <a:alphaModFix/>
          </a:blip>
          <a:srcRect b="0" l="0" r="0" t="0"/>
          <a:stretch/>
        </p:blipFill>
        <p:spPr>
          <a:xfrm>
            <a:off x="1571625" y="2033587"/>
            <a:ext cx="4305300" cy="247650"/>
          </a:xfrm>
          <a:prstGeom prst="rect">
            <a:avLst/>
          </a:prstGeom>
          <a:noFill/>
          <a:ln>
            <a:noFill/>
          </a:ln>
        </p:spPr>
      </p:pic>
      <p:sp>
        <p:nvSpPr>
          <p:cNvPr id="261" name="Google Shape;261;p24"/>
          <p:cNvSpPr txBox="1"/>
          <p:nvPr/>
        </p:nvSpPr>
        <p:spPr>
          <a:xfrm>
            <a:off x="1066800" y="4010025"/>
            <a:ext cx="2486025" cy="242887"/>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1" lang="en-US" sz="1275" u="none" cap="none" strike="noStrike">
                <a:solidFill>
                  <a:srgbClr val="FBBF24"/>
                </a:solidFill>
                <a:latin typeface="Inter"/>
                <a:ea typeface="Inter"/>
                <a:cs typeface="Inter"/>
                <a:sym typeface="Inter"/>
              </a:rPr>
              <a:t>(Hint: List .count(), if / elif / else)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descr="image.png" id="266" name="Google Shape;266;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7" name="Google Shape;267;p25"/>
          <p:cNvPicPr preferRelativeResize="0"/>
          <p:nvPr/>
        </p:nvPicPr>
        <p:blipFill rotWithShape="1">
          <a:blip r:embed="rId4">
            <a:alphaModFix/>
          </a:blip>
          <a:srcRect b="0" l="0" r="0" t="0"/>
          <a:stretch/>
        </p:blipFill>
        <p:spPr>
          <a:xfrm>
            <a:off x="581025" y="1133475"/>
            <a:ext cx="11029950" cy="1362075"/>
          </a:xfrm>
          <a:prstGeom prst="rect">
            <a:avLst/>
          </a:prstGeom>
          <a:noFill/>
          <a:ln>
            <a:noFill/>
          </a:ln>
        </p:spPr>
      </p:pic>
      <p:pic>
        <p:nvPicPr>
          <p:cNvPr descr="image.png" id="268" name="Google Shape;268;p25"/>
          <p:cNvPicPr preferRelativeResize="0"/>
          <p:nvPr/>
        </p:nvPicPr>
        <p:blipFill rotWithShape="1">
          <a:blip r:embed="rId5">
            <a:alphaModFix/>
          </a:blip>
          <a:srcRect b="0" l="0" r="0" t="0"/>
          <a:stretch/>
        </p:blipFill>
        <p:spPr>
          <a:xfrm>
            <a:off x="581025" y="2647950"/>
            <a:ext cx="11029950" cy="2381250"/>
          </a:xfrm>
          <a:prstGeom prst="rect">
            <a:avLst/>
          </a:prstGeom>
          <a:noFill/>
          <a:ln>
            <a:noFill/>
          </a:ln>
        </p:spPr>
      </p:pic>
      <p:pic>
        <p:nvPicPr>
          <p:cNvPr descr="image.png" id="269" name="Google Shape;269;p25"/>
          <p:cNvPicPr preferRelativeResize="0"/>
          <p:nvPr/>
        </p:nvPicPr>
        <p:blipFill rotWithShape="1">
          <a:blip r:embed="rId6">
            <a:alphaModFix/>
          </a:blip>
          <a:srcRect b="0" l="0" r="0" t="0"/>
          <a:stretch/>
        </p:blipFill>
        <p:spPr>
          <a:xfrm>
            <a:off x="581025" y="5181600"/>
            <a:ext cx="11029950" cy="1285875"/>
          </a:xfrm>
          <a:prstGeom prst="rect">
            <a:avLst/>
          </a:prstGeom>
          <a:noFill/>
          <a:ln>
            <a:noFill/>
          </a:ln>
        </p:spPr>
      </p:pic>
      <p:pic>
        <p:nvPicPr>
          <p:cNvPr descr="image.png" id="270" name="Google Shape;270;p25"/>
          <p:cNvPicPr preferRelativeResize="0"/>
          <p:nvPr/>
        </p:nvPicPr>
        <p:blipFill rotWithShape="1">
          <a:blip r:embed="rId7">
            <a:alphaModFix/>
          </a:blip>
          <a:srcRect b="0" l="0" r="0" t="0"/>
          <a:stretch/>
        </p:blipFill>
        <p:spPr>
          <a:xfrm>
            <a:off x="914400" y="3905250"/>
            <a:ext cx="2771775" cy="452437"/>
          </a:xfrm>
          <a:prstGeom prst="rect">
            <a:avLst/>
          </a:prstGeom>
          <a:noFill/>
          <a:ln>
            <a:noFill/>
          </a:ln>
        </p:spPr>
      </p:pic>
      <p:pic>
        <p:nvPicPr>
          <p:cNvPr descr="image.png" id="271" name="Google Shape;271;p25"/>
          <p:cNvPicPr preferRelativeResize="0"/>
          <p:nvPr/>
        </p:nvPicPr>
        <p:blipFill rotWithShape="1">
          <a:blip r:embed="rId8">
            <a:alphaModFix/>
          </a:blip>
          <a:srcRect b="0" l="0" r="0" t="0"/>
          <a:stretch/>
        </p:blipFill>
        <p:spPr>
          <a:xfrm>
            <a:off x="914400" y="5753100"/>
            <a:ext cx="10401300" cy="514350"/>
          </a:xfrm>
          <a:prstGeom prst="rect">
            <a:avLst/>
          </a:prstGeom>
          <a:noFill/>
          <a:ln>
            <a:noFill/>
          </a:ln>
        </p:spPr>
      </p:pic>
      <p:sp>
        <p:nvSpPr>
          <p:cNvPr id="272" name="Google Shape;272;p25"/>
          <p:cNvSpPr txBox="1"/>
          <p:nvPr/>
        </p:nvSpPr>
        <p:spPr>
          <a:xfrm>
            <a:off x="581025" y="390525"/>
            <a:ext cx="1158144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38BDF8"/>
                </a:solidFill>
                <a:latin typeface="Inter"/>
                <a:ea typeface="Inter"/>
                <a:cs typeface="Inter"/>
                <a:sym typeface="Inter"/>
              </a:rPr>
              <a:t>Exercise 7: Scalar Multiplication</a:t>
            </a:r>
            <a:endParaRPr/>
          </a:p>
        </p:txBody>
      </p:sp>
      <p:sp>
        <p:nvSpPr>
          <p:cNvPr id="273" name="Google Shape;273;p25"/>
          <p:cNvSpPr/>
          <p:nvPr/>
        </p:nvSpPr>
        <p:spPr>
          <a:xfrm>
            <a:off x="581025" y="923925"/>
            <a:ext cx="1102995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5"/>
          <p:cNvSpPr txBox="1"/>
          <p:nvPr/>
        </p:nvSpPr>
        <p:spPr>
          <a:xfrm>
            <a:off x="914400" y="133350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Scenario</a:t>
            </a:r>
            <a:endParaRPr/>
          </a:p>
        </p:txBody>
      </p:sp>
      <p:sp>
        <p:nvSpPr>
          <p:cNvPr id="275" name="Google Shape;275;p25"/>
          <p:cNvSpPr txBox="1"/>
          <p:nvPr/>
        </p:nvSpPr>
        <p:spPr>
          <a:xfrm>
            <a:off x="914400" y="1704975"/>
            <a:ext cx="10401300" cy="271462"/>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In linear algebra, multiplying a vector by a scalar means multiplying every element by that number.</a:t>
            </a:r>
            <a:endParaRPr/>
          </a:p>
        </p:txBody>
      </p:sp>
      <p:sp>
        <p:nvSpPr>
          <p:cNvPr id="276" name="Google Shape;276;p25"/>
          <p:cNvSpPr txBox="1"/>
          <p:nvPr/>
        </p:nvSpPr>
        <p:spPr>
          <a:xfrm>
            <a:off x="914400" y="2024062"/>
            <a:ext cx="10401300" cy="2193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(Given:                                               )</a:t>
            </a:r>
            <a:endParaRPr/>
          </a:p>
        </p:txBody>
      </p:sp>
      <p:sp>
        <p:nvSpPr>
          <p:cNvPr id="277" name="Google Shape;277;p25"/>
          <p:cNvSpPr txBox="1"/>
          <p:nvPr/>
        </p:nvSpPr>
        <p:spPr>
          <a:xfrm>
            <a:off x="914400" y="2847975"/>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Mission</a:t>
            </a:r>
            <a:endParaRPr/>
          </a:p>
        </p:txBody>
      </p:sp>
      <p:sp>
        <p:nvSpPr>
          <p:cNvPr id="278" name="Google Shape;278;p25"/>
          <p:cNvSpPr txBox="1"/>
          <p:nvPr/>
        </p:nvSpPr>
        <p:spPr>
          <a:xfrm>
            <a:off x="914400" y="3219450"/>
            <a:ext cx="10401300" cy="542925"/>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Ask the user for a scalar multiplier k. Apply scalar multiplication to the given vector, meaning every individual component of the vector must be multiplied by k. Generate and print the resulting scaled vector.</a:t>
            </a:r>
            <a:endParaRPr/>
          </a:p>
        </p:txBody>
      </p:sp>
      <p:sp>
        <p:nvSpPr>
          <p:cNvPr id="279" name="Google Shape;279;p25"/>
          <p:cNvSpPr txBox="1"/>
          <p:nvPr/>
        </p:nvSpPr>
        <p:spPr>
          <a:xfrm>
            <a:off x="914400" y="5381625"/>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Expected Output</a:t>
            </a:r>
            <a:endParaRPr/>
          </a:p>
        </p:txBody>
      </p:sp>
      <p:pic>
        <p:nvPicPr>
          <p:cNvPr descr="image.png" id="280" name="Google Shape;280;p25"/>
          <p:cNvPicPr preferRelativeResize="0"/>
          <p:nvPr/>
        </p:nvPicPr>
        <p:blipFill rotWithShape="1">
          <a:blip r:embed="rId9">
            <a:alphaModFix/>
          </a:blip>
          <a:srcRect b="0" l="0" r="0" t="0"/>
          <a:stretch/>
        </p:blipFill>
        <p:spPr>
          <a:xfrm>
            <a:off x="1571625" y="2033587"/>
            <a:ext cx="2305050" cy="247650"/>
          </a:xfrm>
          <a:prstGeom prst="rect">
            <a:avLst/>
          </a:prstGeom>
          <a:noFill/>
          <a:ln>
            <a:noFill/>
          </a:ln>
        </p:spPr>
      </p:pic>
      <p:sp>
        <p:nvSpPr>
          <p:cNvPr id="281" name="Google Shape;281;p25"/>
          <p:cNvSpPr txBox="1"/>
          <p:nvPr/>
        </p:nvSpPr>
        <p:spPr>
          <a:xfrm>
            <a:off x="1066800" y="4010025"/>
            <a:ext cx="2466975" cy="242887"/>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1" lang="en-US" sz="1275" u="none" cap="none" strike="noStrike">
                <a:solidFill>
                  <a:srgbClr val="FBBF24"/>
                </a:solidFill>
                <a:latin typeface="Inter"/>
                <a:ea typeface="Inter"/>
                <a:cs typeface="Inter"/>
                <a:sym typeface="Inter"/>
              </a:rPr>
              <a:t>(Hint: for x in vector:, .append())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descr="image.png" id="286" name="Google Shape;286;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87" name="Google Shape;287;p26"/>
          <p:cNvPicPr preferRelativeResize="0"/>
          <p:nvPr/>
        </p:nvPicPr>
        <p:blipFill rotWithShape="1">
          <a:blip r:embed="rId4">
            <a:alphaModFix/>
          </a:blip>
          <a:srcRect b="0" l="0" r="0" t="0"/>
          <a:stretch/>
        </p:blipFill>
        <p:spPr>
          <a:xfrm>
            <a:off x="581025" y="1133475"/>
            <a:ext cx="11029950" cy="1633537"/>
          </a:xfrm>
          <a:prstGeom prst="rect">
            <a:avLst/>
          </a:prstGeom>
          <a:noFill/>
          <a:ln>
            <a:noFill/>
          </a:ln>
        </p:spPr>
      </p:pic>
      <p:pic>
        <p:nvPicPr>
          <p:cNvPr descr="image.png" id="288" name="Google Shape;288;p26"/>
          <p:cNvPicPr preferRelativeResize="0"/>
          <p:nvPr/>
        </p:nvPicPr>
        <p:blipFill rotWithShape="1">
          <a:blip r:embed="rId5">
            <a:alphaModFix/>
          </a:blip>
          <a:srcRect b="0" l="0" r="0" t="0"/>
          <a:stretch/>
        </p:blipFill>
        <p:spPr>
          <a:xfrm>
            <a:off x="581025" y="2919412"/>
            <a:ext cx="11029950" cy="2181225"/>
          </a:xfrm>
          <a:prstGeom prst="rect">
            <a:avLst/>
          </a:prstGeom>
          <a:noFill/>
          <a:ln>
            <a:noFill/>
          </a:ln>
        </p:spPr>
      </p:pic>
      <p:pic>
        <p:nvPicPr>
          <p:cNvPr descr="image.png" id="289" name="Google Shape;289;p26"/>
          <p:cNvPicPr preferRelativeResize="0"/>
          <p:nvPr/>
        </p:nvPicPr>
        <p:blipFill rotWithShape="1">
          <a:blip r:embed="rId6">
            <a:alphaModFix/>
          </a:blip>
          <a:srcRect b="0" l="0" r="0" t="0"/>
          <a:stretch/>
        </p:blipFill>
        <p:spPr>
          <a:xfrm>
            <a:off x="581025" y="5253037"/>
            <a:ext cx="11029950" cy="1285875"/>
          </a:xfrm>
          <a:prstGeom prst="rect">
            <a:avLst/>
          </a:prstGeom>
          <a:noFill/>
          <a:ln>
            <a:noFill/>
          </a:ln>
        </p:spPr>
      </p:pic>
      <p:pic>
        <p:nvPicPr>
          <p:cNvPr descr="image.png" id="290" name="Google Shape;290;p26"/>
          <p:cNvPicPr preferRelativeResize="0"/>
          <p:nvPr/>
        </p:nvPicPr>
        <p:blipFill rotWithShape="1">
          <a:blip r:embed="rId7">
            <a:alphaModFix/>
          </a:blip>
          <a:srcRect b="0" l="0" r="0" t="0"/>
          <a:stretch/>
        </p:blipFill>
        <p:spPr>
          <a:xfrm>
            <a:off x="914400" y="4448175"/>
            <a:ext cx="2781300" cy="452437"/>
          </a:xfrm>
          <a:prstGeom prst="rect">
            <a:avLst/>
          </a:prstGeom>
          <a:noFill/>
          <a:ln>
            <a:noFill/>
          </a:ln>
        </p:spPr>
      </p:pic>
      <p:pic>
        <p:nvPicPr>
          <p:cNvPr descr="image.png" id="291" name="Google Shape;291;p26"/>
          <p:cNvPicPr preferRelativeResize="0"/>
          <p:nvPr/>
        </p:nvPicPr>
        <p:blipFill rotWithShape="1">
          <a:blip r:embed="rId8">
            <a:alphaModFix/>
          </a:blip>
          <a:srcRect b="0" l="0" r="0" t="0"/>
          <a:stretch/>
        </p:blipFill>
        <p:spPr>
          <a:xfrm>
            <a:off x="914400" y="5824537"/>
            <a:ext cx="10401300" cy="514350"/>
          </a:xfrm>
          <a:prstGeom prst="rect">
            <a:avLst/>
          </a:prstGeom>
          <a:noFill/>
          <a:ln>
            <a:noFill/>
          </a:ln>
        </p:spPr>
      </p:pic>
      <p:sp>
        <p:nvSpPr>
          <p:cNvPr id="292" name="Google Shape;292;p26"/>
          <p:cNvSpPr txBox="1"/>
          <p:nvPr/>
        </p:nvSpPr>
        <p:spPr>
          <a:xfrm>
            <a:off x="581025" y="390525"/>
            <a:ext cx="1158144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38BDF8"/>
                </a:solidFill>
                <a:latin typeface="Inter"/>
                <a:ea typeface="Inter"/>
                <a:cs typeface="Inter"/>
                <a:sym typeface="Inter"/>
              </a:rPr>
              <a:t>Exercise 8: The Telemetry Queue</a:t>
            </a:r>
            <a:endParaRPr/>
          </a:p>
        </p:txBody>
      </p:sp>
      <p:sp>
        <p:nvSpPr>
          <p:cNvPr id="293" name="Google Shape;293;p26"/>
          <p:cNvSpPr/>
          <p:nvPr/>
        </p:nvSpPr>
        <p:spPr>
          <a:xfrm>
            <a:off x="581025" y="923925"/>
            <a:ext cx="1102995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4" name="Google Shape;294;p26"/>
          <p:cNvSpPr txBox="1"/>
          <p:nvPr/>
        </p:nvSpPr>
        <p:spPr>
          <a:xfrm>
            <a:off x="914400" y="133350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Scenario</a:t>
            </a:r>
            <a:endParaRPr/>
          </a:p>
        </p:txBody>
      </p:sp>
      <p:sp>
        <p:nvSpPr>
          <p:cNvPr id="295" name="Google Shape;295;p26"/>
          <p:cNvSpPr txBox="1"/>
          <p:nvPr/>
        </p:nvSpPr>
        <p:spPr>
          <a:xfrm>
            <a:off x="914400" y="1704975"/>
            <a:ext cx="10401300" cy="542925"/>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A sensor sends an array of telemetry data. The very last element is always a status code (1=Active, 0=Offline). Also, the sensor sometimes outputs -999.0 when it glitches.</a:t>
            </a:r>
            <a:endParaRPr/>
          </a:p>
        </p:txBody>
      </p:sp>
      <p:sp>
        <p:nvSpPr>
          <p:cNvPr id="296" name="Google Shape;296;p26"/>
          <p:cNvSpPr txBox="1"/>
          <p:nvPr/>
        </p:nvSpPr>
        <p:spPr>
          <a:xfrm>
            <a:off x="914400" y="2295525"/>
            <a:ext cx="10401300" cy="2193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(Given:                                                                                 )</a:t>
            </a:r>
            <a:endParaRPr/>
          </a:p>
        </p:txBody>
      </p:sp>
      <p:sp>
        <p:nvSpPr>
          <p:cNvPr id="297" name="Google Shape;297;p26"/>
          <p:cNvSpPr txBox="1"/>
          <p:nvPr/>
        </p:nvSpPr>
        <p:spPr>
          <a:xfrm>
            <a:off x="914400" y="3119437"/>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Mission</a:t>
            </a:r>
            <a:endParaRPr/>
          </a:p>
        </p:txBody>
      </p:sp>
      <p:sp>
        <p:nvSpPr>
          <p:cNvPr id="298" name="Google Shape;298;p26"/>
          <p:cNvSpPr txBox="1"/>
          <p:nvPr/>
        </p:nvSpPr>
        <p:spPr>
          <a:xfrm>
            <a:off x="914400" y="3490912"/>
            <a:ext cx="10401300" cy="814387"/>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The telemetry data contains a status flag at the very end and a known glitch value (-999.0) somewhere inside. Separate the status flag from the rest of the data. Then, locate the exact position of the glitch, log its index, and permanently remove the glitch from the dataset.</a:t>
            </a:r>
            <a:endParaRPr/>
          </a:p>
        </p:txBody>
      </p:sp>
      <p:sp>
        <p:nvSpPr>
          <p:cNvPr id="299" name="Google Shape;299;p26"/>
          <p:cNvSpPr txBox="1"/>
          <p:nvPr/>
        </p:nvSpPr>
        <p:spPr>
          <a:xfrm>
            <a:off x="914400" y="5453062"/>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Expected Output</a:t>
            </a:r>
            <a:endParaRPr/>
          </a:p>
        </p:txBody>
      </p:sp>
      <p:pic>
        <p:nvPicPr>
          <p:cNvPr descr="image.png" id="300" name="Google Shape;300;p26"/>
          <p:cNvPicPr preferRelativeResize="0"/>
          <p:nvPr/>
        </p:nvPicPr>
        <p:blipFill rotWithShape="1">
          <a:blip r:embed="rId9">
            <a:alphaModFix/>
          </a:blip>
          <a:srcRect b="0" l="0" r="0" t="0"/>
          <a:stretch/>
        </p:blipFill>
        <p:spPr>
          <a:xfrm>
            <a:off x="1571625" y="2305050"/>
            <a:ext cx="4019550" cy="247650"/>
          </a:xfrm>
          <a:prstGeom prst="rect">
            <a:avLst/>
          </a:prstGeom>
          <a:noFill/>
          <a:ln>
            <a:noFill/>
          </a:ln>
        </p:spPr>
      </p:pic>
      <p:sp>
        <p:nvSpPr>
          <p:cNvPr id="301" name="Google Shape;301;p26"/>
          <p:cNvSpPr txBox="1"/>
          <p:nvPr/>
        </p:nvSpPr>
        <p:spPr>
          <a:xfrm>
            <a:off x="1066800" y="4552950"/>
            <a:ext cx="2476500" cy="242887"/>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1" lang="en-US" sz="1275" u="none" cap="none" strike="noStrike">
                <a:solidFill>
                  <a:srgbClr val="FBBF24"/>
                </a:solidFill>
                <a:latin typeface="Inter"/>
                <a:ea typeface="Inter"/>
                <a:cs typeface="Inter"/>
                <a:sym typeface="Inter"/>
              </a:rPr>
              <a:t>(Hint: .pop(), .index(), .remove())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descr="image.png" id="306" name="Google Shape;306;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07" name="Google Shape;307;p27"/>
          <p:cNvPicPr preferRelativeResize="0"/>
          <p:nvPr/>
        </p:nvPicPr>
        <p:blipFill rotWithShape="1">
          <a:blip r:embed="rId4">
            <a:alphaModFix/>
          </a:blip>
          <a:srcRect b="0" l="0" r="0" t="0"/>
          <a:stretch/>
        </p:blipFill>
        <p:spPr>
          <a:xfrm>
            <a:off x="581025" y="1133475"/>
            <a:ext cx="11029950" cy="1633537"/>
          </a:xfrm>
          <a:prstGeom prst="rect">
            <a:avLst/>
          </a:prstGeom>
          <a:noFill/>
          <a:ln>
            <a:noFill/>
          </a:ln>
        </p:spPr>
      </p:pic>
      <p:pic>
        <p:nvPicPr>
          <p:cNvPr descr="image.png" id="308" name="Google Shape;308;p27"/>
          <p:cNvPicPr preferRelativeResize="0"/>
          <p:nvPr/>
        </p:nvPicPr>
        <p:blipFill rotWithShape="1">
          <a:blip r:embed="rId5">
            <a:alphaModFix/>
          </a:blip>
          <a:srcRect b="0" l="0" r="0" t="0"/>
          <a:stretch/>
        </p:blipFill>
        <p:spPr>
          <a:xfrm>
            <a:off x="581025" y="2919412"/>
            <a:ext cx="11029950" cy="2109787"/>
          </a:xfrm>
          <a:prstGeom prst="rect">
            <a:avLst/>
          </a:prstGeom>
          <a:noFill/>
          <a:ln>
            <a:noFill/>
          </a:ln>
        </p:spPr>
      </p:pic>
      <p:pic>
        <p:nvPicPr>
          <p:cNvPr descr="image.png" id="309" name="Google Shape;309;p27"/>
          <p:cNvPicPr preferRelativeResize="0"/>
          <p:nvPr/>
        </p:nvPicPr>
        <p:blipFill rotWithShape="1">
          <a:blip r:embed="rId6">
            <a:alphaModFix/>
          </a:blip>
          <a:srcRect b="0" l="0" r="0" t="0"/>
          <a:stretch/>
        </p:blipFill>
        <p:spPr>
          <a:xfrm>
            <a:off x="581025" y="5181600"/>
            <a:ext cx="11029950" cy="1285875"/>
          </a:xfrm>
          <a:prstGeom prst="rect">
            <a:avLst/>
          </a:prstGeom>
          <a:noFill/>
          <a:ln>
            <a:noFill/>
          </a:ln>
        </p:spPr>
      </p:pic>
      <p:pic>
        <p:nvPicPr>
          <p:cNvPr descr="image.png" id="310" name="Google Shape;310;p27"/>
          <p:cNvPicPr preferRelativeResize="0"/>
          <p:nvPr/>
        </p:nvPicPr>
        <p:blipFill rotWithShape="1">
          <a:blip r:embed="rId7">
            <a:alphaModFix/>
          </a:blip>
          <a:srcRect b="0" l="0" r="0" t="0"/>
          <a:stretch/>
        </p:blipFill>
        <p:spPr>
          <a:xfrm>
            <a:off x="914400" y="4176712"/>
            <a:ext cx="3124200" cy="452437"/>
          </a:xfrm>
          <a:prstGeom prst="rect">
            <a:avLst/>
          </a:prstGeom>
          <a:noFill/>
          <a:ln>
            <a:noFill/>
          </a:ln>
        </p:spPr>
      </p:pic>
      <p:pic>
        <p:nvPicPr>
          <p:cNvPr descr="image.png" id="311" name="Google Shape;311;p27"/>
          <p:cNvPicPr preferRelativeResize="0"/>
          <p:nvPr/>
        </p:nvPicPr>
        <p:blipFill rotWithShape="1">
          <a:blip r:embed="rId8">
            <a:alphaModFix/>
          </a:blip>
          <a:srcRect b="0" l="0" r="0" t="0"/>
          <a:stretch/>
        </p:blipFill>
        <p:spPr>
          <a:xfrm>
            <a:off x="914400" y="5753100"/>
            <a:ext cx="10401300" cy="514350"/>
          </a:xfrm>
          <a:prstGeom prst="rect">
            <a:avLst/>
          </a:prstGeom>
          <a:noFill/>
          <a:ln>
            <a:noFill/>
          </a:ln>
        </p:spPr>
      </p:pic>
      <p:sp>
        <p:nvSpPr>
          <p:cNvPr id="312" name="Google Shape;312;p27"/>
          <p:cNvSpPr txBox="1"/>
          <p:nvPr/>
        </p:nvSpPr>
        <p:spPr>
          <a:xfrm>
            <a:off x="581025" y="390525"/>
            <a:ext cx="1158144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38BDF8"/>
                </a:solidFill>
                <a:latin typeface="Inter"/>
                <a:ea typeface="Inter"/>
                <a:cs typeface="Inter"/>
                <a:sym typeface="Inter"/>
              </a:rPr>
              <a:t>Exercise 9: Sorting the Leaderboard</a:t>
            </a:r>
            <a:endParaRPr/>
          </a:p>
        </p:txBody>
      </p:sp>
      <p:sp>
        <p:nvSpPr>
          <p:cNvPr id="313" name="Google Shape;313;p27"/>
          <p:cNvSpPr/>
          <p:nvPr/>
        </p:nvSpPr>
        <p:spPr>
          <a:xfrm>
            <a:off x="581025" y="923925"/>
            <a:ext cx="1102995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27"/>
          <p:cNvSpPr txBox="1"/>
          <p:nvPr/>
        </p:nvSpPr>
        <p:spPr>
          <a:xfrm>
            <a:off x="914400" y="133350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Scenario</a:t>
            </a:r>
            <a:endParaRPr/>
          </a:p>
        </p:txBody>
      </p:sp>
      <p:sp>
        <p:nvSpPr>
          <p:cNvPr id="315" name="Google Shape;315;p27"/>
          <p:cNvSpPr txBox="1"/>
          <p:nvPr/>
        </p:nvSpPr>
        <p:spPr>
          <a:xfrm>
            <a:off x="914400" y="1704975"/>
            <a:ext cx="10401300" cy="542925"/>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A math competition has ended. The organizers want to see the scores ordered from Highest to Lowest to easily pick the top performers.</a:t>
            </a:r>
            <a:endParaRPr/>
          </a:p>
        </p:txBody>
      </p:sp>
      <p:sp>
        <p:nvSpPr>
          <p:cNvPr id="316" name="Google Shape;316;p27"/>
          <p:cNvSpPr txBox="1"/>
          <p:nvPr/>
        </p:nvSpPr>
        <p:spPr>
          <a:xfrm>
            <a:off x="914400" y="2295525"/>
            <a:ext cx="10401300" cy="2193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(Given:                                                                              )</a:t>
            </a:r>
            <a:endParaRPr/>
          </a:p>
        </p:txBody>
      </p:sp>
      <p:sp>
        <p:nvSpPr>
          <p:cNvPr id="317" name="Google Shape;317;p27"/>
          <p:cNvSpPr txBox="1"/>
          <p:nvPr/>
        </p:nvSpPr>
        <p:spPr>
          <a:xfrm>
            <a:off x="914400" y="3119437"/>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Mission</a:t>
            </a:r>
            <a:endParaRPr/>
          </a:p>
        </p:txBody>
      </p:sp>
      <p:sp>
        <p:nvSpPr>
          <p:cNvPr id="318" name="Google Shape;318;p27"/>
          <p:cNvSpPr txBox="1"/>
          <p:nvPr/>
        </p:nvSpPr>
        <p:spPr>
          <a:xfrm>
            <a:off x="914400" y="3490912"/>
            <a:ext cx="10401300" cy="542925"/>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Reorganize the unsorted competition scores so that they are ordered strictly from highest to lowest. Display the finalized standings and officially announce the Champion (the highest score).</a:t>
            </a:r>
            <a:endParaRPr/>
          </a:p>
        </p:txBody>
      </p:sp>
      <p:sp>
        <p:nvSpPr>
          <p:cNvPr id="319" name="Google Shape;319;p27"/>
          <p:cNvSpPr txBox="1"/>
          <p:nvPr/>
        </p:nvSpPr>
        <p:spPr>
          <a:xfrm>
            <a:off x="914400" y="5381625"/>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Expected Output</a:t>
            </a:r>
            <a:endParaRPr/>
          </a:p>
        </p:txBody>
      </p:sp>
      <p:pic>
        <p:nvPicPr>
          <p:cNvPr descr="image.png" id="320" name="Google Shape;320;p27"/>
          <p:cNvPicPr preferRelativeResize="0"/>
          <p:nvPr/>
        </p:nvPicPr>
        <p:blipFill rotWithShape="1">
          <a:blip r:embed="rId9">
            <a:alphaModFix/>
          </a:blip>
          <a:srcRect b="0" l="0" r="0" t="0"/>
          <a:stretch/>
        </p:blipFill>
        <p:spPr>
          <a:xfrm>
            <a:off x="1571625" y="2305050"/>
            <a:ext cx="3829050" cy="247650"/>
          </a:xfrm>
          <a:prstGeom prst="rect">
            <a:avLst/>
          </a:prstGeom>
          <a:noFill/>
          <a:ln>
            <a:noFill/>
          </a:ln>
        </p:spPr>
      </p:pic>
      <p:sp>
        <p:nvSpPr>
          <p:cNvPr id="321" name="Google Shape;321;p27"/>
          <p:cNvSpPr txBox="1"/>
          <p:nvPr/>
        </p:nvSpPr>
        <p:spPr>
          <a:xfrm>
            <a:off x="1066800" y="4281487"/>
            <a:ext cx="2819400" cy="242887"/>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1" lang="en-US" sz="1275" u="none" cap="none" strike="noStrike">
                <a:solidFill>
                  <a:srgbClr val="FBBF24"/>
                </a:solidFill>
                <a:latin typeface="Inter"/>
                <a:ea typeface="Inter"/>
                <a:cs typeface="Inter"/>
                <a:sym typeface="Inter"/>
              </a:rPr>
              <a:t>(Hint: .sort(), .reverse(), indexing [0])</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descr="image.png" id="326" name="Google Shape;326;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27" name="Google Shape;327;p28"/>
          <p:cNvPicPr preferRelativeResize="0"/>
          <p:nvPr/>
        </p:nvPicPr>
        <p:blipFill rotWithShape="1">
          <a:blip r:embed="rId4">
            <a:alphaModFix/>
          </a:blip>
          <a:srcRect b="0" l="0" r="0" t="0"/>
          <a:stretch/>
        </p:blipFill>
        <p:spPr>
          <a:xfrm>
            <a:off x="581025" y="1133475"/>
            <a:ext cx="11029950" cy="1633537"/>
          </a:xfrm>
          <a:prstGeom prst="rect">
            <a:avLst/>
          </a:prstGeom>
          <a:noFill/>
          <a:ln>
            <a:noFill/>
          </a:ln>
        </p:spPr>
      </p:pic>
      <p:pic>
        <p:nvPicPr>
          <p:cNvPr descr="image.png" id="328" name="Google Shape;328;p28"/>
          <p:cNvPicPr preferRelativeResize="0"/>
          <p:nvPr/>
        </p:nvPicPr>
        <p:blipFill rotWithShape="1">
          <a:blip r:embed="rId5">
            <a:alphaModFix/>
          </a:blip>
          <a:srcRect b="0" l="0" r="0" t="0"/>
          <a:stretch/>
        </p:blipFill>
        <p:spPr>
          <a:xfrm>
            <a:off x="581025" y="2919412"/>
            <a:ext cx="11029950" cy="2181225"/>
          </a:xfrm>
          <a:prstGeom prst="rect">
            <a:avLst/>
          </a:prstGeom>
          <a:noFill/>
          <a:ln>
            <a:noFill/>
          </a:ln>
        </p:spPr>
      </p:pic>
      <p:pic>
        <p:nvPicPr>
          <p:cNvPr descr="image.png" id="329" name="Google Shape;329;p28"/>
          <p:cNvPicPr preferRelativeResize="0"/>
          <p:nvPr/>
        </p:nvPicPr>
        <p:blipFill rotWithShape="1">
          <a:blip r:embed="rId6">
            <a:alphaModFix/>
          </a:blip>
          <a:srcRect b="0" l="0" r="0" t="0"/>
          <a:stretch/>
        </p:blipFill>
        <p:spPr>
          <a:xfrm>
            <a:off x="581025" y="5253037"/>
            <a:ext cx="11029950" cy="1285875"/>
          </a:xfrm>
          <a:prstGeom prst="rect">
            <a:avLst/>
          </a:prstGeom>
          <a:noFill/>
          <a:ln>
            <a:noFill/>
          </a:ln>
        </p:spPr>
      </p:pic>
      <p:pic>
        <p:nvPicPr>
          <p:cNvPr descr="image.png" id="330" name="Google Shape;330;p28"/>
          <p:cNvPicPr preferRelativeResize="0"/>
          <p:nvPr/>
        </p:nvPicPr>
        <p:blipFill rotWithShape="1">
          <a:blip r:embed="rId7">
            <a:alphaModFix/>
          </a:blip>
          <a:srcRect b="0" l="0" r="0" t="0"/>
          <a:stretch/>
        </p:blipFill>
        <p:spPr>
          <a:xfrm>
            <a:off x="914400" y="4448175"/>
            <a:ext cx="2200275" cy="452437"/>
          </a:xfrm>
          <a:prstGeom prst="rect">
            <a:avLst/>
          </a:prstGeom>
          <a:noFill/>
          <a:ln>
            <a:noFill/>
          </a:ln>
        </p:spPr>
      </p:pic>
      <p:pic>
        <p:nvPicPr>
          <p:cNvPr descr="image.png" id="331" name="Google Shape;331;p28"/>
          <p:cNvPicPr preferRelativeResize="0"/>
          <p:nvPr/>
        </p:nvPicPr>
        <p:blipFill rotWithShape="1">
          <a:blip r:embed="rId8">
            <a:alphaModFix/>
          </a:blip>
          <a:srcRect b="0" l="0" r="0" t="0"/>
          <a:stretch/>
        </p:blipFill>
        <p:spPr>
          <a:xfrm>
            <a:off x="914400" y="5824537"/>
            <a:ext cx="10401300" cy="514350"/>
          </a:xfrm>
          <a:prstGeom prst="rect">
            <a:avLst/>
          </a:prstGeom>
          <a:noFill/>
          <a:ln>
            <a:noFill/>
          </a:ln>
        </p:spPr>
      </p:pic>
      <p:sp>
        <p:nvSpPr>
          <p:cNvPr id="332" name="Google Shape;332;p28"/>
          <p:cNvSpPr txBox="1"/>
          <p:nvPr/>
        </p:nvSpPr>
        <p:spPr>
          <a:xfrm>
            <a:off x="581025" y="390525"/>
            <a:ext cx="1158144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38BDF8"/>
                </a:solidFill>
                <a:latin typeface="Inter"/>
                <a:ea typeface="Inter"/>
                <a:cs typeface="Inter"/>
                <a:sym typeface="Inter"/>
              </a:rPr>
              <a:t>Exercise 10: Matrix Homogeneous Coordinates</a:t>
            </a:r>
            <a:endParaRPr/>
          </a:p>
        </p:txBody>
      </p:sp>
      <p:sp>
        <p:nvSpPr>
          <p:cNvPr id="333" name="Google Shape;333;p28"/>
          <p:cNvSpPr/>
          <p:nvPr/>
        </p:nvSpPr>
        <p:spPr>
          <a:xfrm>
            <a:off x="581025" y="923925"/>
            <a:ext cx="1102995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4" name="Google Shape;334;p28"/>
          <p:cNvSpPr txBox="1"/>
          <p:nvPr/>
        </p:nvSpPr>
        <p:spPr>
          <a:xfrm>
            <a:off x="914400" y="133350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Scenario</a:t>
            </a:r>
            <a:endParaRPr/>
          </a:p>
        </p:txBody>
      </p:sp>
      <p:sp>
        <p:nvSpPr>
          <p:cNvPr id="335" name="Google Shape;335;p28"/>
          <p:cNvSpPr txBox="1"/>
          <p:nvPr/>
        </p:nvSpPr>
        <p:spPr>
          <a:xfrm>
            <a:off x="914400" y="1704975"/>
            <a:ext cx="10401300" cy="542925"/>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In computer graphics and geometry, to translate a 2D vector, we often extend it with new data and add a 1.0 at the very beginning (Homogeneous coordinates).</a:t>
            </a:r>
            <a:endParaRPr/>
          </a:p>
        </p:txBody>
      </p:sp>
      <p:sp>
        <p:nvSpPr>
          <p:cNvPr id="336" name="Google Shape;336;p28"/>
          <p:cNvSpPr txBox="1"/>
          <p:nvPr/>
        </p:nvSpPr>
        <p:spPr>
          <a:xfrm>
            <a:off x="914400" y="2295525"/>
            <a:ext cx="10401300" cy="2193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(Given:                                       and                                                       )</a:t>
            </a:r>
            <a:endParaRPr/>
          </a:p>
        </p:txBody>
      </p:sp>
      <p:sp>
        <p:nvSpPr>
          <p:cNvPr id="337" name="Google Shape;337;p28"/>
          <p:cNvSpPr txBox="1"/>
          <p:nvPr/>
        </p:nvSpPr>
        <p:spPr>
          <a:xfrm>
            <a:off x="914400" y="3119437"/>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Mission</a:t>
            </a:r>
            <a:endParaRPr/>
          </a:p>
        </p:txBody>
      </p:sp>
      <p:sp>
        <p:nvSpPr>
          <p:cNvPr id="338" name="Google Shape;338;p28"/>
          <p:cNvSpPr txBox="1"/>
          <p:nvPr/>
        </p:nvSpPr>
        <p:spPr>
          <a:xfrm>
            <a:off x="914400" y="3490912"/>
            <a:ext cx="10401300" cy="814387"/>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Transform the 2D vector by expanding it with the additional dimensions provided in the second list. Furthermore, complete the homogeneous coordinate transformation by injecting the value 1.0 at the absolute beginning of the final vector.</a:t>
            </a:r>
            <a:endParaRPr/>
          </a:p>
        </p:txBody>
      </p:sp>
      <p:sp>
        <p:nvSpPr>
          <p:cNvPr id="339" name="Google Shape;339;p28"/>
          <p:cNvSpPr txBox="1"/>
          <p:nvPr/>
        </p:nvSpPr>
        <p:spPr>
          <a:xfrm>
            <a:off x="914400" y="5453062"/>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Expected Output</a:t>
            </a:r>
            <a:endParaRPr/>
          </a:p>
        </p:txBody>
      </p:sp>
      <p:pic>
        <p:nvPicPr>
          <p:cNvPr descr="image.png" id="340" name="Google Shape;340;p28"/>
          <p:cNvPicPr preferRelativeResize="0"/>
          <p:nvPr/>
        </p:nvPicPr>
        <p:blipFill rotWithShape="1">
          <a:blip r:embed="rId9">
            <a:alphaModFix/>
          </a:blip>
          <a:srcRect b="0" l="0" r="0" t="0"/>
          <a:stretch/>
        </p:blipFill>
        <p:spPr>
          <a:xfrm>
            <a:off x="1571625" y="2305050"/>
            <a:ext cx="1924050" cy="247650"/>
          </a:xfrm>
          <a:prstGeom prst="rect">
            <a:avLst/>
          </a:prstGeom>
          <a:noFill/>
          <a:ln>
            <a:noFill/>
          </a:ln>
        </p:spPr>
      </p:pic>
      <p:pic>
        <p:nvPicPr>
          <p:cNvPr descr="image.png" id="341" name="Google Shape;341;p28"/>
          <p:cNvPicPr preferRelativeResize="0"/>
          <p:nvPr/>
        </p:nvPicPr>
        <p:blipFill rotWithShape="1">
          <a:blip r:embed="rId10">
            <a:alphaModFix/>
          </a:blip>
          <a:srcRect b="0" l="0" r="0" t="0"/>
          <a:stretch/>
        </p:blipFill>
        <p:spPr>
          <a:xfrm>
            <a:off x="3914775" y="2305050"/>
            <a:ext cx="2686050" cy="247650"/>
          </a:xfrm>
          <a:prstGeom prst="rect">
            <a:avLst/>
          </a:prstGeom>
          <a:noFill/>
          <a:ln>
            <a:noFill/>
          </a:ln>
        </p:spPr>
      </p:pic>
      <p:sp>
        <p:nvSpPr>
          <p:cNvPr id="342" name="Google Shape;342;p28"/>
          <p:cNvSpPr txBox="1"/>
          <p:nvPr/>
        </p:nvSpPr>
        <p:spPr>
          <a:xfrm>
            <a:off x="1066800" y="4552950"/>
            <a:ext cx="1895475" cy="242887"/>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1" lang="en-US" sz="1275" u="none" cap="none" strike="noStrike">
                <a:solidFill>
                  <a:srgbClr val="FBBF24"/>
                </a:solidFill>
                <a:latin typeface="Inter"/>
                <a:ea typeface="Inter"/>
                <a:cs typeface="Inter"/>
                <a:sym typeface="Inter"/>
              </a:rPr>
              <a:t>(Hint: .extend(), .insert())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pic>
        <p:nvPicPr>
          <p:cNvPr descr="image.png" id="347" name="Google Shape;347;p2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48" name="Google Shape;348;p29"/>
          <p:cNvPicPr preferRelativeResize="0"/>
          <p:nvPr/>
        </p:nvPicPr>
        <p:blipFill rotWithShape="1">
          <a:blip r:embed="rId4">
            <a:alphaModFix/>
          </a:blip>
          <a:srcRect b="0" l="0" r="0" t="0"/>
          <a:stretch/>
        </p:blipFill>
        <p:spPr>
          <a:xfrm>
            <a:off x="581025" y="1133475"/>
            <a:ext cx="11029950" cy="1314450"/>
          </a:xfrm>
          <a:prstGeom prst="rect">
            <a:avLst/>
          </a:prstGeom>
          <a:noFill/>
          <a:ln>
            <a:noFill/>
          </a:ln>
        </p:spPr>
      </p:pic>
      <p:pic>
        <p:nvPicPr>
          <p:cNvPr descr="image.png" id="349" name="Google Shape;349;p29"/>
          <p:cNvPicPr preferRelativeResize="0"/>
          <p:nvPr/>
        </p:nvPicPr>
        <p:blipFill rotWithShape="1">
          <a:blip r:embed="rId5">
            <a:alphaModFix/>
          </a:blip>
          <a:srcRect b="0" l="0" r="0" t="0"/>
          <a:stretch/>
        </p:blipFill>
        <p:spPr>
          <a:xfrm>
            <a:off x="581025" y="2600325"/>
            <a:ext cx="11029950" cy="2181225"/>
          </a:xfrm>
          <a:prstGeom prst="rect">
            <a:avLst/>
          </a:prstGeom>
          <a:noFill/>
          <a:ln>
            <a:noFill/>
          </a:ln>
        </p:spPr>
      </p:pic>
      <p:pic>
        <p:nvPicPr>
          <p:cNvPr descr="image.png" id="350" name="Google Shape;350;p29"/>
          <p:cNvPicPr preferRelativeResize="0"/>
          <p:nvPr/>
        </p:nvPicPr>
        <p:blipFill rotWithShape="1">
          <a:blip r:embed="rId6">
            <a:alphaModFix/>
          </a:blip>
          <a:srcRect b="0" l="0" r="0" t="0"/>
          <a:stretch/>
        </p:blipFill>
        <p:spPr>
          <a:xfrm>
            <a:off x="581025" y="4933950"/>
            <a:ext cx="11029950" cy="1704975"/>
          </a:xfrm>
          <a:prstGeom prst="rect">
            <a:avLst/>
          </a:prstGeom>
          <a:noFill/>
          <a:ln>
            <a:noFill/>
          </a:ln>
        </p:spPr>
      </p:pic>
      <p:pic>
        <p:nvPicPr>
          <p:cNvPr descr="image.png" id="351" name="Google Shape;351;p29"/>
          <p:cNvPicPr preferRelativeResize="0"/>
          <p:nvPr/>
        </p:nvPicPr>
        <p:blipFill rotWithShape="1">
          <a:blip r:embed="rId7">
            <a:alphaModFix/>
          </a:blip>
          <a:srcRect b="0" l="0" r="0" t="0"/>
          <a:stretch/>
        </p:blipFill>
        <p:spPr>
          <a:xfrm>
            <a:off x="914400" y="4129087"/>
            <a:ext cx="4029075" cy="452437"/>
          </a:xfrm>
          <a:prstGeom prst="rect">
            <a:avLst/>
          </a:prstGeom>
          <a:noFill/>
          <a:ln>
            <a:noFill/>
          </a:ln>
        </p:spPr>
      </p:pic>
      <p:pic>
        <p:nvPicPr>
          <p:cNvPr descr="image.png" id="352" name="Google Shape;352;p29"/>
          <p:cNvPicPr preferRelativeResize="0"/>
          <p:nvPr/>
        </p:nvPicPr>
        <p:blipFill rotWithShape="1">
          <a:blip r:embed="rId8">
            <a:alphaModFix/>
          </a:blip>
          <a:srcRect b="0" l="0" r="0" t="0"/>
          <a:stretch/>
        </p:blipFill>
        <p:spPr>
          <a:xfrm>
            <a:off x="914400" y="5505450"/>
            <a:ext cx="10401300" cy="933450"/>
          </a:xfrm>
          <a:prstGeom prst="rect">
            <a:avLst/>
          </a:prstGeom>
          <a:noFill/>
          <a:ln>
            <a:noFill/>
          </a:ln>
        </p:spPr>
      </p:pic>
      <p:sp>
        <p:nvSpPr>
          <p:cNvPr id="353" name="Google Shape;353;p29"/>
          <p:cNvSpPr txBox="1"/>
          <p:nvPr/>
        </p:nvSpPr>
        <p:spPr>
          <a:xfrm>
            <a:off x="581025" y="390525"/>
            <a:ext cx="1158144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38BDF8"/>
                </a:solidFill>
                <a:latin typeface="Inter"/>
                <a:ea typeface="Inter"/>
                <a:cs typeface="Inter"/>
                <a:sym typeface="Inter"/>
              </a:rPr>
              <a:t>Exercise 11: Set Theory &amp; Memory Wipe</a:t>
            </a:r>
            <a:endParaRPr/>
          </a:p>
        </p:txBody>
      </p:sp>
      <p:sp>
        <p:nvSpPr>
          <p:cNvPr id="354" name="Google Shape;354;p29"/>
          <p:cNvSpPr/>
          <p:nvPr/>
        </p:nvSpPr>
        <p:spPr>
          <a:xfrm>
            <a:off x="581025" y="923925"/>
            <a:ext cx="1102995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29"/>
          <p:cNvSpPr txBox="1"/>
          <p:nvPr/>
        </p:nvSpPr>
        <p:spPr>
          <a:xfrm>
            <a:off x="914400" y="133350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Scenario</a:t>
            </a:r>
            <a:endParaRPr/>
          </a:p>
        </p:txBody>
      </p:sp>
      <p:sp>
        <p:nvSpPr>
          <p:cNvPr id="356" name="Google Shape;356;p29"/>
          <p:cNvSpPr txBox="1"/>
          <p:nvPr/>
        </p:nvSpPr>
        <p:spPr>
          <a:xfrm>
            <a:off x="914400" y="1704975"/>
            <a:ext cx="10401300" cy="542925"/>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In Set Theory, a set cannot have duplicates. We will manually build a unique list of coordinates, back it up to memory, and then wipe the original list for system security.</a:t>
            </a:r>
            <a:endParaRPr/>
          </a:p>
        </p:txBody>
      </p:sp>
      <p:sp>
        <p:nvSpPr>
          <p:cNvPr id="357" name="Google Shape;357;p29"/>
          <p:cNvSpPr txBox="1"/>
          <p:nvPr/>
        </p:nvSpPr>
        <p:spPr>
          <a:xfrm>
            <a:off x="914400" y="2800350"/>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The Mission</a:t>
            </a:r>
            <a:endParaRPr/>
          </a:p>
        </p:txBody>
      </p:sp>
      <p:sp>
        <p:nvSpPr>
          <p:cNvPr id="358" name="Google Shape;358;p29"/>
          <p:cNvSpPr txBox="1"/>
          <p:nvPr/>
        </p:nvSpPr>
        <p:spPr>
          <a:xfrm>
            <a:off x="914400" y="3171825"/>
            <a:ext cx="10401300" cy="814387"/>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Inter"/>
                <a:ea typeface="Inter"/>
                <a:cs typeface="Inter"/>
                <a:sym typeface="Inter"/>
              </a:rPr>
              <a:t>Collect 4 coordinate names from the user, ensuring strictly that no duplicates are allowed into your collection (emulating mathematical sets). Once the unique set is built, create a secure backup in memory, and then completely wipe the original set to prevent data leaks. Display both the backup and the wiped original.</a:t>
            </a:r>
            <a:endParaRPr/>
          </a:p>
        </p:txBody>
      </p:sp>
      <p:sp>
        <p:nvSpPr>
          <p:cNvPr id="359" name="Google Shape;359;p29"/>
          <p:cNvSpPr txBox="1"/>
          <p:nvPr/>
        </p:nvSpPr>
        <p:spPr>
          <a:xfrm>
            <a:off x="914400" y="5133975"/>
            <a:ext cx="1092136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E2E8F0"/>
                </a:solidFill>
                <a:latin typeface="Inter SemiBold"/>
                <a:ea typeface="Inter SemiBold"/>
                <a:cs typeface="Inter SemiBold"/>
                <a:sym typeface="Inter SemiBold"/>
              </a:rPr>
              <a:t>Expected Output</a:t>
            </a:r>
            <a:endParaRPr/>
          </a:p>
        </p:txBody>
      </p:sp>
      <p:sp>
        <p:nvSpPr>
          <p:cNvPr id="360" name="Google Shape;360;p29"/>
          <p:cNvSpPr txBox="1"/>
          <p:nvPr/>
        </p:nvSpPr>
        <p:spPr>
          <a:xfrm>
            <a:off x="1066800" y="4233862"/>
            <a:ext cx="3724275" cy="242887"/>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1" lang="en-US" sz="1275" u="none" cap="none" strike="noStrike">
                <a:solidFill>
                  <a:srgbClr val="FBBF24"/>
                </a:solidFill>
                <a:latin typeface="Inter"/>
                <a:ea typeface="Inter"/>
                <a:cs typeface="Inter"/>
                <a:sym typeface="Inter"/>
              </a:rPr>
              <a:t>(Hint: if item not in..., .append(), .copy(), .clear())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1E18385FE39D941AA199D3D339AA629" ma:contentTypeVersion="3" ma:contentTypeDescription="Create a new document." ma:contentTypeScope="" ma:versionID="0ac0011745e565025140b1f95daf7597">
  <xsd:schema xmlns:xsd="http://www.w3.org/2001/XMLSchema" xmlns:xs="http://www.w3.org/2001/XMLSchema" xmlns:p="http://schemas.microsoft.com/office/2006/metadata/properties" xmlns:ns2="a80aa6ed-64eb-4536-b734-1570525c18fd" targetNamespace="http://schemas.microsoft.com/office/2006/metadata/properties" ma:root="true" ma:fieldsID="a93274192e5656345ccf5450d93c8dc0" ns2:_="">
    <xsd:import namespace="a80aa6ed-64eb-4536-b734-1570525c18f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0aa6ed-64eb-4536-b734-1570525c18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FF2BFF6-66EA-441F-9B7A-924EBDD56BC6}"/>
</file>

<file path=customXml/itemProps2.xml><?xml version="1.0" encoding="utf-8"?>
<ds:datastoreItem xmlns:ds="http://schemas.openxmlformats.org/officeDocument/2006/customXml" ds:itemID="{2135824B-4684-426D-B88A-1C7AD8FA7589}"/>
</file>

<file path=customXml/itemProps3.xml><?xml version="1.0" encoding="utf-8"?>
<ds:datastoreItem xmlns:ds="http://schemas.openxmlformats.org/officeDocument/2006/customXml" ds:itemID="{915E0DB8-1CBB-417F-8630-D512B4FBD6F3}"/>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0x010100A1E18385FE39D941AA199D3D339AA629</vt:lpwstr>
  </property>
</Properties>
</file>